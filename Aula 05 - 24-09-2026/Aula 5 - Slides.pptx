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469" r:id="rId126"/>
    <p:sldId id="470" r:id="rId125"/>
    <p:sldId id="471" r:id="rId124"/>
    <p:sldId id="472" r:id="rId123"/>
    <p:sldId id="473" r:id="rId122"/>
    <p:sldId id="474" r:id="rId121"/>
    <p:sldId id="475" r:id="rId120"/>
    <p:sldId id="476" r:id="rId119"/>
    <p:sldId id="477" r:id="rId118"/>
    <p:sldId id="478" r:id="rId117"/>
    <p:sldId id="479" r:id="rId116"/>
    <p:sldId id="480" r:id="rId115"/>
    <p:sldId id="481" r:id="rId114"/>
    <p:sldId id="482" r:id="rId85"/>
    <p:sldId id="483" r:id="rId84"/>
    <p:sldId id="484" r:id="rId83"/>
    <p:sldId id="485" r:id="rId50"/>
    <p:sldId id="486" r:id="rId49"/>
    <p:sldId id="487" r:id="rId48"/>
    <p:sldId id="488" r:id="rId24"/>
    <p:sldId id="489" r:id="rId23"/>
    <p:sldId id="490" r:id="rId22"/>
    <p:sldId id="491" r:id="rId21"/>
    <p:sldId id="492" r:id="rId20"/>
    <p:sldId id="493" r:id="rId19"/>
    <p:sldId id="494" r:id="rId18"/>
    <p:sldId id="576" r:id="rId101"/>
    <p:sldId id="577" r:id="rId100"/>
    <p:sldId id="495" r:id="rId17"/>
    <p:sldId id="496" r:id="rId16"/>
    <p:sldId id="497" r:id="rId15"/>
    <p:sldId id="498" r:id="rId14"/>
    <p:sldId id="499" r:id="rId13"/>
    <p:sldId id="574" r:id="rId103"/>
    <p:sldId id="575" r:id="rId102"/>
    <p:sldId id="500" r:id="rId12"/>
    <p:sldId id="501" r:id="rId11"/>
    <p:sldId id="502" r:id="rId10"/>
    <p:sldId id="503" r:id="rId172"/>
    <p:sldId id="504" r:id="rId173"/>
    <p:sldId id="505" r:id="rId174"/>
    <p:sldId id="506" r:id="rId175"/>
    <p:sldId id="507" r:id="rId9"/>
    <p:sldId id="508" r:id="rId8"/>
    <p:sldId id="509" r:id="rId178"/>
    <p:sldId id="510" r:id="rId179"/>
    <p:sldId id="511" r:id="rId180"/>
    <p:sldId id="512" r:id="rId181"/>
    <p:sldId id="513" r:id="rId7"/>
    <p:sldId id="514" r:id="rId6"/>
    <p:sldId id="515" r:id="rId5"/>
    <p:sldId id="516" r:id="rId185"/>
    <p:sldId id="517" r:id="rId186"/>
    <p:sldId id="518" r:id="rId187"/>
    <p:sldId id="519" r:id="rId188"/>
    <p:sldId id="520" r:id="rId189"/>
    <p:sldId id="521" r:id="rId190"/>
    <p:sldId id="522" r:id="rId191"/>
    <p:sldId id="523" r:id="rId192"/>
    <p:sldId id="524" r:id="rId193"/>
    <p:sldId id="525" r:id="rId194"/>
    <p:sldId id="526" r:id="rId195"/>
    <p:sldId id="527" r:id="rId196"/>
    <p:sldId id="528" r:id="rId197"/>
    <p:sldId id="529" r:id="rId198"/>
    <p:sldId id="530" r:id="rId199"/>
    <p:sldId id="531" r:id="rId200"/>
    <p:sldId id="532" r:id="rId201"/>
    <p:sldId id="572" r:id="rId113"/>
    <p:sldId id="573" r:id="rId104"/>
    <p:sldId id="533" r:id="rId202"/>
    <p:sldId id="534" r:id="rId203"/>
    <p:sldId id="535" r:id="rId204"/>
    <p:sldId id="536" r:id="rId205"/>
    <p:sldId id="537" r:id="rId206"/>
    <p:sldId id="538" r:id="rId207"/>
    <p:sldId id="570" r:id="rId111"/>
    <p:sldId id="571" r:id="rId112"/>
    <p:sldId id="539" r:id="rId208"/>
    <p:sldId id="540" r:id="rId209"/>
    <p:sldId id="541" r:id="rId210"/>
    <p:sldId id="542" r:id="rId211"/>
    <p:sldId id="543" r:id="rId212"/>
    <p:sldId id="544" r:id="rId213"/>
    <p:sldId id="545" r:id="rId214"/>
    <p:sldId id="546" r:id="rId215"/>
    <p:sldId id="547" r:id="rId216"/>
    <p:sldId id="548" r:id="rId217"/>
    <p:sldId id="549" r:id="rId218"/>
    <p:sldId id="550" r:id="rId219"/>
    <p:sldId id="551" r:id="rId220"/>
    <p:sldId id="552" r:id="rId221"/>
    <p:sldId id="553" r:id="rId222"/>
    <p:sldId id="554" r:id="rId223"/>
    <p:sldId id="578" r:id="rId110"/>
    <p:sldId id="579" r:id="rId109"/>
    <p:sldId id="580" r:id="rId108"/>
    <p:sldId id="581" r:id="rId107"/>
    <p:sldId id="582" r:id="rId106"/>
    <p:sldId id="583" r:id="rId105"/>
    <p:sldId id="555" r:id="rId224"/>
    <p:sldId id="556" r:id="rId225"/>
    <p:sldId id="557" r:id="rId226"/>
    <p:sldId id="558" r:id="rId227"/>
    <p:sldId id="559" r:id="rId228"/>
    <p:sldId id="560" r:id="rId229"/>
    <p:sldId id="561" r:id="rId230"/>
    <p:sldId id="562" r:id="rId231"/>
    <p:sldId id="563" r:id="rId232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51.xml"/><Relationship Id="rId6" Type="http://schemas.openxmlformats.org/officeDocument/2006/relationships/slide" Target="slides/slide50.xml"/><Relationship Id="rId7" Type="http://schemas.openxmlformats.org/officeDocument/2006/relationships/slide" Target="slides/slide49.xml"/><Relationship Id="rId8" Type="http://schemas.openxmlformats.org/officeDocument/2006/relationships/slide" Target="slides/slide44.xml"/><Relationship Id="rId9" Type="http://schemas.openxmlformats.org/officeDocument/2006/relationships/slide" Target="slides/slide43.xml"/><Relationship Id="rId10" Type="http://schemas.openxmlformats.org/officeDocument/2006/relationships/slide" Target="slides/slide38.xml"/><Relationship Id="rId11" Type="http://schemas.openxmlformats.org/officeDocument/2006/relationships/slide" Target="slides/slide37.xml"/><Relationship Id="rId12" Type="http://schemas.openxmlformats.org/officeDocument/2006/relationships/slide" Target="slides/slide36.xml"/><Relationship Id="rId13" Type="http://schemas.openxmlformats.org/officeDocument/2006/relationships/slide" Target="slides/slide33.xml"/><Relationship Id="rId14" Type="http://schemas.openxmlformats.org/officeDocument/2006/relationships/slide" Target="slides/slide32.xml"/><Relationship Id="rId15" Type="http://schemas.openxmlformats.org/officeDocument/2006/relationships/slide" Target="slides/slide31.xml"/><Relationship Id="rId16" Type="http://schemas.openxmlformats.org/officeDocument/2006/relationships/slide" Target="slides/slide30.xml"/><Relationship Id="rId17" Type="http://schemas.openxmlformats.org/officeDocument/2006/relationships/slide" Target="slides/slide29.xml"/><Relationship Id="rId18" Type="http://schemas.openxmlformats.org/officeDocument/2006/relationships/slide" Target="slides/slide26.xml"/><Relationship Id="rId19" Type="http://schemas.openxmlformats.org/officeDocument/2006/relationships/slide" Target="slides/slide25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21.xml"/><Relationship Id="rId24" Type="http://schemas.openxmlformats.org/officeDocument/2006/relationships/slide" Target="slides/slide20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48" Type="http://schemas.openxmlformats.org/officeDocument/2006/relationships/slide" Target="slides/slide19.xml"/><Relationship Id="rId49" Type="http://schemas.openxmlformats.org/officeDocument/2006/relationships/slide" Target="slides/slide18.xml"/><Relationship Id="rId50" Type="http://schemas.openxmlformats.org/officeDocument/2006/relationships/slide" Target="slides/slide17.xml"/><Relationship Id="rId83" Type="http://schemas.openxmlformats.org/officeDocument/2006/relationships/slide" Target="slides/slide16.xml"/><Relationship Id="rId84" Type="http://schemas.openxmlformats.org/officeDocument/2006/relationships/slide" Target="slides/slide15.xml"/><Relationship Id="rId85" Type="http://schemas.openxmlformats.org/officeDocument/2006/relationships/slide" Target="slides/slide14.xml"/><Relationship Id="rId100" Type="http://schemas.openxmlformats.org/officeDocument/2006/relationships/slide" Target="slides/slide28.xml"/><Relationship Id="rId101" Type="http://schemas.openxmlformats.org/officeDocument/2006/relationships/slide" Target="slides/slide27.xml"/><Relationship Id="rId102" Type="http://schemas.openxmlformats.org/officeDocument/2006/relationships/slide" Target="slides/slide35.xml"/><Relationship Id="rId103" Type="http://schemas.openxmlformats.org/officeDocument/2006/relationships/slide" Target="slides/slide34.xml"/><Relationship Id="rId104" Type="http://schemas.openxmlformats.org/officeDocument/2006/relationships/slide" Target="slides/slide70.xml"/><Relationship Id="rId105" Type="http://schemas.openxmlformats.org/officeDocument/2006/relationships/slide" Target="slides/slide100.xml"/><Relationship Id="rId106" Type="http://schemas.openxmlformats.org/officeDocument/2006/relationships/slide" Target="slides/slide99.xml"/><Relationship Id="rId107" Type="http://schemas.openxmlformats.org/officeDocument/2006/relationships/slide" Target="slides/slide98.xml"/><Relationship Id="rId108" Type="http://schemas.openxmlformats.org/officeDocument/2006/relationships/slide" Target="slides/slide97.xml"/><Relationship Id="rId109" Type="http://schemas.openxmlformats.org/officeDocument/2006/relationships/slide" Target="slides/slide96.xml"/><Relationship Id="rId110" Type="http://schemas.openxmlformats.org/officeDocument/2006/relationships/slide" Target="slides/slide95.xml"/><Relationship Id="rId111" Type="http://schemas.openxmlformats.org/officeDocument/2006/relationships/slide" Target="slides/slide77.xml"/><Relationship Id="rId112" Type="http://schemas.openxmlformats.org/officeDocument/2006/relationships/slide" Target="slides/slide78.xml"/><Relationship Id="rId113" Type="http://schemas.openxmlformats.org/officeDocument/2006/relationships/slide" Target="slides/slide69.xml"/><Relationship Id="rId114" Type="http://schemas.openxmlformats.org/officeDocument/2006/relationships/slide" Target="slides/slide13.xml"/><Relationship Id="rId115" Type="http://schemas.openxmlformats.org/officeDocument/2006/relationships/slide" Target="slides/slide12.xml"/><Relationship Id="rId116" Type="http://schemas.openxmlformats.org/officeDocument/2006/relationships/slide" Target="slides/slide11.xml"/><Relationship Id="rId117" Type="http://schemas.openxmlformats.org/officeDocument/2006/relationships/slide" Target="slides/slide10.xml"/><Relationship Id="rId118" Type="http://schemas.openxmlformats.org/officeDocument/2006/relationships/slide" Target="slides/slide9.xml"/><Relationship Id="rId119" Type="http://schemas.openxmlformats.org/officeDocument/2006/relationships/slide" Target="slides/slide8.xml"/><Relationship Id="rId120" Type="http://schemas.openxmlformats.org/officeDocument/2006/relationships/slide" Target="slides/slide7.xml"/><Relationship Id="rId121" Type="http://schemas.openxmlformats.org/officeDocument/2006/relationships/slide" Target="slides/slide6.xml"/><Relationship Id="rId122" Type="http://schemas.openxmlformats.org/officeDocument/2006/relationships/slide" Target="slides/slide5.xml"/><Relationship Id="rId123" Type="http://schemas.openxmlformats.org/officeDocument/2006/relationships/slide" Target="slides/slide4.xml"/><Relationship Id="rId124" Type="http://schemas.openxmlformats.org/officeDocument/2006/relationships/slide" Target="slides/slide3.xml"/><Relationship Id="rId125" Type="http://schemas.openxmlformats.org/officeDocument/2006/relationships/slide" Target="slides/slide2.xml"/><Relationship Id="rId126" Type="http://schemas.openxmlformats.org/officeDocument/2006/relationships/slide" Target="slides/slide1.xml"/><Relationship Id="rId172" Type="http://schemas.openxmlformats.org/officeDocument/2006/relationships/slide" Target="slides/slide39.xml"/><Relationship Id="rId173" Type="http://schemas.openxmlformats.org/officeDocument/2006/relationships/slide" Target="slides/slide40.xml"/><Relationship Id="rId174" Type="http://schemas.openxmlformats.org/officeDocument/2006/relationships/slide" Target="slides/slide41.xml"/><Relationship Id="rId175" Type="http://schemas.openxmlformats.org/officeDocument/2006/relationships/slide" Target="slides/slide42.xml"/><Relationship Id="rId178" Type="http://schemas.openxmlformats.org/officeDocument/2006/relationships/slide" Target="slides/slide45.xml"/><Relationship Id="rId179" Type="http://schemas.openxmlformats.org/officeDocument/2006/relationships/slide" Target="slides/slide46.xml"/><Relationship Id="rId180" Type="http://schemas.openxmlformats.org/officeDocument/2006/relationships/slide" Target="slides/slide47.xml"/><Relationship Id="rId181" Type="http://schemas.openxmlformats.org/officeDocument/2006/relationships/slide" Target="slides/slide48.xml"/><Relationship Id="rId185" Type="http://schemas.openxmlformats.org/officeDocument/2006/relationships/slide" Target="slides/slide52.xml"/><Relationship Id="rId186" Type="http://schemas.openxmlformats.org/officeDocument/2006/relationships/slide" Target="slides/slide53.xml"/><Relationship Id="rId187" Type="http://schemas.openxmlformats.org/officeDocument/2006/relationships/slide" Target="slides/slide54.xml"/><Relationship Id="rId188" Type="http://schemas.openxmlformats.org/officeDocument/2006/relationships/slide" Target="slides/slide55.xml"/><Relationship Id="rId189" Type="http://schemas.openxmlformats.org/officeDocument/2006/relationships/slide" Target="slides/slide56.xml"/><Relationship Id="rId190" Type="http://schemas.openxmlformats.org/officeDocument/2006/relationships/slide" Target="slides/slide57.xml"/><Relationship Id="rId191" Type="http://schemas.openxmlformats.org/officeDocument/2006/relationships/slide" Target="slides/slide58.xml"/><Relationship Id="rId192" Type="http://schemas.openxmlformats.org/officeDocument/2006/relationships/slide" Target="slides/slide59.xml"/><Relationship Id="rId193" Type="http://schemas.openxmlformats.org/officeDocument/2006/relationships/slide" Target="slides/slide60.xml"/><Relationship Id="rId194" Type="http://schemas.openxmlformats.org/officeDocument/2006/relationships/slide" Target="slides/slide61.xml"/><Relationship Id="rId195" Type="http://schemas.openxmlformats.org/officeDocument/2006/relationships/slide" Target="slides/slide62.xml"/><Relationship Id="rId196" Type="http://schemas.openxmlformats.org/officeDocument/2006/relationships/slide" Target="slides/slide63.xml"/><Relationship Id="rId197" Type="http://schemas.openxmlformats.org/officeDocument/2006/relationships/slide" Target="slides/slide64.xml"/><Relationship Id="rId198" Type="http://schemas.openxmlformats.org/officeDocument/2006/relationships/slide" Target="slides/slide65.xml"/><Relationship Id="rId199" Type="http://schemas.openxmlformats.org/officeDocument/2006/relationships/slide" Target="slides/slide66.xml"/><Relationship Id="rId200" Type="http://schemas.openxmlformats.org/officeDocument/2006/relationships/slide" Target="slides/slide67.xml"/><Relationship Id="rId201" Type="http://schemas.openxmlformats.org/officeDocument/2006/relationships/slide" Target="slides/slide68.xml"/><Relationship Id="rId202" Type="http://schemas.openxmlformats.org/officeDocument/2006/relationships/slide" Target="slides/slide71.xml"/><Relationship Id="rId203" Type="http://schemas.openxmlformats.org/officeDocument/2006/relationships/slide" Target="slides/slide72.xml"/><Relationship Id="rId204" Type="http://schemas.openxmlformats.org/officeDocument/2006/relationships/slide" Target="slides/slide73.xml"/><Relationship Id="rId205" Type="http://schemas.openxmlformats.org/officeDocument/2006/relationships/slide" Target="slides/slide74.xml"/><Relationship Id="rId206" Type="http://schemas.openxmlformats.org/officeDocument/2006/relationships/slide" Target="slides/slide75.xml"/><Relationship Id="rId207" Type="http://schemas.openxmlformats.org/officeDocument/2006/relationships/slide" Target="slides/slide76.xml"/><Relationship Id="rId208" Type="http://schemas.openxmlformats.org/officeDocument/2006/relationships/slide" Target="slides/slide79.xml"/><Relationship Id="rId209" Type="http://schemas.openxmlformats.org/officeDocument/2006/relationships/slide" Target="slides/slide80.xml"/><Relationship Id="rId210" Type="http://schemas.openxmlformats.org/officeDocument/2006/relationships/slide" Target="slides/slide81.xml"/><Relationship Id="rId211" Type="http://schemas.openxmlformats.org/officeDocument/2006/relationships/slide" Target="slides/slide82.xml"/><Relationship Id="rId212" Type="http://schemas.openxmlformats.org/officeDocument/2006/relationships/slide" Target="slides/slide83.xml"/><Relationship Id="rId213" Type="http://schemas.openxmlformats.org/officeDocument/2006/relationships/slide" Target="slides/slide84.xml"/><Relationship Id="rId214" Type="http://schemas.openxmlformats.org/officeDocument/2006/relationships/slide" Target="slides/slide85.xml"/><Relationship Id="rId215" Type="http://schemas.openxmlformats.org/officeDocument/2006/relationships/slide" Target="slides/slide86.xml"/><Relationship Id="rId216" Type="http://schemas.openxmlformats.org/officeDocument/2006/relationships/slide" Target="slides/slide87.xml"/><Relationship Id="rId217" Type="http://schemas.openxmlformats.org/officeDocument/2006/relationships/slide" Target="slides/slide88.xml"/><Relationship Id="rId218" Type="http://schemas.openxmlformats.org/officeDocument/2006/relationships/slide" Target="slides/slide89.xml"/><Relationship Id="rId219" Type="http://schemas.openxmlformats.org/officeDocument/2006/relationships/slide" Target="slides/slide90.xml"/><Relationship Id="rId220" Type="http://schemas.openxmlformats.org/officeDocument/2006/relationships/slide" Target="slides/slide91.xml"/><Relationship Id="rId221" Type="http://schemas.openxmlformats.org/officeDocument/2006/relationships/slide" Target="slides/slide92.xml"/><Relationship Id="rId222" Type="http://schemas.openxmlformats.org/officeDocument/2006/relationships/slide" Target="slides/slide93.xml"/><Relationship Id="rId223" Type="http://schemas.openxmlformats.org/officeDocument/2006/relationships/slide" Target="slides/slide94.xml"/><Relationship Id="rId224" Type="http://schemas.openxmlformats.org/officeDocument/2006/relationships/slide" Target="slides/slide101.xml"/><Relationship Id="rId225" Type="http://schemas.openxmlformats.org/officeDocument/2006/relationships/slide" Target="slides/slide102.xml"/><Relationship Id="rId226" Type="http://schemas.openxmlformats.org/officeDocument/2006/relationships/slide" Target="slides/slide103.xml"/><Relationship Id="rId227" Type="http://schemas.openxmlformats.org/officeDocument/2006/relationships/slide" Target="slides/slide104.xml"/><Relationship Id="rId228" Type="http://schemas.openxmlformats.org/officeDocument/2006/relationships/slide" Target="slides/slide105.xml"/><Relationship Id="rId229" Type="http://schemas.openxmlformats.org/officeDocument/2006/relationships/slide" Target="slides/slide106.xml"/><Relationship Id="rId230" Type="http://schemas.openxmlformats.org/officeDocument/2006/relationships/slide" Target="slides/slide107.xml"/><Relationship Id="rId231" Type="http://schemas.openxmlformats.org/officeDocument/2006/relationships/slide" Target="slides/slide108.xml"/><Relationship Id="rId232" Type="http://schemas.openxmlformats.org/officeDocument/2006/relationships/slide" Target="slides/slide10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5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UML — Diagrama de Classes I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24/09/2026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07:30 - 08:00  Abertura, revisão breve da Aula 4 (Casos de Uso) e ponte para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08:00 - 08:55  Classe, objeto, atributos (+ derivado), métodos, visibilidade e a ponte para 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08:55 - 09:10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09:10 - 09:40  Identificando classes candidatas a partir de um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09:40 - 10:00  Relacionamentos básicos (visão conceitual)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10:00 - 10:10  Exemplo guiado: Cliente e Pedido (e Biblioteca)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10:10 - 10:20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10:20 - 10:45  Atividade prática 1 em grupo: classes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10:45 - 10:52  Correção coletiva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10:52 - 11:07  Atividade prática 2 individual: classes da Academia FitLife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11:07 - 11:17  Encontre o erro (em duplas)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11:17 - 11:30 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RÁPIDA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Retomando a Aula 4: Diagrama de Casos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Uns 15 minutos para reativar a memória antes de entrar em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Diagrama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comportamental: mostra O QUE o sistema faz, do ponto de vista de quem usa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Dois personagens: os atores (quem interage) e os casos de uso (o que o sistema oferece)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mostra como o sistema faz por dentro, nem quais dados ele guarda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Foi o primeiro diagrama UML que desenhamos: o do TechBurger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3 elementos: Ator, Caso de Uso e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- boneco palito, sempre FORA da fronteira do sistema (pessoa ou outro sistema)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 de uso - elipse com verbo no infinitivo + complemento: “Fazer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 - o retângulo que delimita o que está dentro e o que está fora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970" y="4540000"/>
            <a:ext cx="10066059" cy="49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4 relacionamentos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 - linha simples ligando ator e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 - inclusão obrigatória: sempre acontece dentro do fluxo principal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«extend» - extensão opcional: só acontece sob uma condição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Generalização - um ator é um tipo mais específico de outro (seta com triângulo vazado)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“isso acontece sempre (include) ou só às vezes (extend)?”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«include» x «extend»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«include»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Inclusão obrigatória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Sempre parte do fluxo principal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Fazer Pedido pelo App inclui Confirmar 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«extend»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Extensão opcional/condicional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Só acontece em certas condições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Aplicar Desconto PIX estende Confirmar Pagamento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6300000"/>
            <a:ext cx="7600000" cy="240666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000" y="6300000"/>
            <a:ext cx="7600000" cy="2465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da Aula 4: Casos de Uso do TechBurger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038" y="2900000"/>
            <a:ext cx="1335192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- revisão da Aula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ator fica dentro ou fora da fronteira do sistema?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“Clicar no botão confirmar” é um bom nome de caso de uso?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“Aplicar Desconto PIX” é include ou extend de “Confirmar Pagamento”?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 um passo SEMPRE acontece dentro de um fluxo, isso é include ou extend?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Dê um exemplo de generalização entre atores no TechBurger e um na Biblioteca “Ler Mais”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Diagrama de Casos de Uso mostra quais dados o sistema guarda (cliente, pedido...)?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quiz da Aula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Fora - ator é quem interage de fora para dentro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Não - é um passo de tela; o objetivo do ator seria “Confirmar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extend - só acontece quando o cliente escolhe pagar via PIX (opcional)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include - inclusão obrigatória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Atendente e Gerente -&gt; Funcionário; Professor -&gt; Associado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Não - mostra o que o sistema FAZ; os dados ficam para o Diagrama de Classes (hoje!)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Classes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De “o que o sistema faz” para “do que o sistema é feito”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Imagine que vocês vão programar o TechBurger amanhã de manhã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“coisas” o sistema precisa conhecer e guardar para funcionar?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informações cada uma dessas coisas carrega?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cada uma delas “sabe fazer”?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Anotem 3 ideias: vamos compará-las com o diagrama daqui a pouco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Casos de Uso x Classes: duas perguntas diferentes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Casos de Uso (Aula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Comportamental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O QUE o sistema faz?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de quem usa o sistema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Atores e funcionalidades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Fazer Pedido pelo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Classes (hoje)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Estrutural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DO QUE o sistema é feito?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de quem constrói o sistema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Coisas do negócio: dados e comportamentos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Cliente, Pedido, ItemPedido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Cada caso de uso mobiliza várias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Fazer Pedido pelo App -&gt; Cliente, Pedido, ItemPedido, Produto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Confirmar Pagamento -&gt; Pedido,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Validar Endereço de Entrega -&gt; Pedido,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Acumular Pontos de Fidelidade -&gt; Cliente,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Autorizar Pedido Grande -&gt; Pedido, Gerente (Funcionário)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casos de uso já sugerem quais classes precisam existir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Diagrama de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estrutural: mostra as classes do sistema, seus atributos, métodos e como se relacionam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dos diagramas UML mais usados no mercado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 base do código orientado a objetos e, indiretamente, do banco de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(Aula 5): classe, objeto, atributo, método, visibilidade, classes candidatas e relacionamentos básicos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6: cardinalidade (quantos de cada lado) e o diagrama completo do TechBurger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modelar as classes antes de programar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Alinha o vocabulário: todo mundo chama “Pedido” de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Vira código (class Pedido) e tabelas de banco (tabela pedido) quase diretamente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Revela informação faltando cedo: onde guardar a distância da entrega?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Liga o modelo às regras de negócio: cada regra pede dados e comportamentos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Corrigir um modelo é muito mais barato que corrigir código em produção (lembram da Aula 3?)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 regra de negócio ao atributo (TechBurger)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1 (mínimo de R$ 15 no app) -&gt; Pedido precisa de valorTotal e tipoEntrega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2 (fidelidade) -&gt; Cliente precisa de pontosFidelidade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5 (entrega até 5 km) -&gt; Entrega precisa de distanciaKm e 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6 (item em falta) -&gt; Produto precisa de estoque, verificarDisponibilidade() e sugerirSubstituto()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8 (3 cancelamentos no mês) -&gt; Cliente precisa contar os cancelamentos e saber até quando está bloqueado (bloqueadoAte)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regras da Aula 1 já contam quais dados o sistema precisa guardar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ELEMENTOS DO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Classe, objeto, atributos e métodos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blocos de construção de todo Diagrama de Classes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uma Classe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Molde que descreve um conjunto de objetos com características e comportamentos em comum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“Cliente” descreve todos os clientes do TechBurger, não um cliente específico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Nome: substantivo, no singular, do vocabulário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Notação UML: retângulo dividido em 3 compartimentos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Notação UML de uma classe: 3 compartimentos</a:t>
            </a:r>
          </a:p>
        </p:txBody>
      </p:sp>
      <p:pic>
        <p:nvPicPr>
          <p:cNvPr id="12" name="Picture 11" descr="classes_anatom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900000"/>
            <a:ext cx="16400000" cy="46669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Objeto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 concreto criado a partir de uma classe (uma instância)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maria e joao são objetos da classe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Mesma estrutura, valores diferentes: cada objeto guarda seus próprios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Diagrama de Classes desenhamos a CLASSE, não os objetos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 x Objeto</a:t>
            </a:r>
          </a:p>
        </p:txBody>
      </p:sp>
      <p:pic>
        <p:nvPicPr>
          <p:cNvPr id="12" name="Picture 11" descr="classe_obj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427" y="2900000"/>
            <a:ext cx="1251114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Analogia: forma de bolo e bolos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forma de bolo define o formato: é 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bolo que sai da forma é um objeto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têm o mesmo formato, mas sabores e recheios diferentes (valores dos atributos)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Mudar a forma muda todos os bolos futuros: mudar a classe muda todos os objetos criados depois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 x Objeto: TechBurger e Biblioteca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Classe: Pedido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Objeto: pedido nº 101 (R$ 42,00, pago)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Objeto: pedido nº 102 (R$ 18,50, pendente)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Mesma estrutura: número, valor,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Biblioteca “Ler Mais”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Classe: Livro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Objeto: “Dom Casmurro” (Machado de Assis)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Objeto: “O Cortiço” (Aluísio Azevedo)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Mesma estrutura: título, autor, isbn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Atributos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São as características (dados) que os objetos da classe guardam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Ficam no 2º compartimento da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Formato: visibilidade nome: tipo  (ex.: - preco: Real)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Nomes em substantivo, sem espaços nem acentos, com iniciais maiúsculas depois da primeira palavra (dataHora)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objeto tem seus próprios valores para os atributos da classe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Atributo derivado (/)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 derivado: valor que pode ser calculado a partir de outros dados; leva uma barra (/) antes do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/valorTotal em Pedido (soma dos ItemPedido, calculada por calcularValorTotal())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/qtdCancelamentosMes em Cliente (contagem dos pedidos cancelados no mês)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/livrosEmprestados em Associado (empréstimos ainda não devolvidos)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se guardarmos o valor e também o calcularmos, o que acontece quando os dois divergem?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- qual atributo é derivado?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- valorTotal: Real (Pedido)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- /valorTotal: Real (Pedido)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- dataNascimento: Data (Cliente)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- /qtdCancelamentosMes: Inteiro (Cliente)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- /livrosEmprestados: Inteiro (Associado)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- matricula: String (Associado)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atributo é derivado?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Não é derivado - é um valor guardado diretamente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Derivado - calculado a partir da soma dos ItemPedido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Não é derivado - dado guardado, não calculado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Derivado - calculado contando os pedidos cancelados no mês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Derivado - calculado contando os empréstimos em aberto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Não é derivado - dado guardado, não calculado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Tipos de dados mais comuns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Tipos básicos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String - texto (nome, cpf, endereco)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Inteiro - números sem vírgula (quantidade)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Real - números com vírgula (preco, valorTotal)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Booleano - verdadeiro ou falso (ativo)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Data / DataHora - datas e horários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Como usar na disciplina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tipo é opcional no diagrama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Mas ajuda quem for programar e criar o banco de dados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Nos diagramas de hoje, vamos escrever os tipos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precisa decorar nomes de tipos de uma linguagem específica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Métodos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São os comportamentos (ações) que os objetos da classe sabem executar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Ficam no 3º compartimento da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Formato: visibilidade nome(parâmetros): retorno  (ex.: + acumularPontos(valor: Real))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 no formato de verbo: calcularSubtotal(), confirmar(), 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verbos dos casos de uso viram candidatos a método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ler um atributo e um método</a:t>
            </a:r>
          </a:p>
        </p:txBody>
      </p:sp>
      <p:pic>
        <p:nvPicPr>
          <p:cNvPr id="12" name="Picture 11" descr="classes_anatomia_memb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928" y="2900000"/>
            <a:ext cx="12632142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Atributo ou método? O 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É um dado que o objeto guarda?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Responde “o que ele TEM?”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pontosFidelidade, valorTotal, status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Nome: substantivo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Método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É uma ação que o objeto executa?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Responde “o que ele FAZ?”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acumularPontos(), calcularValorTotal()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Nome: verbo, com parênteses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Nomeando classes, atributos e métodos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Classe: substantivo no singular, iniciais maiúsculas (ItemPedido, não “itens_pedidos”)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Atributo: substantivo, começa com minúscula (dataHora, qtdCancelamentosMes)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Método: verbo, começa com minúscula, com parênteses (calcularSubtotal())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acentos, espaços ou caracteres especiais: facilita virar código depois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 o mesmo vocabulário dos casos de uso e das regras de negócio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 UML ao código: por que a visibilidade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visibilidade do diagrama vira uma palavra-chave da linguagem de programação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+ (público) -&gt; public: qualquer classe acessa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- (privado) -&gt; private: só a própria classe acessa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# (protegido) -&gt; protected: a classe e suas subclasses acessam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compilador passa a IMPEDIR o acesso indevido - o encapsulamento deixa de ser combinado e vira regra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vale decidir a visibilidade certa já no diagrama, antes de programar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Exemplo: a classe Pedido em pseudocódigo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classe Pedido {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-  valorTotal: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-  status: String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+  confirmar(): void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+  calcularValorTotal():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}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O diagrama e o código guardam a mesma informação - só muda a notação.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 “Ler Mais” - classe Emprestimo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dataEmprestimo: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dataPrevista: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dataDevolucao: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Métodos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calcularMulta(): Real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renovar()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Origem: multa de R$ 1,00 por dia de atraso e os casos de uso Devolver Livro e Renovar Empréstimo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Mini-exercício: atributo ou método?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status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calcularSubtotal()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distanciaKm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precoUnitario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resgatarCombo()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dataHora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confirmar()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atributo ou método?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status - atributo (de Pedido, Pagamento ou Entrega)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calcularSubtotal() - método (de ItemPedido)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distanciaKm - atributo (de Entrega)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precoUnitario - atributo (de ItemPedido)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resgatarCombo() - método (de Cliente)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dataHora - atributo (de Pedido ou Pagamento)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validarRaio() - método (de Entrega)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confirmar() - método (de Pedido ou Pagamento)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VISIBILIDADE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Quem pode enxergar o quê?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símbolos +, - e # antes de cada atributo e método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visibilidade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Define quem pode acessar um atributo ou método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Aparece como um símbolo antes do nome: +, - ou #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Protege os dados da classe contra alterações indevidas (encapsulamento)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bolso: atributos privados, métodos de uso externo públicos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três símbolos de visibilidade</a:t>
            </a:r>
          </a:p>
        </p:txBody>
      </p:sp>
      <p:pic>
        <p:nvPicPr>
          <p:cNvPr id="12" name="Picture 11" descr="classes_visibi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52" y="2900000"/>
            <a:ext cx="1627549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+ Público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Qualquer classe pode acessar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Usado nos métodos que outras classes precisam chamar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+ confirmar() em Pedido, + acumularPontos() em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Biblioteca: + calcularMulta() em Emprestimo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- Privado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a própria classe acessa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padrão recomendado para atributos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- pontosFidelidade em Cliente: ninguém altera direto, só via acumularPontos()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Biblioteca: - dataPrevista em Emprestimo: só muda por + renovar(), que aplica a regra do prazo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# Protegido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própria classe e suas subclasses acessam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faz sentido quando existe herança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# cargo em Funcionario, visível em Atendente e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 não relacionadas por herança não enxergam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atributos privados? (encapsulamento)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pontosFidelidade fosse público, qualquer parte do sistema poderia gravar 500 pontos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Isso violaria a Regra 2 (1 ponto a cada R$ 10 gastos)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o atributo privado e o método acumularPontos(), a regra vive em UM lugar só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 regra mudar (1 ponto a cada R$ 8), muda em um único método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achado é erro localizado: mais fácil de corrigir e de testar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Visibilidade: TechBurger x Biblioteca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pontosFidelidade: Inteiro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acumularPontos(valor: Real)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status: String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confirmar()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Biblioteca “Ler Mais”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dataPrevista: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renovar()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dataDevolucao: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calcularMulta(): Real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com visibilidade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Deixar tudo público (+) “porque é mais fácil”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o símbolo: o diagrama fica ambíguo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Usar # em classe que não participa de herança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Deixar privado (-) um método que outras classes precisam chamar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Misturar símbolos sem critério dentro da mesma classe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- qual símbolo?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Atributo cpf do Cliente, que ninguém de fora deve alterar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Método confirmar() do Pedido, chamado pela tela do aplicativo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Atributo cargo, usado por Atendente e Gerente (subclasses) mas por mais ninguém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Método validarCpf(), usado só dentro da própria classe Funcionario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Atributo dataPrevista do Emprestimo, que só deve mudar quando o empréstimo é renovado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símbolo?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- (privado): dado sensível, só a própria classe mexe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+ (público): outras classes (a tela) precisam chamar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# (protegido): visível para as subclasses, escondido do resto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- (privado): detalhe interno da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- (privado): a data só muda por renovar(), que aplica a regra do prazo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IDENTIFICANDO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Como descobrir as classes de um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 texto do cenário até a lista de classes candidatas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técnica dos substantivos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Releia a descrição do sistema (regras, entrevistas, casos de uso)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Sublinhe os substantivos relevantes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Agrupe os sinônimos (cliente = comprador)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Descarte o que não vira classe (valores, o próprio sistema, detalhes soltos)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O que sobra são as classes candidatas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Depois, olhe os verbos: eles sugerem os métodos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Nem todo substantivo vira classe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Sinônimos: “cliente” e “comprador” são a mesma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Valores soltos: “R$ 15,00” e “5 km” são valores de atributos ou regras, não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próprio sistema (“a loja”, “o app”) costuma ser o contexto, não uma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Substantivo sem dados nem comportamento próprios: provavelmente é atributo de outra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“ponto” de fidelidade é atributo de Cliente (pontosFidelidade), não uma classe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 ou atributo? O 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 dados e comportamentos próprios? -&gt;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só um valor que descreve outra coisa? -&gt; atributo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“Pagamento” tem forma, valor, status e confirma -&gt;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“forma de pagamento” (PIX, cartão) é só um valor -&gt; atributo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“Endereço”: texto simples? atributo. Precisa validar, guardar vários por cliente? classe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Aplicando no texto do TechBurger (Regras 1 a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Trecho da regra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Pedidos pelo aplicativo só confirmam com valor total &gt;= R$ 15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Fidelidade: 1 ponto a cada R$ 10; 100 pontos = combo grátis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Pagamento confirmado -&gt; o pedido vai para a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PIX no aplicativo tem 5% de desconto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Substantivos candidatos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pedido, aplicativo, valor total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cliente, programa de fidelidade, ponto, combo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pagamento,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pagamento (PIX), desconto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Aplicando no texto do TechBurger (Regras 5 a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Trecho da regra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Entrega só até 5 km de distância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Item em falta: sugerir substituto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Mais de 10 itens exige confirmação do gerente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3 cancelamentos no mês bloqueiam o app por 15 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Substantivos candidatos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entrega, endereço, distância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item do cardápio (produto), estoque, substituto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pedido, item, gerente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cliente, pedido, cancelamento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rascunho às classes candidatas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Viram classe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ItemPedido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Produto (item do cardápio e combo)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Pagamento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Entrega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Funcionario (com Atendente e Gerente)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Viram atributo ou são descartados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valor total -&gt; atributo de Pedido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ponto -&gt; atributo de Cliente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estoque -&gt; atributo de Produto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distância -&gt; atributo de Entrega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PIX, cartão -&gt; valores de Pagamento.forma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aplicativo, loja, cozinha -&gt; canal/contexto ou ator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 os verbos? Descobrindo métodos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Confirmar pedido -&gt; Pedido.confirmar()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Acumular pontos -&gt; Cliente.acumularPontos()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Validar raio de entrega -&gt; Entrega.validarRaio()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 em falta -&gt; Produto.verificarDisponibilidade() e Produto.sugerirSubstituto()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Autorizar pedido grande -&gt; Gerente.autorizarPedidoGrande()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verbos dos casos de uso da Aula 4 são uma ótima fonte de métodos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Aplicando na Biblioteca “Ler Mais”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Classes candidatas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Associado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Livro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Emprestimo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Professor (tipo de Associado)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Atributos e métodos que surgem do 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prazo de 14 dias (30 para professor) -&gt; Associado.prazoEmprestimo()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multa de R$ 1,00 por dia -&gt; Emprestimo.calcularMulta()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máx. 3 livros -&gt; Associado.podePegarLivro()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leitura escolar -&gt; atributo do Livro (sem multa)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Mini-exercício: academia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 academia FitLife tem alunos matriculados em planos (mensal ou trimestral).”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“Cada aluno pode reservar vagas em aulas coletivas, ministradas por instrutores.”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“Cada aula tem horário, sala e limite de vagas.”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 mensalidade é paga por boleto ou cartão.”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Sublinhem os substantivos, separem candidatas de atributos e descartados (5 min)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Academia FitLife - 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Classes candidatas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Aluno, Plano, Aula, Instrutor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Reserva (o aluno reserva uma vaga na aula)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Pagamento (a mensalidade)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Atributos, descartes e dúvidas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horário, limite de vagas -&gt; atributos de Aula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boleto, cartão -&gt; valores de Pagamento.forma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sala: atributo de Aula, ou classe se a academia controlar capacidade e equipamentos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RELACIONAMENTOS BÁSICOS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Como as classes se conectam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Visão conceitual - a cardinalidade fica para a Aula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as classes se relacionam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 soltas não contam a história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relacionamentos nascem dos verbos do texto: “o cliente FAZ um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4 tipos de relacionamento, só o conceito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6: a cardinalidade (1, 0..1, 1..*, *) em cada ponta da linha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4 relacionamentos básicos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 - as classes se conhecem e colaboram (linha simples)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Agregação - todo e parte, com parte independente (losango vazado)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Composição - todo e parte, com parte dependente do todo (losango preenchido)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Herança - “é um tipo de” (seta com triângulo vazado)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Associação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Relação simples entre duas classes: linha reta, com um verbo opcional sobre 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Cliente faz Pedido</a:t>
            </a:r>
          </a:p>
        </p:txBody>
      </p:sp>
      <p:pic>
        <p:nvPicPr>
          <p:cNvPr id="13" name="Picture 12" descr="rel_associ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060000"/>
            <a:ext cx="16400000" cy="369441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Agregação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Todo-parte “fraca”: a parte continua existindo se o todo deixar de existir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Losango vazado do lado do todo. Biblioteca: Estante reúne Livros (o livro existe sem a estante)</a:t>
            </a:r>
          </a:p>
        </p:txBody>
      </p:sp>
      <p:pic>
        <p:nvPicPr>
          <p:cNvPr id="13" name="Picture 12" descr="rel_agreg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060000"/>
            <a:ext cx="16400000" cy="369441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Todo-parte “forte”: a parte não existe sem o todo. Losango preenchido do lado do todo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um ItemPedido não existe sem o Pedido a que pertence</a:t>
            </a:r>
          </a:p>
        </p:txBody>
      </p:sp>
      <p:pic>
        <p:nvPicPr>
          <p:cNvPr id="13" name="Picture 12" descr="rel_composi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060000"/>
            <a:ext cx="16400000" cy="3694417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“É um tipo de”: a subclasse herda atributos e métodos da superclasse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TechBurger: Atendente e Gerente são tipos de Funcionario</a:t>
            </a:r>
          </a:p>
        </p:txBody>
      </p:sp>
      <p:pic>
        <p:nvPicPr>
          <p:cNvPr id="13" name="Picture 12" descr="rel_heran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525" y="4060000"/>
            <a:ext cx="13846949" cy="5390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Agregação ou composição? O teste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Pergunta-chave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 o todo deixar de existir, a parte também deixa de fazer sentido?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 ninguém consegue usar a parte sozinha, é composição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Na dúvida, comece com uma associação simples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Exemplos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Sim -&gt; composição: ItemPedido sem Pedido não faz sentido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-&gt; agregação: Livro continua existindo sem a Estante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Dúvida entre os dois? Não trave: a Aula 6 volta a isso com cardinalidade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exemplos: agregação ou composição?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TechBurger: ItemPedido existe sem Pedido?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TechBurger: Entrega existe sem Pedido?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Biblioteca: Livro existe sem Estante?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Biblioteca: Emprestimo existe sem Associado?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TechBurger: Produto existe sem Pedido?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agregação ou composição?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Não -&gt; composição (ItemPedido não existe sem o Pedido a que pertence)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Não -&gt; composição (a Entrega é criada junto com o Pedido e não faz sentido sozinha)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Sim -&gt; agregação (o Livro continua existindo mesmo fora da estante)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Não -&gt; composição (o Emprestimo não existe sem o Associado que pegou o livro)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Nenhum dos dois -&gt; associação simples (o Produto existe no cardápio, independente de qualquer Pedido)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Herança: quando usar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dá para dizer “X é um tipo de Y”: Atendente é um Funcionario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subclasse herda tudo da superclasse e só declara o que é próprio dela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Atendente tem registrarPedidoBalcao(); Gerente tem autorizarPedidoGrande()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Cuidado: não use herança só para “reaproveitar código”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“Pedido herda de Cliente” está errado: pedido não é um tipo de cliente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Resumo visual dos 4 relacionamentos</a:t>
            </a:r>
          </a:p>
        </p:txBody>
      </p:sp>
      <p:pic>
        <p:nvPicPr>
          <p:cNvPr id="12" name="Picture 11" descr="classes_relacioname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900000"/>
            <a:ext cx="16400000" cy="517929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Relacionamentos no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faz Pedido -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gera Pagamento -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possui Entrega -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ItemPedido refere-se a Produto -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Atendente registra Pedido e Gerente autoriza Pedido - associações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é composto por ItemPedido - composição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Atendente e Gerente são tipos de Funcionario - herança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 “Ler Mais”: diagrama de classes</a:t>
            </a:r>
          </a:p>
        </p:txBody>
      </p:sp>
      <p:pic>
        <p:nvPicPr>
          <p:cNvPr id="12" name="Picture 11" descr="biblioteca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477" y="2900000"/>
            <a:ext cx="15759044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- que relacionamento é esse?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Um Cliente faz Pedidos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Cancelando o Pedido, os seus ItemPedido também deixam de existir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Professor é um tipo de Associado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Uma Estante reúne Livros, mas um Livro pode ir para outra estante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Um Pedido gera um Pagamento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que relacionamento é esse?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Composição (a parte não vive sem o todo)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Herança (“é um tipo de”)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Agregação (a parte vive sem o todo)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Associação (as duas classes colaboram; cada uma existe por si)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FitLife: e os relacionamentos?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Aluno e Plano: que relacionamento?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Aula e Instrutor: que relacionamento?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Aluno e Aula, feito através da classe Reserva: que relacionamento?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Se a Aula fosse cancelada, a Reserva ainda faria sentido?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FitLife - respostas: relacionamentos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Associação - um Aluno está matriculado em um Plano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Associação - um Instrutor ministra uma Aula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Associação, feita através da classe Reserva - Aluno reserva vaga em Aula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Não - a Reserva é composição em relação à Aula: sem a Aula, a Reserva perde o sentido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Classes Cliente e Pedido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Vamos desenhar juntos, ao vivo, no draw.io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a passo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No painel de formas, ative UML (Mais formas -&gt; UML) e arraste a forma “Class”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Dê o nome da classe no compartimento de cima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Escreva os atributos no compartimento do meio, um por linha, com visibilidade e tipo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 os métodos no compartimento de baixo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Repita para a segunda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Ligue as duas com uma linha (associação) e escreva o verbo sobre ela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1: a classe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Atributos (ligados às regras)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nome: String e - cpf: String (identificam o cliente)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pontosFidelidade: Inteiro (Regra 2)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/qtdCancelamentosMes: Inteiro (Regra 8, derivado)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bloqueadoAte: Data (Regra 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Métodos (ligados aos casos de uso)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acumularPontos(valor: Real)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resgatarCombo(): Booleano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estaBloqueado(): Booleano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por que os atributos são privados?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2: a classe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Atributos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numero: Inteiro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dataHora: DataHora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/valorTotal: Real (Regra 1, derivado)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status: String (pendente, pago, cancelado)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tipoEntrega: String (entrega ou retirada)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Métodos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calcularValorTotal(): Real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confirmar()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por que o valorTotal tem a barra (/) na frente?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3: ligando Cliente e Pedido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 com o verbo “faz” sobre a linha: lê-se “Cliente faz Pedido”</a:t>
            </a:r>
          </a:p>
        </p:txBody>
      </p:sp>
      <p:pic>
        <p:nvPicPr>
          <p:cNvPr id="13" name="Picture 12" descr="exemplo_guiado_cliente_pedi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580000"/>
            <a:ext cx="16400000" cy="4970677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3 partes de cada classe estão preenchidas?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atributo e método tem visibilidade (+, -, #)?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atributos têm tipo?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nomes das classes estão no singular?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associação tem um verbo que faz sentido nos dois sentidos?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atributo pode ser justificado por uma regra ou caso de uso?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mesmo exemplo na Biblioteca: Associado e Emprestimo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Associado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nome: String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matricula: String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/livrosEmprestados: Inteiro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podePegarLivro(): Booleano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prazoEmprestimo(): Inteiro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Emprestimo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dataEmprestimo: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dataPrevista: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- dataDevolucao: Data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+ calcularMulta(): Real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Associação: o Associado faz o Emprestimo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Classes do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35 minutos, em grupo, no draw.io ou no papel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grupo, desenhem pelo menos 5 classes do TechBurger, com atributos, métodos, tipos e visibilidade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Representem 1 herança (Funcionario &lt;- Atendente e Gerente)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Representem 1 composição (Pedido - ItemPedido) e pelo menos 2 associações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Partam dos substantivos do texto e dos verbos dos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35 minutos. Um representante apresenta o diagrama à turma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Classes para modelar: onde procurar as pistas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- Regras 2 e 8; casos de uso de fidelidade e de cliente bloqueado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- Regras 1, 3, 4 e 7; Fazer Pedido pelo App e no Balcão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ItemPedido e Produto - o que compõe um pedido; Regra 6; Sugerir Item Substituto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 - Regras 3 e 4; Confirmar Pagamento e Aplicar Desconto PIX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Entrega - Regra 5; Validar Endereço de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Funcionario, Atendente e Gerente - a generalização da Aula 4; Autorizar Pedido Grande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Atributos e métodos: derivem das regras e dos casos de uso, e justifiquem cada um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5 classes, todas com as 3 partes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Atributos com visibilidade e tipo; métodos com visibilidade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Herança Funcionario &lt;- Atendente e Gerente com triângulo vazado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Composição Pedido - ItemPedido com losango preenchido do lado do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2 associações, com verbo sobre a linha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Atributos calculáveis marcados como derivados (/) e cada item justificado por uma regra ou caso de uso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Dicas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 pelas classes, depois pelos atributos, por último pelos relacionamentos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uma classe passar de 6 ou 7 atributos, talvez ela esteja fazendo coisas demais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 linhas retas e evite cruzar relacionamentos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Dúvida entre agregação e composição? Use associação e discuta na apresentação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Cardinalidade fica para a Aula 6: hoje, não precisa escrever números nas linhas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Projetar e comparar com o que cada grupo produziu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Diagrama de Classes (TechBurger)</a:t>
            </a:r>
          </a:p>
        </p:txBody>
      </p:sp>
      <p:pic>
        <p:nvPicPr>
          <p:cNvPr id="12" name="Picture 11" descr="techburger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419" y="2900000"/>
            <a:ext cx="1254116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diagrama-resposta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Encontrem a composição: losango preenchido no lado do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Encontrem a herança: triângulo vazado apontando para Funcionario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os atributos são privados (-), exceto # cargo, que as subclasses enxergam; a barra (/) marca os derivados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Métodos e associações vêm dos casos de uso da Aula 4: Atendente registra Pedido, Gerente autoriza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bloqueadoAte e sugerirSubstituto() sustentam “Recusar Pedido de Cliente Bloqueado” e “Sugerir Item Substituto”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números nas linhas: a cardinalidade é o assunto de amanhã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entre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Outros atributos razoáveis (endereço do Cliente, observação no 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 extras (Cardápio, Categoria de produto) - desde que coerentes com o cenário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Herança sem a classe Funcionario, com Atendente e Gerente soltos: aceitar se justificado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discutir: e o cliente corporativo da Regra 3? Vira herança (ClienteCorporativo) ou um atributo?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NÃO pode: herança invertida, atributos públicos sem motivo, classe no plural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Classes completo da Academia FitLife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20 minutos, individual, no draw.io ou no papel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- Academia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Sozinho(a) desta vez: retomem as classes candidatas da seção 4.6 (Aluno, Plano, Aula, Instrutor, Reserva, Pagamento)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Desenhem o Diagrama de Classes completo: cada classe com nome, atributos (visibilidade + tipo) e métodos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Representem pelo menos 3 associações e 1 composição (Reserva - Aula)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Esta atividade não tem herança - nem todo domínio precisa de subclasses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Cardinalidade fica para a Aula 6: hoje não precisa escrever números nas linhas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Marquem os atributos calculáveis como derivados (/)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Classes para modelar: Academia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Aluno - dados pessoais e o controle de quem está em dia com o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Plano - tipo (mensal/trimestral) e o valor da mensalidade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- horário, sala, limite de vagas e quantas ainda estão livres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Instrutor - quem ministra a aula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Reserva - a vaga de um Aluno em uma Aula específica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 - a mensalidade paga por boleto ou cartão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Pista: releiam o texto da seção 4.6 e a resposta da seção anterior antes de começar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6 classes estão presentes, todas com as 3 partes?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3 associações com verbo sobre a linha?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composição Reserva-Aula está representada (losango preenchido do lado da Aula)?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atributos calculáveis (vagas disponíveis, pagamentos em dia) estão marcados como derivados (/)?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Ninguém usou herança “à toa” - este cenário não precisa dela?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Academia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Aluno: - nome, - cpf, - /pagamentosEmDia; + matricular(), + reservarVaga()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Plano: - tipo, - valorMensalidade; + calcularValor()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Aula: - horario, - sala, - limiteVagas, - /vagasDisponiveis; + temVagaDisponivel()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Instrutor: - nome, - especialidade; + ministrar()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Reserva: - dataReserva, - status; + cancelar()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Pagamento: - valor, - formaPagamento, - dataPagamento; + confirmar()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 - FitLife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Associações: Aluno-Plano (está matriculado), Aluno-Reserva (faz), Instrutor-Aula (ministra), Aluno-Pagamento (realiza)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Composição: Reserva-Aula - sem a Aula, a Reserva não faz sentido (losango preenchido do lado da Aula)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Derivados: /pagamentosEmDia (Aluno) e /vagasDisponiveis (Aula) - calculados, não guardados diretamente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Diferenças razoáveis: atributos extras bem justificados, ou Pagamento tratado como atributo de Aluno em vez de classe (discutam o porquê)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Um diagrama de classes com 6 erros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8 minutos para achar, explicar e corrigir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 erro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Analisem o diagrama do próximo slide: ele tem 6 erros propositais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Marquem cada erro no papel ou no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Expliquem POR QUE é um erro (qual conceito da aula foi violado)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consultar a Apostila nos primeiros 5 minutos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erros (em duplas)</a:t>
            </a:r>
          </a:p>
        </p:txBody>
      </p:sp>
      <p:pic>
        <p:nvPicPr>
          <p:cNvPr id="12" name="Picture 11" descr="encontre_erro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2900000"/>
            <a:ext cx="16400000" cy="599244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encontrados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Herança invertida: o triângulo aponta para Gerente; deve apontar para Funcionario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Composição invertida: o losango fica do lado do ItemPedido; deve ficar no Pedido (o todo)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Classe no plural: “Pedidos” deve ser “Pedido”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Relacionamento escondido: clienteId no lugar de uma associação Cliente -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Atributos públicos sem motivo (+ nome, + cpf): devem ser privados (-)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Classe faz-tudo: GerenciadorDeTudo mistura responsabilidades de outras classes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modelar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Confundir agregação com composição (o todo some, a parte some junto?)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visibilidade e tipo: “- nome: String”, “+ calcularValorTotal(): Real”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Nomes no plural, com espaço ou como verbo: Pedido, e não “Pedidos” nem “FazerPedido”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Transformar tudo em classe: Nome, Valor e CPF são atributos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 “faz-tudo” com dezenas de métodos: distribua as responsabilidades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Herança invertida ou usada só para reaproveitar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 escondido como atributo (clienteId): desenhe a linha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 - molde que define atributos e métodos de um conjunto de objetos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Objeto - instância concreta de uma classe, com valores próprios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 - dado (característica) guardado pela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Método - comportamento (ação) que a classe executa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Visibilidade - quem acessa: + público, - privado, # protegido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 candidata - substantivo do cenário que pode virar classe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Associação, agregação, composição - formas de ligar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 derivado - calculável a partir de outros dados; leva / antes do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Herança - relação “é um tipo de” entre subclasse e superclasse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Quais as 3 partes de uma classe na notação UML?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a diferença entre classe e objeto? Dê um exemplo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 que significa o símbolo “-” antes de um atributo? E o “#”?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Como a técnica dos substantivos ajuda a achar classes?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Diferencie agregação de composição com um exemplo de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Por que Pedido herdar de Cliente é um erro?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Na Biblioteca, por que Professor é uma herança de Associado?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Por que atributos costumam ser privados e métodos públicos?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9.  Por que a visibilidade do diagrama vira public/private/protected no código?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Revisamos os Casos de Uso: atores, casos de uso, include, extend e generalização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Fizemos a ponte: casos de uso dizem o que o sistema FAZ; classes, do que ele é FEITO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Classe, objeto, atributos (inclusive derivados), métodos e visibilidade (+, -, #)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ponte da UML para o código: +, -, # viram public, private, protected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 dos substantivos para achar classes candidatas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Relacionamentos básicos: associação, agregação, composição e herança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Praticamos duas vezes: em grupo (TechBurger) e individualmente (Academia FitLife)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Análise crítica: encontramos e corrigimos 6 erros em um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(25/09): Diagrama de Classes II, com cardinalidade e o diagrama completo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