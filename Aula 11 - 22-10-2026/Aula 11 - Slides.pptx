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diag_001_cliserv.svg" ContentType="image/svg+xml"/>
  <Override PartName="/ppt/media/diag_002_reqresp.svg" ContentType="image/svg+xml"/>
  <Override PartName="/ppt/media/diag_003_json.svg" ContentType="image/svg+xml"/>
  <Override PartName="/ppt/media/diag_004_seq.svg" ContentType="image/svg+xml"/>
  <Override PartName="/ppt/media/diag_005_anat.svg" ContentType="image/svg+xml"/>
  <Override PartName="/ppt/media/diag_006_el1.svg" ContentType="image/svg+xml"/>
  <Override PartName="/ppt/media/diag_007_el2.svg" ContentType="image/svg+xml"/>
  <Override PartName="/ppt/media/diag_008_el3.svg" ContentType="image/svg+xml"/>
  <Override PartName="/ppt/media/diag_009_el4.svg" ContentType="image/svg+xml"/>
  <Override PartName="/ppt/media/diag_010_el5.svg" ContentType="image/svg+xml"/>
  <Override PartName="/ppt/media/diag_011_el6.svg" ContentType="image/svg+xml"/>
  <Override PartName="/ppt/media/diag_012_el7.svg" ContentType="image/svg+xml"/>
  <Override PartName="/ppt/media/diag_013_p0.svg" ContentType="image/svg+xml"/>
  <Override PartName="/ppt/media/diag_014_p1.svg" ContentType="image/svg+xml"/>
  <Override PartName="/ppt/media/diag_015_p2.svg" ContentType="image/svg+xml"/>
  <Override PartName="/ppt/media/diag_016_p3.svg" ContentType="image/svg+xml"/>
  <Override PartName="/ppt/media/diag_017_p4.svg" ContentType="image/svg+xml"/>
  <Override PartName="/ppt/media/diag_018_p5.svg" ContentType="image/svg+xml"/>
  <Override PartName="/ppt/media/diag_019_p6.svg" ContentType="image/svg+xml"/>
  <Override PartName="/ppt/media/diag_020_p7.svg" ContentType="image/svg+xml"/>
  <Override PartName="/ppt/media/diag_021_completo.svg" ContentType="image/svg+xml"/>
  <Override PartName="/ppt/media/diag_022_cliserv.svg" ContentType="image/svg+xml"/>
  <Override PartName="/ppt/media/diag_023_reqresp.svg" ContentType="image/svg+xml"/>
  <Override PartName="/ppt/media/diag_024_json.svg" ContentType="image/svg+xml"/>
  <Override PartName="/ppt/media/diag_025_seq.svg" ContentType="image/svg+xml"/>
  <Override PartName="/ppt/media/diag_026_completo.svg" ContentType="image/svg+xml"/>
  <Override PartName="/ppt/media/diag_027_revcon.svg" ContentType="image/svg+xml"/>
  <Override PartName="/ppt/media/diag_030_prob.svg" ContentType="image/svg+xml"/>
  <Override PartName="/ppt/media/diag_031_prob_marc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927" r:id="rId96"/>
    <p:sldId id="928" r:id="rId84"/>
    <p:sldId id="929" r:id="rId83"/>
    <p:sldId id="930" r:id="rId78"/>
    <p:sldId id="931" r:id="rId77"/>
    <p:sldId id="932" r:id="rId76"/>
    <p:sldId id="933" r:id="rId75"/>
    <p:sldId id="934" r:id="rId74"/>
    <p:sldId id="935" r:id="rId73"/>
    <p:sldId id="938" r:id="rId65"/>
    <p:sldId id="939" r:id="rId64"/>
    <p:sldId id="940" r:id="rId63"/>
    <p:sldId id="941" r:id="rId62"/>
    <p:sldId id="942" r:id="rId61"/>
    <p:sldId id="943" r:id="rId60"/>
    <p:sldId id="944" r:id="rId59"/>
    <p:sldId id="945" r:id="rId58"/>
    <p:sldId id="946" r:id="rId57"/>
    <p:sldId id="947" r:id="rId56"/>
    <p:sldId id="948" r:id="rId55"/>
    <p:sldId id="949" r:id="rId54"/>
    <p:sldId id="950" r:id="rId119"/>
    <p:sldId id="953" r:id="rId122"/>
    <p:sldId id="954" r:id="rId123"/>
    <p:sldId id="955" r:id="rId124"/>
    <p:sldId id="956" r:id="rId125"/>
    <p:sldId id="957" r:id="rId126"/>
    <p:sldId id="958" r:id="rId127"/>
    <p:sldId id="959" r:id="rId128"/>
    <p:sldId id="960" r:id="rId129"/>
    <p:sldId id="963" r:id="rId132"/>
    <p:sldId id="964" r:id="rId133"/>
    <p:sldId id="965" r:id="rId134"/>
    <p:sldId id="966" r:id="rId53"/>
    <p:sldId id="967" r:id="rId52"/>
    <p:sldId id="968" r:id="rId137"/>
    <p:sldId id="969" r:id="rId138"/>
    <p:sldId id="970" r:id="rId139"/>
    <p:sldId id="971" r:id="rId140"/>
    <p:sldId id="972" r:id="rId141"/>
    <p:sldId id="973" r:id="rId51"/>
    <p:sldId id="974" r:id="rId50"/>
    <p:sldId id="975" r:id="rId49"/>
    <p:sldId id="976" r:id="rId48"/>
    <p:sldId id="977" r:id="rId47"/>
    <p:sldId id="978" r:id="rId46"/>
    <p:sldId id="979" r:id="rId45"/>
    <p:sldId id="980" r:id="rId44"/>
    <p:sldId id="981" r:id="rId43"/>
    <p:sldId id="982" r:id="rId42"/>
    <p:sldId id="983" r:id="rId41"/>
    <p:sldId id="984" r:id="rId40"/>
    <p:sldId id="985" r:id="rId39"/>
    <p:sldId id="986" r:id="rId38"/>
    <p:sldId id="987" r:id="rId37"/>
    <p:sldId id="988" r:id="rId36"/>
    <p:sldId id="989" r:id="rId35"/>
    <p:sldId id="990" r:id="rId34"/>
    <p:sldId id="991" r:id="rId33"/>
    <p:sldId id="992" r:id="rId32"/>
    <p:sldId id="993" r:id="rId31"/>
    <p:sldId id="994" r:id="rId30"/>
    <p:sldId id="995" r:id="rId24"/>
    <p:sldId id="996" r:id="rId23"/>
    <p:sldId id="997" r:id="rId22"/>
    <p:sldId id="998" r:id="rId21"/>
    <p:sldId id="999" r:id="rId20"/>
    <p:sldId id="1000" r:id="rId19"/>
    <p:sldId id="1001" r:id="rId18"/>
    <p:sldId id="1002" r:id="rId17"/>
    <p:sldId id="1003" r:id="rId172"/>
    <p:sldId id="1004" r:id="rId173"/>
    <p:sldId id="1005" r:id="rId174"/>
    <p:sldId id="1019" r:id="rId188"/>
    <p:sldId id="1020" r:id="rId189"/>
    <p:sldId id="1021" r:id="rId190"/>
    <p:sldId id="1022" r:id="rId191"/>
    <p:sldId id="1023" r:id="rId192"/>
    <p:sldId id="1024" r:id="rId193"/>
    <p:sldId id="1025" r:id="rId194"/>
    <p:sldId id="1026" r:id="rId195"/>
    <p:sldId id="1027" r:id="rId196"/>
    <p:sldId id="1028" r:id="rId197"/>
    <p:sldId id="1029" r:id="rId198"/>
    <p:sldId id="1030" r:id="rId199"/>
  </p:sldIdLst>
  <p:sldSz cx="18288000" cy="10287000"/>
  <p:notesSz cx="6858000" cy="9144000"/>
  <p:embeddedFontLst>
    <p:embeddedFont>
      <p:font typeface="Unbounded 1 Ultra-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22" autoAdjust="0"/>
  </p:normalViewPr>
  <p:slideViewPr>
    <p:cSldViewPr>
      <p:cViewPr>
        <p:scale>
          <a:sx n="60" d="100"/>
          <a:sy n="60" d="100"/>
        </p:scale>
        <p:origin x="398" y="-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7" Type="http://schemas.openxmlformats.org/officeDocument/2006/relationships/slide" Target="slides/slide76.xml"/><Relationship Id="rId18" Type="http://schemas.openxmlformats.org/officeDocument/2006/relationships/slide" Target="slides/slide75.xml"/><Relationship Id="rId19" Type="http://schemas.openxmlformats.org/officeDocument/2006/relationships/slide" Target="slides/slide74.xml"/><Relationship Id="rId20" Type="http://schemas.openxmlformats.org/officeDocument/2006/relationships/slide" Target="slides/slide73.xml"/><Relationship Id="rId21" Type="http://schemas.openxmlformats.org/officeDocument/2006/relationships/slide" Target="slides/slide72.xml"/><Relationship Id="rId22" Type="http://schemas.openxmlformats.org/officeDocument/2006/relationships/slide" Target="slides/slide71.xml"/><Relationship Id="rId23" Type="http://schemas.openxmlformats.org/officeDocument/2006/relationships/slide" Target="slides/slide70.xml"/><Relationship Id="rId24" Type="http://schemas.openxmlformats.org/officeDocument/2006/relationships/slide" Target="slides/slide69.xml"/><Relationship Id="rId25" Type="http://schemas.openxmlformats.org/officeDocument/2006/relationships/font" Target="fonts/font1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68.xml"/><Relationship Id="rId31" Type="http://schemas.openxmlformats.org/officeDocument/2006/relationships/slide" Target="slides/slide67.xml"/><Relationship Id="rId32" Type="http://schemas.openxmlformats.org/officeDocument/2006/relationships/slide" Target="slides/slide66.xml"/><Relationship Id="rId33" Type="http://schemas.openxmlformats.org/officeDocument/2006/relationships/slide" Target="slides/slide65.xml"/><Relationship Id="rId34" Type="http://schemas.openxmlformats.org/officeDocument/2006/relationships/slide" Target="slides/slide64.xml"/><Relationship Id="rId35" Type="http://schemas.openxmlformats.org/officeDocument/2006/relationships/slide" Target="slides/slide63.xml"/><Relationship Id="rId36" Type="http://schemas.openxmlformats.org/officeDocument/2006/relationships/slide" Target="slides/slide62.xml"/><Relationship Id="rId37" Type="http://schemas.openxmlformats.org/officeDocument/2006/relationships/slide" Target="slides/slide61.xml"/><Relationship Id="rId38" Type="http://schemas.openxmlformats.org/officeDocument/2006/relationships/slide" Target="slides/slide60.xml"/><Relationship Id="rId39" Type="http://schemas.openxmlformats.org/officeDocument/2006/relationships/slide" Target="slides/slide59.xml"/><Relationship Id="rId40" Type="http://schemas.openxmlformats.org/officeDocument/2006/relationships/slide" Target="slides/slide58.xml"/><Relationship Id="rId41" Type="http://schemas.openxmlformats.org/officeDocument/2006/relationships/slide" Target="slides/slide57.xml"/><Relationship Id="rId42" Type="http://schemas.openxmlformats.org/officeDocument/2006/relationships/slide" Target="slides/slide56.xml"/><Relationship Id="rId43" Type="http://schemas.openxmlformats.org/officeDocument/2006/relationships/slide" Target="slides/slide55.xml"/><Relationship Id="rId44" Type="http://schemas.openxmlformats.org/officeDocument/2006/relationships/slide" Target="slides/slide54.xml"/><Relationship Id="rId45" Type="http://schemas.openxmlformats.org/officeDocument/2006/relationships/slide" Target="slides/slide53.xml"/><Relationship Id="rId46" Type="http://schemas.openxmlformats.org/officeDocument/2006/relationships/slide" Target="slides/slide52.xml"/><Relationship Id="rId47" Type="http://schemas.openxmlformats.org/officeDocument/2006/relationships/slide" Target="slides/slide51.xml"/><Relationship Id="rId48" Type="http://schemas.openxmlformats.org/officeDocument/2006/relationships/slide" Target="slides/slide50.xml"/><Relationship Id="rId49" Type="http://schemas.openxmlformats.org/officeDocument/2006/relationships/slide" Target="slides/slide49.xml"/><Relationship Id="rId50" Type="http://schemas.openxmlformats.org/officeDocument/2006/relationships/slide" Target="slides/slide48.xml"/><Relationship Id="rId51" Type="http://schemas.openxmlformats.org/officeDocument/2006/relationships/slide" Target="slides/slide47.xml"/><Relationship Id="rId52" Type="http://schemas.openxmlformats.org/officeDocument/2006/relationships/slide" Target="slides/slide41.xml"/><Relationship Id="rId53" Type="http://schemas.openxmlformats.org/officeDocument/2006/relationships/slide" Target="slides/slide40.xml"/><Relationship Id="rId54" Type="http://schemas.openxmlformats.org/officeDocument/2006/relationships/slide" Target="slides/slide23.xml"/><Relationship Id="rId55" Type="http://schemas.openxmlformats.org/officeDocument/2006/relationships/slide" Target="slides/slide22.xml"/><Relationship Id="rId56" Type="http://schemas.openxmlformats.org/officeDocument/2006/relationships/slide" Target="slides/slide21.xml"/><Relationship Id="rId57" Type="http://schemas.openxmlformats.org/officeDocument/2006/relationships/slide" Target="slides/slide20.xml"/><Relationship Id="rId58" Type="http://schemas.openxmlformats.org/officeDocument/2006/relationships/slide" Target="slides/slide19.xml"/><Relationship Id="rId59" Type="http://schemas.openxmlformats.org/officeDocument/2006/relationships/slide" Target="slides/slide18.xml"/><Relationship Id="rId60" Type="http://schemas.openxmlformats.org/officeDocument/2006/relationships/slide" Target="slides/slide17.xml"/><Relationship Id="rId61" Type="http://schemas.openxmlformats.org/officeDocument/2006/relationships/slide" Target="slides/slide16.xml"/><Relationship Id="rId62" Type="http://schemas.openxmlformats.org/officeDocument/2006/relationships/slide" Target="slides/slide15.xml"/><Relationship Id="rId63" Type="http://schemas.openxmlformats.org/officeDocument/2006/relationships/slide" Target="slides/slide14.xml"/><Relationship Id="rId64" Type="http://schemas.openxmlformats.org/officeDocument/2006/relationships/slide" Target="slides/slide13.xml"/><Relationship Id="rId65" Type="http://schemas.openxmlformats.org/officeDocument/2006/relationships/slide" Target="slides/slide12.xml"/><Relationship Id="rId73" Type="http://schemas.openxmlformats.org/officeDocument/2006/relationships/slide" Target="slides/slide9.xml"/><Relationship Id="rId74" Type="http://schemas.openxmlformats.org/officeDocument/2006/relationships/slide" Target="slides/slide8.xml"/><Relationship Id="rId75" Type="http://schemas.openxmlformats.org/officeDocument/2006/relationships/slide" Target="slides/slide7.xml"/><Relationship Id="rId76" Type="http://schemas.openxmlformats.org/officeDocument/2006/relationships/slide" Target="slides/slide6.xml"/><Relationship Id="rId77" Type="http://schemas.openxmlformats.org/officeDocument/2006/relationships/slide" Target="slides/slide5.xml"/><Relationship Id="rId78" Type="http://schemas.openxmlformats.org/officeDocument/2006/relationships/slide" Target="slides/slide4.xml"/><Relationship Id="rId83" Type="http://schemas.openxmlformats.org/officeDocument/2006/relationships/slide" Target="slides/slide3.xml"/><Relationship Id="rId84" Type="http://schemas.openxmlformats.org/officeDocument/2006/relationships/slide" Target="slides/slide2.xml"/><Relationship Id="rId96" Type="http://schemas.openxmlformats.org/officeDocument/2006/relationships/slide" Target="slides/slide1.xml"/><Relationship Id="rId119" Type="http://schemas.openxmlformats.org/officeDocument/2006/relationships/slide" Target="slides/slide24.xml"/><Relationship Id="rId122" Type="http://schemas.openxmlformats.org/officeDocument/2006/relationships/slide" Target="slides/slide27.xml"/><Relationship Id="rId123" Type="http://schemas.openxmlformats.org/officeDocument/2006/relationships/slide" Target="slides/slide28.xml"/><Relationship Id="rId124" Type="http://schemas.openxmlformats.org/officeDocument/2006/relationships/slide" Target="slides/slide29.xml"/><Relationship Id="rId125" Type="http://schemas.openxmlformats.org/officeDocument/2006/relationships/slide" Target="slides/slide30.xml"/><Relationship Id="rId126" Type="http://schemas.openxmlformats.org/officeDocument/2006/relationships/slide" Target="slides/slide31.xml"/><Relationship Id="rId127" Type="http://schemas.openxmlformats.org/officeDocument/2006/relationships/slide" Target="slides/slide32.xml"/><Relationship Id="rId128" Type="http://schemas.openxmlformats.org/officeDocument/2006/relationships/slide" Target="slides/slide33.xml"/><Relationship Id="rId129" Type="http://schemas.openxmlformats.org/officeDocument/2006/relationships/slide" Target="slides/slide34.xml"/><Relationship Id="rId132" Type="http://schemas.openxmlformats.org/officeDocument/2006/relationships/slide" Target="slides/slide37.xml"/><Relationship Id="rId133" Type="http://schemas.openxmlformats.org/officeDocument/2006/relationships/slide" Target="slides/slide38.xml"/><Relationship Id="rId134" Type="http://schemas.openxmlformats.org/officeDocument/2006/relationships/slide" Target="slides/slide39.xml"/><Relationship Id="rId137" Type="http://schemas.openxmlformats.org/officeDocument/2006/relationships/slide" Target="slides/slide42.xml"/><Relationship Id="rId138" Type="http://schemas.openxmlformats.org/officeDocument/2006/relationships/slide" Target="slides/slide43.xml"/><Relationship Id="rId139" Type="http://schemas.openxmlformats.org/officeDocument/2006/relationships/slide" Target="slides/slide44.xml"/><Relationship Id="rId140" Type="http://schemas.openxmlformats.org/officeDocument/2006/relationships/slide" Target="slides/slide45.xml"/><Relationship Id="rId141" Type="http://schemas.openxmlformats.org/officeDocument/2006/relationships/slide" Target="slides/slide46.xml"/><Relationship Id="rId172" Type="http://schemas.openxmlformats.org/officeDocument/2006/relationships/slide" Target="slides/slide77.xml"/><Relationship Id="rId173" Type="http://schemas.openxmlformats.org/officeDocument/2006/relationships/slide" Target="slides/slide78.xml"/><Relationship Id="rId174" Type="http://schemas.openxmlformats.org/officeDocument/2006/relationships/slide" Target="slides/slide79.xml"/><Relationship Id="rId188" Type="http://schemas.openxmlformats.org/officeDocument/2006/relationships/slide" Target="slides/slide80.xml"/><Relationship Id="rId189" Type="http://schemas.openxmlformats.org/officeDocument/2006/relationships/slide" Target="slides/slide81.xml"/><Relationship Id="rId190" Type="http://schemas.openxmlformats.org/officeDocument/2006/relationships/slide" Target="slides/slide82.xml"/><Relationship Id="rId191" Type="http://schemas.openxmlformats.org/officeDocument/2006/relationships/slide" Target="slides/slide83.xml"/><Relationship Id="rId192" Type="http://schemas.openxmlformats.org/officeDocument/2006/relationships/slide" Target="slides/slide84.xml"/><Relationship Id="rId193" Type="http://schemas.openxmlformats.org/officeDocument/2006/relationships/slide" Target="slides/slide85.xml"/><Relationship Id="rId194" Type="http://schemas.openxmlformats.org/officeDocument/2006/relationships/slide" Target="slides/slide86.xml"/><Relationship Id="rId195" Type="http://schemas.openxmlformats.org/officeDocument/2006/relationships/slide" Target="slides/slide87.xml"/><Relationship Id="rId196" Type="http://schemas.openxmlformats.org/officeDocument/2006/relationships/slide" Target="slides/slide88.xml"/><Relationship Id="rId197" Type="http://schemas.openxmlformats.org/officeDocument/2006/relationships/slide" Target="slides/slide89.xml"/><Relationship Id="rId198" Type="http://schemas.openxmlformats.org/officeDocument/2006/relationships/slide" Target="slides/slide90.xml"/><Relationship Id="rId199" Type="http://schemas.openxmlformats.org/officeDocument/2006/relationships/slide" Target="slides/slide9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diag_001_cliserv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diag_002_reqresp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diag_003_json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diag_004_seq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diag_005_anat.sv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diag_006_el1.sv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diag_007_el2.sv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diag_008_el3.sv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diag_009_el4.sv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diag_010_el5.sv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diag_011_el6.sv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diag_012_el7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7.png"/><Relationship Id="rId5" Type="http://schemas.openxmlformats.org/officeDocument/2006/relationships/image" Target="../media/diag_013_p0.sv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8.png"/><Relationship Id="rId5" Type="http://schemas.openxmlformats.org/officeDocument/2006/relationships/image" Target="../media/diag_014_p1.sv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9.png"/><Relationship Id="rId5" Type="http://schemas.openxmlformats.org/officeDocument/2006/relationships/image" Target="../media/diag_015_p2.sv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0.png"/><Relationship Id="rId5" Type="http://schemas.openxmlformats.org/officeDocument/2006/relationships/image" Target="../media/diag_016_p3.sv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1.png"/><Relationship Id="rId5" Type="http://schemas.openxmlformats.org/officeDocument/2006/relationships/image" Target="../media/diag_017_p4.sv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2.png"/><Relationship Id="rId5" Type="http://schemas.openxmlformats.org/officeDocument/2006/relationships/image" Target="../media/diag_018_p5.sv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3.png"/><Relationship Id="rId5" Type="http://schemas.openxmlformats.org/officeDocument/2006/relationships/image" Target="../media/diag_019_p6.sv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4.png"/><Relationship Id="rId5" Type="http://schemas.openxmlformats.org/officeDocument/2006/relationships/image" Target="../media/diag_020_p7.sv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5.png"/><Relationship Id="rId5" Type="http://schemas.openxmlformats.org/officeDocument/2006/relationships/image" Target="../media/diag_021_completo.sv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diag_022_cliserv.sv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diag_023_reqresp.sv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diag_024_json.sv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diag_025_seq.sv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5.png"/><Relationship Id="rId5" Type="http://schemas.openxmlformats.org/officeDocument/2006/relationships/image" Target="../media/diag_026_completo.sv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6.png"/><Relationship Id="rId5" Type="http://schemas.openxmlformats.org/officeDocument/2006/relationships/image" Target="../media/diag_027_revcon.sv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9.png"/><Relationship Id="rId5" Type="http://schemas.openxmlformats.org/officeDocument/2006/relationships/image" Target="../media/diag_030_prob.sv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0.png"/><Relationship Id="rId5" Type="http://schemas.openxmlformats.org/officeDocument/2006/relationships/image" Target="../media/diag_031_prob_marc.sv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11</a:t>
            </a:r>
          </a:p>
          <a:p>
            <a:pPr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Conectividade e Interoperabilidade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22/10/2026  ·  07:30–11:05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07:30 - 07:35  Abertura e agenda do dia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07:35 - 08:35  Novo assunto: conectividade, interoperabilidade, cliente-servidor, HTTP, APIs e JSON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08:35 - 08:50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08:50 - 09:15  Síncrona x assíncrona, RNF de conectividade e o diagrama de integração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09:15 - 09:45  Diagrama de integração no draw.io: exemplo guiado (TechBurger) e revisão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10:30 - 10:40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10:40 - 11:05  Encontre os problemas (em duplas), erros comuns, síntese e encerramento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NOVO ASSUNTO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Conectividade e Interoperabilidade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Como o nosso sistema conversa com outros sistemas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Antes de começar: vamos pensar juntos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Quando vocês pagam um lanche com PIX pelo app, quantos sistemas conversam nesse momento?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app do TechBurger sabe se o dinheiro caiu na conta? Quem avisa?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Como o app calcula se o endereço está a até 5 km da loja?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acontece com o pedido se o sistema do banco ficar fora do ar?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Hoje: como modelar as CONVERSAS entre sistemas - antes de programar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Onde estamos na disciplina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Aulas 1 a 3: regras e requisitos - O QUE o sistema precisa fazer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Aulas 4 a 9: os diagramas UML - como o sistema funciona POR DENTRO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10: UX - como a PESSOA usa 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Hoje: como o sistema CONVERSA com outros sistemas (pagamento, mapas, avisos)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Já vimos isso de leve: o ator “Sistema de Pagamento” (Aula 4) e o :SistemaPagamento (Aula 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Capacidade de um sistema se CONECTAR a outros e trocar dados por uma rede (internet, Wi-Fi, 4G)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 da conectividade: “os dois sistemas conseguem se alcançar?”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o celular do cliente se conecta ao servidor do TechBurger pela internet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conectividade: o app abre, mas não carrega o cardápio nem envia o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Conectar é o primeiro passo - mas não garante que um ENTENDA o outro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Interoperabilidade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Capacidade de sistemas DIFERENTES (até de empresas diferentes) trabalharem juntos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Eles trocam dados E entendem o que receberam, do jeito certo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 da interoperabilidade: “o que um envia, o outro entende e usa corretamente?”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o PIX - qualquer app de banco paga para qualquer outro banco, porque todos seguem o padrão do Banco Central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interoperabilidade: os dados chegam, mas ninguém entende (“total: 4180” - são reais ou centavos?)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Conectividade x interoperabilidade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Conectividade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Conseguir se ALCANÇAR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Rede, internet, endereço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“cabo” e a “estrada”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o app chega ao servidor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Interoperabilidade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Conseguir se ENTENDER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Formato e significado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 “língua” combinada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o servidor entende o pedido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3 níveis da interoperabilidade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TÉCNICA: os sistemas se conectam e trocam mensagens (internet + HTTP)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SINTÁTICA: os dois usam o mesmo FORMATO (JSON, com os mesmos nomes de campos)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SEMÂNTICA: os dois dão o mesmo SIGNIFICADO aos dados (centavos ou reais? “PAID” = pago?)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Falhou a técnica: nada chega. Falhou a sintática: chega e não abre. Falhou a semântica: abre e é lido errado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erro semântico é o mais perigoso: o sistema “funciona” e cobra R$ 4.180,00 num lanche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Arquitetura cliente-servidor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Quem pede e quem responde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Cliente e servidor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CLIENTE: o programa que a pessoa usa - o app no celular ou o site no navegador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SERVIDOR: o computador que guarda os dados e executa as regras de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cliente faz uma REQUISIÇÃO (“quero o cardápio”); o servidor devolve uma RESPOSTA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servidor atende milhares de clientes ao mesmo tempo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TechBurger: o app é o cliente; pedidos, pontos e regras ficam no servidor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Cliente-servidor: requisição e resposta</a:t>
            </a:r>
          </a:p>
        </p:txBody>
      </p:sp>
      <p:pic>
        <p:nvPicPr>
          <p:cNvPr id="12" name="Picture 11" descr="cliserv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3665337"/>
            <a:ext cx="16400000" cy="50193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Uma analogia: o restaurante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Você (cliente) não entra na cozinha: faz o pedido ao garçom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garçom é a API: recebe o pedido num formato combinado (o cardápio) e leva à cozinha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cozinha (servidor) prepara e o garçom traz a resposta: o lanche - ou “acabou o pão”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Você não precisa saber COMO a cozinha funciona; só COMO pedir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isso que uma API faz entre sistemas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as regras ficam no servidor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Segurança: o app pode ser copiado e alterado; o servidor fica sob o controle da empresa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regra só, para todos: app, site e balcão usam o MESMO servidor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o pedido mínimo de R$ 15,00 (Aula 1) é conferido no servidor, mesmo que o app também avise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app nunca acessa o banco de dados direto: sempre pede ao servidor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Chaves e senhas de outros sistemas (gateway de pagamento) ficam SÓ no servidor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HTTP, APIs e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A língua que os sistemas usam para conversar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é uma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API (Application Programming Interface): a “porta de entrada” que um sistema oferece a outros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um CONTRATO: diz o que pode ser pedido, em que formato e o que volta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Quem usa a API não precisa conhecer o código de dentro do outro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o TechBurger usa a API de um gateway para cobrar PIX - sem ser um banco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API séria tem DOCUMENTAÇÃO: a lista de pedidos possíveis, com exemplos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HTTP: o protocolo da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HTTP é o conjunto de regras de requisição e resposta usado na web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HTTPS = HTTP com criptografia: ninguém no caminho lê os dados (cartão, CPF, endereço)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requisição tem: um MÉTODO (o que fazer) e um ENDEREÇO (sobre o quê)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Pode levar um CORPO com os dados (o pedido, em JSON)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resposta tem um CÓDIGO DE STATUS (deu certo?) e, quase sempre, um corpo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Uma requisição e uma resposta de verdade</a:t>
            </a:r>
          </a:p>
        </p:txBody>
      </p:sp>
      <p:pic>
        <p:nvPicPr>
          <p:cNvPr id="12" name="Picture 11" descr="reqresp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2939844"/>
            <a:ext cx="16400000" cy="64703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API REST: tudo é um recurso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REST é o estilo de API mais usado: cada “coisa” do sistema é um RECURSO com endereço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Recursos têm nomes no plural: /pedidos, /clientes, /produtos, /cobrancas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item específico ganha o número: /pedidos/1042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endereço completo de um recurso é chamado de ENDPOINT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Repare: os recursos são as CLASSES da Aula 5 (Pedido, Cliente, Produto)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métodos (verbos) do HTTP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GET - consultar, sem mudar nada: GET /cardapio, GET /pedidos/1042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POST - criar algo novo: POST /pedidos (cria o pedido 1042)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PUT / PATCH - alterar: PATCH /pedidos/1042 (muda só o status)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DELETE - remover: DELETE /pedidos/1042/itens/2 (tira um item do carrinho)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de ouro: GET nunca cria nem altera nada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 API do TechBurger: alguns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GET /cardapio - lista os produtos disponíveis (com estoque)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POST /pedidos - cria o pedido (o servidor confere o mínimo de R$ 15,00)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GET /pedidos/1042 - consulta o status do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POST /pedidos/1042/combo-gratis - resgata o combo (o guiado da Aula 9)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GET /clientes/88/pontos - consulta os pontos de fidelidade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Códigos de status: deu certo?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2xx - deu certo: 200 OK (consultou), 201 Created (criou)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4xx - o problema está no PEDIDO: 400 dados inválidos, 401 sem login, 404 não existe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409 Conflict: o “Erro 409” da Aula 10 - o pedido já tinha 1 combo grátis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5xx - o problema está no SERVIDOR: 500 erro interno, 503 fora do 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código é para o PROGRAMA; a pessoa vê uma mensagem clara (heurística 9 da Aula 10)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JSON: o formato dos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JSON (JavaScript Object Notation): texto simples, legível por pessoas e por qualquer linguagem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Pares “nome”: valor entre chaves { }; listas entre colchetes [ 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Texto entre aspas (“entrega”); número sem aspas (41.80); verdadeiro/falso: true/false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Números usam ponto, sem “R$”: 41.80 - e não “R$ 41,80”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o formato mais usado nas APIs REST: é a interoperabilidade SINTÁTICA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 classe vira JSON: o Pedido do TechBurger</a:t>
            </a:r>
          </a:p>
        </p:txBody>
      </p:sp>
      <p:pic>
        <p:nvPicPr>
          <p:cNvPr id="12" name="Picture 11" descr="json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322" y="2900000"/>
            <a:ext cx="16175356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contrato da API (documentação)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Para cada endpoint: método + endereço, o que ENVIA, o que RECEBE e os ERROS possíveis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POST /pedidos - envia: itens e tipoEntrega - recebe: 201 + número e total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Erros: 400 (abaixo de R$ 15,00 no app), 409 (item em falta → sugerir substituto)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dois lados combinam ANTES de programar: é um requisito da integração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Mudou o contrato? Nova versão (/v2/pedidos) - quem usa a v1 não quebra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Síncrona x assíncrona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Esperar a resposta - ou ser avisado depois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Síncrona x assíncrona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Síncrona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Quem chama ESPERA a resposta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Só segue depois dela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pedir o QR Code do PIX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calcular a distância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Assíncrona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Quem chama NÃO espera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resultado chega depois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“pagamento confirmado”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push “saiu para entrega”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decidir: síncrona ou assíncrona?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Pergunta-chave: “preciso do resultado AGORA para continuar?” Sim → síncrona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Pedir o QR Code: o app só consegue mostrar o PIX com ele → síncrona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Saber se o cliente pagou: pode levar segundos ou minutos → assíncrona (o gateway avisa)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Enviar o push “pedido a caminho”: o pedido não depende disso → assíncrona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Mesma convenção da Aula 8: ponta CHEIA = síncrona; ponta ABERTA = assíncrona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Webhook: “não me ligue, eu te ligo”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Em vez de perguntar a cada segundo “já pagou?”, o servidor deixa um endereço de aviso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Quando o pagamento acontece, o gateway CHAMA esse endereço: é o webhook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o gateway faz POST /webhooks/pagamento no servidor do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webhook chega ao SERVIDOR - nunca direto no app do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então o pedido vai para a cozinha: a regra da Aula 1 garantida pela integração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PIX na sequência (Aula 8): síncrona e assíncrona</a:t>
            </a:r>
          </a:p>
        </p:txBody>
      </p:sp>
      <p:pic>
        <p:nvPicPr>
          <p:cNvPr id="12" name="Picture 11" descr="seq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3409" y="2900000"/>
            <a:ext cx="13993181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Requisitos não funcionais de conectividade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Cada integração é um ponto que pode falhar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RNF de conectividade (Aula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DISPONIBILIDADE: quanto tempo fica no ar - “99,5% do mês” ≈ 3,6 h fora do 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 DE RESPOSTA: quanto esperar - “o gateway responde em até 3 segundos”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SEGURANÇA: HTTPS, login por chave ou token, chaves só no servidor, dados mínimos (LGPD)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ESCALABILIDADE: aguentar o pico - “sexta à noite, 3 vezes mais pedidos”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TOLERÂNCIA A FALHAS: o que fazer quando a outra ponta cai (o plano B)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Plano B: e se a integração falhar?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seta para um sistema externo precisa de uma resposta para “e se cair?”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Gateway fora do ar: o pedido NÃO vai para a cozinha; avisar e oferecer pagar no balcão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Mapas fora do ar: não liberar a entrega; oferecer retirada no balcão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Notificação falhou: o pedido segue; tentar de novo depois (assíncrona!)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mensagem para a pessoa segue a UX: dizer o que houve e o que fazer (Aula 10)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Do RNF ao critério de aceite (Aula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RNF: “A cobrança PIX deve responder em até 3 segundos em 95% das vezes”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RNF: “Toda comunicação com sistemas externos deve usar HTTPS”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Critério: Dado o gateway sem resposta em 3 s, Quando finalizo, Então vejo “pague no balcão”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Critério: Dado um pedido não pago, Quando chega à cozinha, Então NÃO aparece na tela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Integração também é testada: RNF vira teste, como qualquer requisito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Escolhendo a tecnologia pelo RNF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Pedido e consulta entre app e servidor: API REST com HTTPS e JSON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Aviso de outro sistema (pagamento confirmado): webhook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Aviso no celular da pessoa: notificação push (serviço externo)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Dispositivos (IoT): um sensor de temperatura da câmara fria envia leituras a cada minuto (ex.: protocolo MQTT)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RNF decide: precisa de resposta na hora? pode atrasar? quantas mensagens por minuto?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 diagrama de integração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Uma visão de componentes: quem conversa com quem, e como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Para que serve o diagrama de integração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Mostra as PEÇAS do sistema e os sistemas EXTERNOS com que elas conversam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seta é uma conversa: quem chama quem, o que pede e se espera a resposta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uma versão simplificada do diagrama de COMPONENTES da UML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Ajuda a ver, de uma vez, onde estão os riscos: cada seta para fora pode falhar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Junto com ele vai a TABELA de integrações: tipo, RNF e plano B de cada seta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Anatomia de um diagrama de integração</a:t>
            </a:r>
          </a:p>
        </p:txBody>
      </p:sp>
      <p:pic>
        <p:nvPicPr>
          <p:cNvPr id="12" name="Picture 11" descr="anat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3017388"/>
            <a:ext cx="16399999" cy="631522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Visão geral: as peças do diagrama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QUEM conversa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1. Componente (nosso sistema)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2. Sistema externo (de outra empresa)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3. Banco de dados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7. Nota: regra, RNF, plano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COMO conversam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4. Chamada síncrona (ponta cheia)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5. Mensagem assíncrona (ponta aberta)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6. Rótulo: tipo + o que pede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protocolo (HTTPS · JSON)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pode ser um sistema externo?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Pagamento: gateway de PIX e cartão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Localização: API de mapas (distância, rota, CEP)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Avisos: push, SMS, WhatsApp, e-mail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Governo: emissão de nota fiscal eletrônica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Parceiros: apps de delivery, outros sistemas da empresa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UML: são os ATORES-SISTEMA do caso de uso (Aula 4)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1. Componente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Uma peça do NOSSO sistema, que nós construímos e mantemos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Retângulo com «componente» na 1ª linha (e o ícone de componente, se quiser)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Ex.: App TechBurger, Servidor TechBurger, Tela da Cozinha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Cada componente roda em um lugar: celular, servidor, tela da cozinha</a:t>
            </a:r>
          </a:p>
        </p:txBody>
      </p:sp>
      <p:pic>
        <p:nvPicPr>
          <p:cNvPr id="13" name="Picture 11" descr="el1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500000" cy="527720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2. Sistema externo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Um sistema de OUTRA empresa, que nós só USAMOS pela API dele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Retângulo com borda tracejada e «sistema externo» na 1ª linha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Ex.: Gateway de Pagamento, API de Mapas, Serviço de Notificações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Não controlamos: pode mudar, atrasar ou cair - por isso pede plano B</a:t>
            </a:r>
          </a:p>
        </p:txBody>
      </p:sp>
      <p:pic>
        <p:nvPicPr>
          <p:cNvPr id="13" name="Picture 11" descr="el2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500000" cy="527720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3. Banco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Onde os dados ficam guardados: pedidos, clientes, pontos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Cilindro (draw.io: “Cylinder”)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Só o SERVIDOR acessa o banco - o app nunca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As tabelas nascem das classes da Aula 5 (verão em Banco de Dados)</a:t>
            </a:r>
          </a:p>
        </p:txBody>
      </p:sp>
      <p:pic>
        <p:nvPicPr>
          <p:cNvPr id="13" name="Picture 11" descr="el3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500000" cy="564348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4. Chamada síncrona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Linha contínua com ponta CHEIA, de quem chama para quem responde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Quem chama fica esperando a resposta para continuar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Ex.: App → Servidor: POST /pedidos (o app espera o número do pedido)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Mesma ponta da mensagem síncrona da Aula 8</a:t>
            </a:r>
          </a:p>
        </p:txBody>
      </p:sp>
      <p:pic>
        <p:nvPicPr>
          <p:cNvPr id="13" name="Picture 11" descr="el4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500000" cy="562309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5. Mensagem assíncrona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Linha contínua com ponta ABERTA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Quem envia não espera: o resultado (ou o aviso) chega depois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Ex.: Gateway → Servidor: webhook “pagamento confirmado”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Mesma ponta da mensagem assíncrona da Aula 8</a:t>
            </a:r>
          </a:p>
        </p:txBody>
      </p:sp>
      <p:pic>
        <p:nvPicPr>
          <p:cNvPr id="13" name="Picture 11" descr="el5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500000" cy="540322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6. Rótulo da seta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Diz o TIPO (síncrona / assíncrona) e O QUE é pedido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De preferência o endpoint: GET /distancia, POST /cobrancas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Pode trazer o protocolo e o formato: HTTPS · JSON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Seta sem rótulo é conversa sem contrato: ninguém sabe o que vai nela</a:t>
            </a:r>
          </a:p>
        </p:txBody>
      </p:sp>
      <p:pic>
        <p:nvPicPr>
          <p:cNvPr id="13" name="Picture 11" descr="el6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500000" cy="540322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7. Nota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Nota amarela ligada à peça por uma linha tracejada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Registra a REGRA que a integração garante: “Regra (Aula 1): entrega até 5 km”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Registra o RNF: “responde em até 3 s; HTTPS”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Registra o PLANO B: o que fazer se a outra ponta cair</a:t>
            </a:r>
          </a:p>
        </p:txBody>
      </p:sp>
      <p:pic>
        <p:nvPicPr>
          <p:cNvPr id="13" name="Picture 11" descr="el7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39109" y="2950000"/>
            <a:ext cx="6621782" cy="6400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montar um diagrama de integração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Comece pelos componentes do seu sistema: app, servidor, banco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Releia as regras de negócio: cada regra que depende de fora aponta um sistema externo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Desenhe as setas: quem CHAMA quem (a seta sai de quem pede)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Para cada seta: síncrona ou assíncrona? Qual endpoint?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Notas: a regra garantida, o RNF e o plano B de cada sistema externo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Integração e a UML: o fio condutor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Ator-sistema do caso de uso (Aula 4) → sistema externo no diagrama de integração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 (Aula 5) → recurso da API (/pedidos) e campos do JSON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Decisão da atividade (Aula 7) → código de status (400, 409) e plano B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Mensagem da sequência (Aula 8) → chamada da API, síncrona ou assíncrona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Tela (Aula 10) → mensagem clara quando a integração falha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As integrações do TechBurger - ao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Do pedido pelo app ao aviso no celular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Diagrama de integração no draw.io: a tela</a:t>
            </a:r>
          </a:p>
        </p:txBody>
      </p:sp>
      <p:pic>
        <p:nvPicPr>
          <p:cNvPr id="12" name="Picture 11" descr="i_tela_ge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605" y="2900000"/>
            <a:ext cx="10662790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Onde ficam as formas: a paleta Geral</a:t>
            </a:r>
          </a:p>
        </p:txBody>
      </p:sp>
      <p:pic>
        <p:nvPicPr>
          <p:cNvPr id="12" name="Picture 11" descr="i_paleta_ge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786" y="2900000"/>
            <a:ext cx="9076428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Componente UML: pela pesquisa (opcional)</a:t>
            </a:r>
          </a:p>
        </p:txBody>
      </p:sp>
      <p:pic>
        <p:nvPicPr>
          <p:cNvPr id="12" name="Picture 11" descr="i_compon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873" y="2900000"/>
            <a:ext cx="9120253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Seta assíncrona: ponta aberta no painel Estilo</a:t>
            </a:r>
          </a:p>
        </p:txBody>
      </p:sp>
      <p:pic>
        <p:nvPicPr>
          <p:cNvPr id="12" name="Picture 11" descr="seq_estilo_se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4505539"/>
            <a:ext cx="16400000" cy="333892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Montando o diagrama no draw.io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Componente: Geral › “Rectangle”; duplo clique e escreva «componente» + o nome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Sistema externo: outro “Rectangle”; Estilo › Linha › tracejada; «sistema externo» + o nome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Banco de dados: Geral › “Cylinder”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Seta: passe o mouse na forma e arraste a seta azul até a outra; duplo clique escreve o rótulo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Assíncrona: selecione a seta › Estilo › Fim da linha › ponta aberta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Notas: Geral › “Note”; ligue com uma linha tracejada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Atalhos e cuidados no draw.io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Ctrl+D duplica a forma selecionada (ótimo para os sistemas externos)  ·  Ctrl+Z desfaz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seta tem de “grudar” na forma (contorno azul) - senão ela não acompanha quando você move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Shift+Enter quebra a linha dentro do rótulo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Para mover só o rótulo da seta: arraste o losango amarelo do texto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Salvem como “Integracao_TechBurger.drawio”; para exportar a imagem: Arquivo › Exportar como › PNG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0 de 7: abrir o ponto de partida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Arquivo › Abrir › “Aula 11 - Exemplo Guiado (ponto de partida).drawio”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Já estão lá: o App TechBurger, o Servidor TechBurger e a seta entre eles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Caso: o cliente faz um pedido pelo app e paga com PIX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Pergunte à turma: por que a seta é síncrona? (o app espera o número do pedido)</a:t>
            </a:r>
          </a:p>
        </p:txBody>
      </p:sp>
      <p:pic>
        <p:nvPicPr>
          <p:cNvPr id="13" name="Picture 11" descr="p0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6935" y="5500000"/>
            <a:ext cx="9666129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1 de 7: o banco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Geral › “Cylinder” embaixo do Servidor: Banco de dados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Seta do Servidor para o Banco: “grava e consulta”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Pergunte: por que a seta não sai do App? (só o servidor acessa o banco: segurança e regras num só lugar)</a:t>
            </a:r>
          </a:p>
        </p:txBody>
      </p:sp>
      <p:pic>
        <p:nvPicPr>
          <p:cNvPr id="13" name="Picture 11" descr="p1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6843" y="4900000"/>
            <a:ext cx="11146313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2 de 7: o gateway de pagamento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“Rectangle” tracejado à direita: «sistema externo» Gateway de Pagamento (PIX e cartão)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Seta do Servidor para o Gateway, ponta cheia: síncrona, POST /cobrancas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Pergunte: por que síncrona? (o servidor precisa do QR Code para mostrar ao cliente)</a:t>
            </a:r>
          </a:p>
        </p:txBody>
      </p:sp>
      <p:pic>
        <p:nvPicPr>
          <p:cNvPr id="13" name="Picture 11" descr="p2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48164" y="4900000"/>
            <a:ext cx="11103672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3 de 7: o aviso do pagamento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Seta do Gateway para o Servidor, ponta ABERTA: assíncrona (webhook), pagamento confirmado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Pergunte: por que não esperar na mesma chamada? (o cliente pode levar minutos para pagar no app do banco)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Pergunte: por que o aviso vai ao Servidor e não ao App? (a regra e a cozinha estão no servidor)</a:t>
            </a:r>
          </a:p>
        </p:txBody>
      </p:sp>
      <p:pic>
        <p:nvPicPr>
          <p:cNvPr id="13" name="Picture 11" descr="p3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9655" y="4900000"/>
            <a:ext cx="11120689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4 de 7: a API de Mapas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Outro sistema externo (Ctrl+D no Gateway): API de Mapas (distância)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Seta do Servidor para Mapas, ponta cheia: síncrona, GET /distancia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Pergunte: qual regra da Aula 1 depende dela? (entrega só até 5 km)</a:t>
            </a:r>
          </a:p>
        </p:txBody>
      </p:sp>
      <p:pic>
        <p:nvPicPr>
          <p:cNvPr id="13" name="Picture 11" descr="p4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9655" y="4900000"/>
            <a:ext cx="11120689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5 de 7: a tela da cozinha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«componente» Tela da Cozinha, embaixo do App - é nosso, não é externo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Seta do Servidor para a Cozinha, ponta aberta: assíncrona, novo pedido pago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Pergunte: quando o pedido aparece na cozinha? (só depois do aviso do passo 3)</a:t>
            </a:r>
          </a:p>
        </p:txBody>
      </p:sp>
      <p:pic>
        <p:nvPicPr>
          <p:cNvPr id="13" name="Picture 11" descr="p5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6207" y="4900000"/>
            <a:ext cx="11127586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6 de 7: o serviço de notificações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Sistema externo: Serviço de Notificações (push no celular)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Seta do Servidor, ponta aberta: assíncrona, enviar aviso (“seu pedido saiu”)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Pergunte: se o push falhar, o pedido para? (não: é assíncrono; tenta de novo depois)</a:t>
            </a:r>
          </a:p>
        </p:txBody>
      </p:sp>
      <p:pic>
        <p:nvPicPr>
          <p:cNvPr id="13" name="Picture 11" descr="p6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9655" y="4900000"/>
            <a:ext cx="11120689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7 de 7: as notas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Cozinha: “Regra (Aula 1): só vai para a cozinha com pagamento confirmado”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Gateway: RNF - resposta em até 3 s; HTTPS; a chave da API fica só no servidor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Mapas: entrega até 5 km + plano B (retirada no balcão)  ·  Notificações: se falhar, o pedido segue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Pergunte: que plano B vocês dariam para o Gateway fora do ar? (pagar no balcão)</a:t>
            </a:r>
          </a:p>
        </p:txBody>
      </p:sp>
      <p:pic>
        <p:nvPicPr>
          <p:cNvPr id="13" name="Picture 11" descr="p7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1738" y="5500000"/>
            <a:ext cx="9636523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Resultado: as integrações do TechBurger</a:t>
            </a:r>
          </a:p>
        </p:txBody>
      </p:sp>
      <p:pic>
        <p:nvPicPr>
          <p:cNvPr id="12" name="Picture 11" descr="completo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329" y="2900000"/>
            <a:ext cx="16395341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do 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Componentes (nossos) e sistemas externos (tracejados) estão separados?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o Servidor acessa o banco e os sistemas externos?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seta tem tipo (síncrona / assíncrona) e o que pede?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pagamento confirmado chega por webhook ao Servidor?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sistema externo tem nota de regra, RNF ou plano B?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REVISÃO DO 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Do pedido ao aviso no celular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Os conceitos principais da aula, com o exemplo do TechBurger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cliente-servidor - QUEM pede e QUEM responde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O App é o CLIENTE: pede; o Servidor processa as regras e responde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Só o Servidor fala com o banco e com os sistemas externos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As chaves das APIs externas ficam no Servidor - nunca no App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Um servidor, uma regra: app, site e balcão usam o mesmo</a:t>
            </a:r>
          </a:p>
        </p:txBody>
      </p:sp>
      <p:pic>
        <p:nvPicPr>
          <p:cNvPr id="13" name="Picture 11" descr="cliserv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8625" y="5500000"/>
            <a:ext cx="12742749" cy="3899999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HTTP e API - o contrato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Requisição = método + endereço (+ corpo); resposta = código de status (+ corpo)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REST: recursos no plural (/pedidos); GET consulta, POST cria, PATCH altera, DELETE remove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No guiado: POST /pedidos, POST /cobrancas, GET /distancia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2xx deu certo, 4xx erro no pedido, 5xx erro no servidor</a:t>
            </a:r>
          </a:p>
        </p:txBody>
      </p:sp>
      <p:pic>
        <p:nvPicPr>
          <p:cNvPr id="13" name="Picture 11" descr="reqresp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7426" y="5500000"/>
            <a:ext cx="9885148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JSON - o formato combinado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Pares “nome”: valor; o atributo da classe vira campo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Mesmo formato e mesmos nomes = interoperabilidade SINTÁTICA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Mesmo significado (reais x centavos) = interoperabilidade SEMÂNTICA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O contrato da API diz os campos que vão e que voltam</a:t>
            </a:r>
          </a:p>
        </p:txBody>
      </p:sp>
      <p:pic>
        <p:nvPicPr>
          <p:cNvPr id="13" name="Picture 11" descr="json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4436" y="5500000"/>
            <a:ext cx="9631128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síncrona x assíncrona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Síncrona: preciso da resposta AGORA (QR Code, distância)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Assíncrona: o resultado vem depois (pagamento confirmado, push)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Webhook: o gateway avisa o SERVIDOR quando o PIX é pago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Ponta cheia x ponta aberta - igual à Aula 8</a:t>
            </a:r>
          </a:p>
        </p:txBody>
      </p:sp>
      <p:pic>
        <p:nvPicPr>
          <p:cNvPr id="13" name="Picture 11" descr="seq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34091" y="5500000"/>
            <a:ext cx="8331818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RNF e plano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Cada seta para fora é um risco: disponibilidade, tempo de resposta, segurança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Gateway: até 3 s, HTTPS, chave só no servidor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Mapas fora do ar → retirada no balcão; push falhou → tenta de novo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A regra da Aula 1 (cozinha só com pagamento) é garantida pelo webhook</a:t>
            </a:r>
          </a:p>
        </p:txBody>
      </p:sp>
      <p:pic>
        <p:nvPicPr>
          <p:cNvPr id="13" name="Picture 11" descr="completo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8944" y="5500000"/>
            <a:ext cx="9762111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como tudo se liga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Ator-sistema (Aula 4) → sistema externo  ·  mensagem da sequência (Aula 8) → chamada da API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Atributos da classe (Aula 5) → campos do JSON  ·  decisões da atividade (Aula 7) → códigos de status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A falha vira mensagem clara na tela (Aula 10)  ·  RNF de conectividade (Aula 2) em cada seta</a:t>
            </a:r>
          </a:p>
        </p:txBody>
      </p:sp>
      <p:pic>
        <p:nvPicPr>
          <p:cNvPr id="13" name="Picture 11" descr="revcon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8543" y="4900000"/>
            <a:ext cx="15162913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ENCONTRE OS PROBLEMAS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 diagrama do estagiário: 6 problemas de integração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Em duplas: 6 minutos para achar, explicar e corrigir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os problemas - o que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O próximo slide tem o diagrama de integração que um estagiário fez para 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Há 6 problemas (segurança, tipo da conversa, método HTTP, quem fala com quem)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Marquem cada um e digam POR QUE está errado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Escrevam como ficaria a correção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Sem consultar a Apostila nos primeiros 5 minutos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os 6 problemas (em duplas)</a:t>
            </a:r>
          </a:p>
        </p:txBody>
      </p:sp>
      <p:pic>
        <p:nvPicPr>
          <p:cNvPr id="12" name="Picture 11" descr="prob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84112" y="2900000"/>
            <a:ext cx="14031776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6 problemas marcados</a:t>
            </a:r>
          </a:p>
        </p:txBody>
      </p:sp>
      <p:pic>
        <p:nvPicPr>
          <p:cNvPr id="12" name="Picture 11" descr="prob_marc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9680" y="2900000"/>
            <a:ext cx="14180639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Problemas e correções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Chave do gateway dentro do App: qualquer um copia - a chave fica só no Servidor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http:// sem S: dados sem criptografia - HTTPS em toda conversa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App lendo e gravando no banco direto: só o Servidor acessa o banco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Webhook do pagamento indo para o App: deve ir ao Servidor (é lá que está a regra da cozinha)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Aviso síncrono travando a cozinha: a notificação é assíncrona; o pedido não espera o push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GET /pedidos para CRIAR o pedido: GET só consulta - o certo é POST /pedidos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em integração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Deixar segredos (chaves, senhas) no app do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app falar direto com o banco ou com sistemas externos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Tudo síncrono: um aviso lento trava o pedido inteiro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Seta sem rótulo: ninguém sabe o que vai nem quem espera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Esquecer o plano B: “e se o gateway cair?” sem resposta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combinar o SIGNIFICADO dos dados (centavos x reais)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Boas práticas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Comecem pelas regras de negócio: cada regra que depende de fora aponta uma integração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seta com tipo, endpoint e protocolo (HTTPS · JSON)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Síncrona só quando precisa da resposta AGORA; o resto, assíncrona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Para cada sistema externo: um RNF e um plano B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Documentem o contrato (o que vai, o que volta, os erros) antes de programar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Conectividade - capacidade de se conectar e trocar dados por uma rede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Interoperabilidade - sistemas diferentes trocando dados e entendendo-os (técnica, sintática, semântica)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 / servidor - quem pede / quem processa e responde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API / endpoint - contrato de acesso a um sistema / endereço de um recurso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HTTP(S) / REST / JSON - protocolo (com criptografia) / estilo de API / formato dos dados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Síncrona / assíncrona / webhook - espera / não espera / aviso enviado de volta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Qual a diferença entre conectividade e interoperabilidade?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Quais são os 3 níveis de interoperabilidade? Dê um exemplo de falha em cada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Por que as regras de negócio e as chaves ficam no servidor e não no app?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Qual método HTTP usar para criar, consultar, alterar e remover? Dê exemplos do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Como decidir se uma integração é síncrona ou assíncrona?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O que é um webhook? Onde ele aparece no pagamento PIX?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7.  Cite 3 RNF de conectividade e um plano B para o gateway de pagamento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 para casa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O que significa o código 201? E o 503?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Qual método HTTP nunca deve alterar dados?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“total_centavos”: 4180 lido como R$ 4.180,00 é falha de qual nível?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Ponta cheia ou aberta para o aviso “pedido saiu para entrega”?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No diagrama de integração, como se desenha um sistema de outra empresa?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Conectividade é se alcançar; interoperabilidade é se entender (técnica, sintática, semântica)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Cliente-servidor: o app pede, o servidor guarda os dados e as regras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APIs REST com HTTP(S), métodos, códigos de status e JSON - o contrato entre sistemas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Síncrona x assíncrona, webhook e os RNF de conectividade com plano B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diagrama de integração do TechBurger, ligado à UML e à UX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(23/10): Organização de dados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755</Words>
  <Application>Microsoft Office PowerPoint</Application>
  <PresentationFormat>Personalizar</PresentationFormat>
  <Paragraphs>94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Unbounded 1 Ultra-Bold</vt:lpstr>
      <vt:lpstr>Calibri</vt:lpstr>
      <vt:lpstr>Arial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Natanael Santos De Jesus</cp:lastModifiedBy>
  <cp:revision>14</cp:revision>
  <dcterms:created xsi:type="dcterms:W3CDTF">2006-08-16T00:00:00Z</dcterms:created>
  <dcterms:modified xsi:type="dcterms:W3CDTF">2026-08-30T15:39:53Z</dcterms:modified>
  <dc:identifier>DAGGnDa8uXQ</dc:identifier>
</cp:coreProperties>
</file>