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294" r:id="rId15"/>
    <p:sldId id="295" r:id="rId16"/>
    <p:sldId id="296" r:id="rId17"/>
    <p:sldId id="297" r:id="rId18"/>
    <p:sldId id="298" r:id="rId19"/>
    <p:sldId id="299" r:id="rId20"/>
    <p:sldId id="300" r:id="rId21"/>
    <p:sldId id="301" r:id="rId22"/>
    <p:sldId id="302" r:id="rId23"/>
    <p:sldId id="303" r:id="rId24"/>
    <p:sldId id="304" r:id="rId25"/>
    <p:sldId id="305" r:id="rId26"/>
    <p:sldId id="306" r:id="rId27"/>
    <p:sldId id="307" r:id="rId28"/>
    <p:sldId id="308" r:id="rId29"/>
    <p:sldId id="309" r:id="rId30"/>
    <p:sldId id="310" r:id="rId31"/>
    <p:sldId id="311" r:id="rId32"/>
    <p:sldId id="312" r:id="rId33"/>
    <p:sldId id="313" r:id="rId34"/>
    <p:sldId id="314" r:id="rId35"/>
  </p:sldIdLst>
  <p:sldSz cx="18288000" cy="10287000"/>
  <p:notesSz cx="6858000" cy="9144000"/>
  <p:embeddedFontLst>
    <p:embeddedFont>
      <p:font typeface="Unbounded 1 Ultra-Bold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22" autoAdjust="0"/>
  </p:normalViewPr>
  <p:slideViewPr>
    <p:cSldViewPr>
      <p:cViewPr varScale="1">
        <p:scale>
          <a:sx n="44" d="100"/>
          <a:sy n="44" d="100"/>
        </p:scale>
        <p:origin x="900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10" Type="http://schemas.openxmlformats.org/officeDocument/2006/relationships/font" Target="fonts/font1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600000" y="2650000"/>
            <a:ext cx="720000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800" b="1" i="0">
                <a:solidFill>
                  <a:srgbClr val="B8CCE8"/>
                </a:solidFill>
                <a:latin typeface="Calibri"/>
              </a:rPr>
              <a:t>Aula 1</a:t>
            </a:r>
          </a:p>
          <a:p>
            <a:pPr>
              <a:spcAft>
                <a:spcPts val="1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Regra de Negócio e Requisitos de Sistemas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Técnico em Desenvolvimento de Sistemas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Turma 103513  ·  03/09/2026  ·  07:30–11:30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Um pouco sobre mim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E D U C A Ç Ã 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650000"/>
            <a:ext cx="16400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Bacharelado em Sistemas de Informação — Universidade Estácio de Sá (2016–2021)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Tecnólogo em Banco de Dados — Universidade Cidade de São Paulo (2017–2019)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Pós-Graduação em Administração de Banco de Dados — Universidade Estácio de Sá (2019–2021)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07:30 – 08:00  Abertura, apresentações e apresentação da disciplina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08:00 – 08:15  O papel do modelador de sistemas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08:15 – 09:00  Regra de Negócio: definição, objetivo e estrutura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09:00 – 09:15  Intervalo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09:15 – 09:45  Introdução a Requisitos de Sistemas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09:45 – 10:15  Estudo de caso guia: TechBurger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10:15 – 11:00  Atividade prática em grupo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11:00 – 11:30  Correção coletiva e encerramento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600000"/>
            <a:ext cx="164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3700" b="1" i="0">
                <a:solidFill>
                  <a:srgbClr val="1F497D"/>
                </a:solidFill>
                <a:latin typeface="Calibri"/>
              </a:rPr>
              <a:t>Antes de escrever a primeira linha de código,
o que precisa estar definido?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590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Vamos discutir antes de começar…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papel da Modelagem de Sistemas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Traduz o funcionamento do negócio em modelos que orientam o desenvolvimento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Está ligada à função F.2: sistemas com qualidade, usabilidade, robustez, integridade e segurança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Fluxo da disciplina: negócio → requisitos → modelagem (UML) → desenvolvimento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Pular essa etapa é uma das causas mais comuns de retrabalho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Como vai funcionar a disciplina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Estrutura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21 encontros · 82h de aula + 4h de planejamento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Matutino, 07:30 às 11:30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Estudo de caso guia (TechBurger) nas aulas de UML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Projeto Integrador nas Aulas 16 a 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Avaliação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Atividades práticas a cada aula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Apresentação do Projeto Integrador na Aula 20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Avaliação final teórica na Aula 21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Gabaritos/checklists disponíveis para autoconferência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CONCEITO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Regra de Negócio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A base de tudo que vamos modelar na disciplina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Regra de Negócio — Definição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Diretriz que define ou restringe algum aspecto do negócio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Existe independentemente de haver ou não um sistema informatizado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É uma política, norma ou decisão de como a empresa funciona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Exemplo: “clientes inadimplentes não podem fazer novos pedidos”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Regra de Negócio — Objetivo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Garantir consistência nas decisões, mesmo com pessoas diferentes decidindo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Controlar riscos financeiros, operacionais e de segurança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Refletir políticas internas da empresa e exigências legais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Orientar decisões que o sistema vai tomar de forma automatizada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Regra de Negócio — Estrutura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Condição — a situação que dispara a regra (o “se”)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Ação — o que deve acontecer quando a condição é satisfeita (o “então”)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Exceção — quando a regra deixa de valer, se houver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Exemplo: “3+ cancelamentos no mês” → bloquear 15 dias → exceto compras presenciais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Regra de Negócio x Processo de Negócio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Regra de negócio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Restrição pontual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O “se... então...”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Vale sempre que a condição ocorrer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Processo de negócio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Sequência de atividades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O “como se faz”, passo a passo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Pode conter várias regras aplicadas em pontos diferentes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CONCEITO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Requisitos de Sistemas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Traduzindo o negócio para o que o sistema deve fazer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é um Requisito de Sistema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Capacidade ou condição que o sistema precisa atender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É a “tradução técnica” de uma necessidade do negócio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Toda regra de negócio relevante para o sistema vira um ou mais requisitos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Da Regra de Negócio ao Requisito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Regra: “pedido só é enviado à cozinha após confirmação de pagamento”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Requisito funcional: “o sistema deve bloquear o envio do pedido até o pagamento ser confirmado”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regra pode gerar mais de um requisito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Prévia: Funcional x Não Funcional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Requisito Funcional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Descreve o que o sistema faz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Uma funcionalidade, uma regra aplicada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Aprofundamos na Aula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Requisito Não Funcional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Descreve como o sistema se comporta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Desempenho, segurança, usabilidade...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Aprofundamos na Aula 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ESTUDO DE CASO GUIA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TechBurger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Já volta na Aula 2 e segue nas Aulas 3 a 9, 11 e 14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TechBurger — O cenário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Hamburgueria com atendimento no balcão e por aplicativo próprio</a:t>
            </a:r>
          </a:p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Programa de fidelidade, descontos por PIX e raio de entrega de 5 km</a:t>
            </a:r>
          </a:p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Regras de estoque, pedidos grandes e bloqueio por cancelamentos</a:t>
            </a:r>
          </a:p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Leitura completa disponível na Apostila do Aluno, seção 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Atividade prática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Formar grupos de 3 a 4 pessoas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Ler o cenário TechBurger (Apostila, seção 4)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Identificar pelo menos 6 regras de negócio (o texto tem 8)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Preencher a tabela: Regra · Condição · Ação · Exceção · Objetivo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Tempo: 45 minutos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Checklist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grupo identificou pelo menos 6 regras distintas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regra tem Condição e Ação coerentes com o texto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 exceções foram percebidas quando existiam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grupo não confundiu regra pontual com processo inteiro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papel da modelagem de sistemas no desenvolvimento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 de negócio: definição, objetivo e estrutura (condição/ação/exceção)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 de negócio x processo de negócio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Introdução a requisitos de sistemas e a relação com as regras de negócio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Próxima aula (04/09): requisito funcional x não funcional e técnicas de análise de requisitos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60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TextBox 5"/>
          <p:cNvSpPr txBox="1"/>
          <p:nvPr/>
        </p:nvSpPr>
        <p:spPr>
          <a:xfrm>
            <a:off x="10078328" y="5200000"/>
            <a:ext cx="7629482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 b="0" i="0">
                <a:solidFill>
                  <a:srgbClr val="FFFFFF"/>
                </a:solidFill>
                <a:latin typeface="Calibri"/>
              </a:rPr>
              <a:t>Até a próxima aula!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2</Words>
  <Application>Microsoft Office PowerPoint</Application>
  <PresentationFormat>Personalizar</PresentationFormat>
  <Paragraphs>1</Paragraphs>
  <Slides>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5</vt:i4>
      </vt:variant>
    </vt:vector>
  </HeadingPairs>
  <TitlesOfParts>
    <vt:vector size="10" baseType="lpstr">
      <vt:lpstr>Arial</vt:lpstr>
      <vt:lpstr>Calibri</vt:lpstr>
      <vt:lpstr>Unbounded 1 Ultra-Bold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Ana Claudia Conceição</cp:lastModifiedBy>
  <cp:revision>13</cp:revision>
  <dcterms:created xsi:type="dcterms:W3CDTF">2006-08-16T00:00:00Z</dcterms:created>
  <dcterms:modified xsi:type="dcterms:W3CDTF">2025-01-30T12:04:47Z</dcterms:modified>
  <dc:identifier>DAGGnDa8uXQ</dc:identifier>
</cp:coreProperties>
</file>