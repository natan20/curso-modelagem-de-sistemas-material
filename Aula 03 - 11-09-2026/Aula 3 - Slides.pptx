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13" r:id="rId9"/>
    <p:sldId id="314" r:id="rId8"/>
    <p:sldId id="315" r:id="rId7"/>
    <p:sldId id="301" r:id="rId22"/>
    <p:sldId id="302" r:id="rId23"/>
    <p:sldId id="316" r:id="rId6"/>
    <p:sldId id="303" r:id="rId24"/>
    <p:sldId id="304" r:id="rId25"/>
    <p:sldId id="305" r:id="rId26"/>
    <p:sldId id="306" r:id="rId27"/>
    <p:sldId id="317" r:id="rId5"/>
    <p:sldId id="318" r:id="rId34"/>
    <p:sldId id="319" r:id="rId35"/>
    <p:sldId id="307" r:id="rId28"/>
    <p:sldId id="308" r:id="rId29"/>
    <p:sldId id="309" r:id="rId30"/>
    <p:sldId id="310" r:id="rId31"/>
    <p:sldId id="311" r:id="rId32"/>
    <p:sldId id="312" r:id="rId33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8.xml"/><Relationship Id="rId6" Type="http://schemas.openxmlformats.org/officeDocument/2006/relationships/slide" Target="slides/slide13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19.xml"/><Relationship Id="rId3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3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Modelagem de Sistemas e Introdução à UML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11/09/2026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Modelagem de Sistemas: definição e motivação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Tipos de modelo e características de um bom 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Ferramentas de modelagem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10:00  Prática guiada: primeiro diagrama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10:30  Visão geral da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10:30 – 11:30  Atividade prática e correção coletiva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Antes de escrever a primeira linha de código,
como garantir que toda a equipe entende o mesmo sistema do mesmo jeito?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Modelagem de Sistemas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Representar o sistema antes de construí-lo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Modelagem de Sistemas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Representar, por meio de modelos, o funcionamento de um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modelo é sempre uma simplificação da realidade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Corrigir um erro no modelo é bem mais barato que corrigir código pronto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Analogia: a planta do engenheiro civil antes da obra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Tipos de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existe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Classes, objetos, componentes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estática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Comportamental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Representa o que acontece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Casos de uso, atividades, sequência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dinâmica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Características de um bom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Abstração — mostra só o que importa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Clareza — qualquer stakeholder entende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 — não se contradiz entre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Nível de detalhe adequado ao público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corrigir um modelo é mais barato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nos requisitos: custo 1x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na modelagem: custo 5x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na codificação: custo 10x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Erro achado em produção: custo 100x ou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Quanto mais cedo o erro aparece, mais barato é corrigi-lo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Breve histórico da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Anos 1990: cada especialista tinha sua própria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Booch, Rumbaugh (OMT) e Jacobson (OOSE) unificam seus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1997: UML é padronizada pela OMG (Object Management Group)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usamos a versão UML 2.x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UML tem tantos diagramas?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 na planta de um prédio: planta baixa, elétrica, hidráulica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uma mostra o mesmo prédio sob um aspecto diferente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UML funciona igual: cada diagrama é uma “planta” diferente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Nenhum diagrama sozinho conta a história inteira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DA TEORIA À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 o que vamos desenhar os diagramas da disciplina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Ferramentas de modelagem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draw.io / diagrams.net — gratuita, no navegador (vamos usar nesta disciplina)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StarUML e Astah — dedicadas a UML, com validação de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Lucidchart — colaborativa, baseada em nuvem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usar uma ferramenta em vez de desenhar à mão?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Versionamento — histórico de mudanças, igual ao código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Padronização — obriga a usar a notação UML correta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Reuso — elementos reaproveitados entre diagramas do projeto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Exportação — vira imagem, PDF ou até esqueleto de código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do professor: fluxograma “Pedir uma pizza”</a:t>
            </a:r>
          </a:p>
        </p:txBody>
      </p:sp>
      <p:pic>
        <p:nvPicPr>
          <p:cNvPr id="12" name="Picture 11" descr="exemplo_fluxograma_pedir_pizz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000" y="3050000"/>
            <a:ext cx="9690000" cy="51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0000" y="8250000"/>
            <a:ext cx="16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1">
                <a:solidFill>
                  <a:srgbClr val="333333"/>
                </a:solidFill>
                <a:latin typeface="Calibri"/>
              </a:rPr>
              <a:t>Reproduzido ao vivo no draw.io — este é o diagrama que vocês vão refazer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Prática guiada: primeiro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Abrir o draw.io (diagrams.net) no navegador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Reproduzir o exemplo do professor (slide anterior)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Salvar/exportar o próprio arquivo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Esse arquivo será a base para as próximas aulas de UML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PANORAMA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 Linguagem UML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Unified Modeling Language — o padrão para modelar sistemas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Diagramas UML que veremos na 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(comportamental) —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(estrutural) — Aulas 5 e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(comportamental) — Aula 7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(comportamental) — Aula 8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Outros diagramas UML existem (Objetos, Componentes, Implantação) — vistos hoje de forma panorâmica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cada diagrama mostra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Casos de 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Quem interage com o sistema (atores) e o que cada um pode fazer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Atores (bonecos) fora de um retângulo com o sistema; ações em elipses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ator Cliente → caso de uso “Fazer Pedido”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 Aula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 entidades do sistema, seus atributos, métodos e relações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Números de multiplicidade indicam quantas instâncias se relacionam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classe Pedido 1 —— 1..* Item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nas Aulas 5 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cada diagrama mostra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passo a passo de um processo, com decisões no caminho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Parecido com um fluxograma: caixas, setas e losangos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Receber pedido → pagamento confirmado? → Enviar à cozinha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 Aula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Sequência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 troca de mensagens entre objetos, em ordem cronológica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 de vida verticais + setas horizontais numeradas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App → Pagamento → Cozinha (mensagens numeradas em ordem)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Veremos na Aula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comuns aos diagramas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 — pessoa, sistema externo ou papel que interage com 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 — a “caixa” que representa uma classe, objeto ou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 — a linha que conecta dois elementos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Rótulo — o texto que nomeia um elemento ou relacionamento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prática: classificando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Ler 6 descrições de diagramas na Apostila (seção 5.2)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Classificar cada um como Estrutural ou Comportamental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Identificar o nome do diagrama UML correspondente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identificar cada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Bonecos fora de um retângulo → Casos de Uso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Losangos de decisão → Atividades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 verticais tracejadas (linha de vida) → Sequência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Atributos com valores preenchidos → Objetos (não Classes)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Módulos conectados indicando distribuição em servidores → Implantação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— representação simplificada de um sistema, mostrando o que importa para um propósito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UML — Unified Modeling Language, a linguagem padrão para modelar sistemas orientados a objetos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estrutural — representa o que existe no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Modelo comportamental — representa o que acontece no sistema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modelagem de sistemas e por que é feita antes/durante o desenvolvimento?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Diferencie modelo estrutural de comportamental, com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Cite duas características de um bom modelo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Cite três diagramas UML que estudaremos e classifique cada um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é modelagem de sistemas e por que ela importa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Modelos estruturais x comportamentais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Ferramentas de modelagem, com foco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Panorama da UML e dos diagramas que veremos na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(18/09): Diagrama de Casos de Uso, aplicado ao TechBurger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