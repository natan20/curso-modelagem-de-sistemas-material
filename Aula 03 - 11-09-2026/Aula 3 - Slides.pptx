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5"/>
    <p:sldId id="295" r:id="rId6"/>
    <p:sldId id="340" r:id="rId55"/>
    <p:sldId id="341" r:id="rId56"/>
    <p:sldId id="342" r:id="rId57"/>
    <p:sldId id="325" r:id="rId7"/>
    <p:sldId id="320" r:id="rId8"/>
    <p:sldId id="321" r:id="rId9"/>
    <p:sldId id="322" r:id="rId10"/>
    <p:sldId id="347" r:id="rId38"/>
    <p:sldId id="348" r:id="rId62"/>
    <p:sldId id="366" r:id="rId80"/>
    <p:sldId id="367" r:id="rId81"/>
    <p:sldId id="323" r:id="rId11"/>
    <p:sldId id="296" r:id="rId12"/>
    <p:sldId id="297" r:id="rId13"/>
    <p:sldId id="314" r:id="rId14"/>
    <p:sldId id="368" r:id="rId82"/>
    <p:sldId id="331" r:id="rId15"/>
    <p:sldId id="330" r:id="rId16"/>
    <p:sldId id="354" r:id="rId68"/>
    <p:sldId id="369" r:id="rId83"/>
    <p:sldId id="338" r:id="rId17"/>
    <p:sldId id="355" r:id="rId69"/>
    <p:sldId id="370" r:id="rId84"/>
    <p:sldId id="313" r:id="rId18"/>
    <p:sldId id="350" r:id="rId64"/>
    <p:sldId id="371" r:id="rId85"/>
    <p:sldId id="356" r:id="rId70"/>
    <p:sldId id="298" r:id="rId19"/>
    <p:sldId id="299" r:id="rId20"/>
    <p:sldId id="300" r:id="rId21"/>
    <p:sldId id="372" r:id="rId86"/>
    <p:sldId id="351" r:id="rId65"/>
    <p:sldId id="357" r:id="rId71"/>
    <p:sldId id="373" r:id="rId87"/>
    <p:sldId id="315" r:id="rId22"/>
    <p:sldId id="374" r:id="rId88"/>
    <p:sldId id="358" r:id="rId72"/>
    <p:sldId id="396" r:id="rId110"/>
    <p:sldId id="397" r:id="rId111"/>
    <p:sldId id="375" r:id="rId89"/>
    <p:sldId id="398" r:id="rId112"/>
    <p:sldId id="399" r:id="rId113"/>
    <p:sldId id="305" r:id="rId23"/>
    <p:sldId id="306" r:id="rId24"/>
    <p:sldId id="332" r:id="rId25"/>
    <p:sldId id="317" r:id="rId26"/>
    <p:sldId id="376" r:id="rId90"/>
    <p:sldId id="318" r:id="rId27"/>
    <p:sldId id="377" r:id="rId91"/>
    <p:sldId id="378" r:id="rId92"/>
    <p:sldId id="319" r:id="rId28"/>
    <p:sldId id="352" r:id="rId66"/>
    <p:sldId id="379" r:id="rId93"/>
    <p:sldId id="380" r:id="rId94"/>
    <p:sldId id="353" r:id="rId67"/>
    <p:sldId id="359" r:id="rId73"/>
    <p:sldId id="381" r:id="rId95"/>
    <p:sldId id="333" r:id="rId29"/>
    <p:sldId id="382" r:id="rId96"/>
    <p:sldId id="339" r:id="rId30"/>
    <p:sldId id="383" r:id="rId97"/>
    <p:sldId id="329" r:id="rId31"/>
    <p:sldId id="384" r:id="rId98"/>
    <p:sldId id="385" r:id="rId99"/>
    <p:sldId id="386" r:id="rId100"/>
    <p:sldId id="301" r:id="rId32"/>
    <p:sldId id="302" r:id="rId33"/>
    <p:sldId id="316" r:id="rId34"/>
    <p:sldId id="387" r:id="rId101"/>
    <p:sldId id="388" r:id="rId102"/>
    <p:sldId id="327" r:id="rId35"/>
    <p:sldId id="334" r:id="rId36"/>
    <p:sldId id="389" r:id="rId103"/>
    <p:sldId id="303" r:id="rId37"/>
    <p:sldId id="343" r:id="rId58"/>
    <p:sldId id="344" r:id="rId59"/>
    <p:sldId id="345" r:id="rId60"/>
    <p:sldId id="346" r:id="rId61"/>
    <p:sldId id="390" r:id="rId104"/>
    <p:sldId id="328" r:id="rId39"/>
    <p:sldId id="349" r:id="rId63"/>
    <p:sldId id="391" r:id="rId105"/>
    <p:sldId id="360" r:id="rId74"/>
    <p:sldId id="361" r:id="rId75"/>
    <p:sldId id="362" r:id="rId76"/>
    <p:sldId id="363" r:id="rId77"/>
    <p:sldId id="365" r:id="rId79"/>
    <p:sldId id="324" r:id="rId40"/>
    <p:sldId id="307" r:id="rId41"/>
    <p:sldId id="308" r:id="rId42"/>
    <p:sldId id="326" r:id="rId43"/>
    <p:sldId id="335" r:id="rId44"/>
    <p:sldId id="364" r:id="rId78"/>
    <p:sldId id="392" r:id="rId106"/>
    <p:sldId id="336" r:id="rId45"/>
    <p:sldId id="393" r:id="rId107"/>
    <p:sldId id="309" r:id="rId46"/>
    <p:sldId id="394" r:id="rId108"/>
    <p:sldId id="310" r:id="rId47"/>
    <p:sldId id="395" r:id="rId109"/>
    <p:sldId id="311" r:id="rId48"/>
    <p:sldId id="312" r:id="rId49"/>
  </p:sldIdLst>
  <p:sldSz cx="18288000" cy="10287000"/>
  <p:notesSz cx="6858000" cy="9144000"/>
  <p:embeddedFontLst>
    <p:embeddedFont>
      <p:font typeface="Unbounded 1 Ultra-Bold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8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9.xml"/><Relationship Id="rId16" Type="http://schemas.openxmlformats.org/officeDocument/2006/relationships/slide" Target="slides/slide20.xml"/><Relationship Id="rId17" Type="http://schemas.openxmlformats.org/officeDocument/2006/relationships/slide" Target="slides/slide23.xml"/><Relationship Id="rId18" Type="http://schemas.openxmlformats.org/officeDocument/2006/relationships/slide" Target="slides/slide26.xml"/><Relationship Id="rId19" Type="http://schemas.openxmlformats.org/officeDocument/2006/relationships/slide" Target="slides/slide30.xml"/><Relationship Id="rId20" Type="http://schemas.openxmlformats.org/officeDocument/2006/relationships/slide" Target="slides/slide31.xml"/><Relationship Id="rId21" Type="http://schemas.openxmlformats.org/officeDocument/2006/relationships/slide" Target="slides/slide32.xml"/><Relationship Id="rId22" Type="http://schemas.openxmlformats.org/officeDocument/2006/relationships/slide" Target="slides/slide37.xml"/><Relationship Id="rId23" Type="http://schemas.openxmlformats.org/officeDocument/2006/relationships/slide" Target="slides/slide41.xml"/><Relationship Id="rId24" Type="http://schemas.openxmlformats.org/officeDocument/2006/relationships/slide" Target="slides/slide42.xml"/><Relationship Id="rId25" Type="http://schemas.openxmlformats.org/officeDocument/2006/relationships/slide" Target="slides/slide43.xml"/><Relationship Id="rId26" Type="http://schemas.openxmlformats.org/officeDocument/2006/relationships/slide" Target="slides/slide44.xml"/><Relationship Id="rId27" Type="http://schemas.openxmlformats.org/officeDocument/2006/relationships/slide" Target="slides/slide46.xml"/><Relationship Id="rId28" Type="http://schemas.openxmlformats.org/officeDocument/2006/relationships/slide" Target="slides/slide49.xml"/><Relationship Id="rId29" Type="http://schemas.openxmlformats.org/officeDocument/2006/relationships/slide" Target="slides/slide56.xml"/><Relationship Id="rId30" Type="http://schemas.openxmlformats.org/officeDocument/2006/relationships/slide" Target="slides/slide58.xml"/><Relationship Id="rId31" Type="http://schemas.openxmlformats.org/officeDocument/2006/relationships/slide" Target="slides/slide60.xml"/><Relationship Id="rId32" Type="http://schemas.openxmlformats.org/officeDocument/2006/relationships/slide" Target="slides/slide64.xml"/><Relationship Id="rId33" Type="http://schemas.openxmlformats.org/officeDocument/2006/relationships/slide" Target="slides/slide65.xml"/><Relationship Id="rId34" Type="http://schemas.openxmlformats.org/officeDocument/2006/relationships/slide" Target="slides/slide66.xml"/><Relationship Id="rId35" Type="http://schemas.openxmlformats.org/officeDocument/2006/relationships/slide" Target="slides/slide69.xml"/><Relationship Id="rId36" Type="http://schemas.openxmlformats.org/officeDocument/2006/relationships/slide" Target="slides/slide70.xml"/><Relationship Id="rId37" Type="http://schemas.openxmlformats.org/officeDocument/2006/relationships/slide" Target="slides/slide72.xml"/><Relationship Id="rId38" Type="http://schemas.openxmlformats.org/officeDocument/2006/relationships/slide" Target="slides/slide10.xml"/><Relationship Id="rId39" Type="http://schemas.openxmlformats.org/officeDocument/2006/relationships/slide" Target="slides/slide78.xml"/><Relationship Id="rId40" Type="http://schemas.openxmlformats.org/officeDocument/2006/relationships/slide" Target="slides/slide86.xml"/><Relationship Id="rId41" Type="http://schemas.openxmlformats.org/officeDocument/2006/relationships/slide" Target="slides/slide87.xml"/><Relationship Id="rId42" Type="http://schemas.openxmlformats.org/officeDocument/2006/relationships/slide" Target="slides/slide88.xml"/><Relationship Id="rId43" Type="http://schemas.openxmlformats.org/officeDocument/2006/relationships/slide" Target="slides/slide89.xml"/><Relationship Id="rId44" Type="http://schemas.openxmlformats.org/officeDocument/2006/relationships/slide" Target="slides/slide90.xml"/><Relationship Id="rId45" Type="http://schemas.openxmlformats.org/officeDocument/2006/relationships/slide" Target="slides/slide93.xml"/><Relationship Id="rId46" Type="http://schemas.openxmlformats.org/officeDocument/2006/relationships/slide" Target="slides/slide95.xml"/><Relationship Id="rId47" Type="http://schemas.openxmlformats.org/officeDocument/2006/relationships/slide" Target="slides/slide97.xml"/><Relationship Id="rId48" Type="http://schemas.openxmlformats.org/officeDocument/2006/relationships/slide" Target="slides/slide99.xml"/><Relationship Id="rId49" Type="http://schemas.openxmlformats.org/officeDocument/2006/relationships/slide" Target="slides/slide100.xml"/><Relationship Id="rId50" Type="http://schemas.openxmlformats.org/officeDocument/2006/relationships/font" Target="fonts/font1.fntdata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slide" Target="slides/slide3.xml"/><Relationship Id="rId56" Type="http://schemas.openxmlformats.org/officeDocument/2006/relationships/slide" Target="slides/slide4.xml"/><Relationship Id="rId57" Type="http://schemas.openxmlformats.org/officeDocument/2006/relationships/slide" Target="slides/slide5.xml"/><Relationship Id="rId58" Type="http://schemas.openxmlformats.org/officeDocument/2006/relationships/slide" Target="slides/slide73.xml"/><Relationship Id="rId59" Type="http://schemas.openxmlformats.org/officeDocument/2006/relationships/slide" Target="slides/slide74.xml"/><Relationship Id="rId60" Type="http://schemas.openxmlformats.org/officeDocument/2006/relationships/slide" Target="slides/slide75.xml"/><Relationship Id="rId61" Type="http://schemas.openxmlformats.org/officeDocument/2006/relationships/slide" Target="slides/slide76.xml"/><Relationship Id="rId62" Type="http://schemas.openxmlformats.org/officeDocument/2006/relationships/slide" Target="slides/slide11.xml"/><Relationship Id="rId63" Type="http://schemas.openxmlformats.org/officeDocument/2006/relationships/slide" Target="slides/slide79.xml"/><Relationship Id="rId64" Type="http://schemas.openxmlformats.org/officeDocument/2006/relationships/slide" Target="slides/slide27.xml"/><Relationship Id="rId65" Type="http://schemas.openxmlformats.org/officeDocument/2006/relationships/slide" Target="slides/slide34.xml"/><Relationship Id="rId66" Type="http://schemas.openxmlformats.org/officeDocument/2006/relationships/slide" Target="slides/slide50.xml"/><Relationship Id="rId67" Type="http://schemas.openxmlformats.org/officeDocument/2006/relationships/slide" Target="slides/slide53.xml"/><Relationship Id="rId68" Type="http://schemas.openxmlformats.org/officeDocument/2006/relationships/slide" Target="slides/slide21.xml"/><Relationship Id="rId69" Type="http://schemas.openxmlformats.org/officeDocument/2006/relationships/slide" Target="slides/slide24.xml"/><Relationship Id="rId70" Type="http://schemas.openxmlformats.org/officeDocument/2006/relationships/slide" Target="slides/slide29.xml"/><Relationship Id="rId71" Type="http://schemas.openxmlformats.org/officeDocument/2006/relationships/slide" Target="slides/slide35.xml"/><Relationship Id="rId72" Type="http://schemas.openxmlformats.org/officeDocument/2006/relationships/slide" Target="slides/slide39.xml"/><Relationship Id="rId73" Type="http://schemas.openxmlformats.org/officeDocument/2006/relationships/slide" Target="slides/slide54.xml"/><Relationship Id="rId74" Type="http://schemas.openxmlformats.org/officeDocument/2006/relationships/slide" Target="slides/slide81.xml"/><Relationship Id="rId75" Type="http://schemas.openxmlformats.org/officeDocument/2006/relationships/slide" Target="slides/slide82.xml"/><Relationship Id="rId76" Type="http://schemas.openxmlformats.org/officeDocument/2006/relationships/slide" Target="slides/slide83.xml"/><Relationship Id="rId77" Type="http://schemas.openxmlformats.org/officeDocument/2006/relationships/slide" Target="slides/slide84.xml"/><Relationship Id="rId78" Type="http://schemas.openxmlformats.org/officeDocument/2006/relationships/slide" Target="slides/slide91.xml"/><Relationship Id="rId79" Type="http://schemas.openxmlformats.org/officeDocument/2006/relationships/slide" Target="slides/slide85.xml"/><Relationship Id="rId80" Type="http://schemas.openxmlformats.org/officeDocument/2006/relationships/slide" Target="slides/slide12.xml"/><Relationship Id="rId81" Type="http://schemas.openxmlformats.org/officeDocument/2006/relationships/slide" Target="slides/slide13.xml"/><Relationship Id="rId82" Type="http://schemas.openxmlformats.org/officeDocument/2006/relationships/slide" Target="slides/slide18.xml"/><Relationship Id="rId83" Type="http://schemas.openxmlformats.org/officeDocument/2006/relationships/slide" Target="slides/slide22.xml"/><Relationship Id="rId84" Type="http://schemas.openxmlformats.org/officeDocument/2006/relationships/slide" Target="slides/slide25.xml"/><Relationship Id="rId85" Type="http://schemas.openxmlformats.org/officeDocument/2006/relationships/slide" Target="slides/slide28.xml"/><Relationship Id="rId86" Type="http://schemas.openxmlformats.org/officeDocument/2006/relationships/slide" Target="slides/slide33.xml"/><Relationship Id="rId87" Type="http://schemas.openxmlformats.org/officeDocument/2006/relationships/slide" Target="slides/slide36.xml"/><Relationship Id="rId88" Type="http://schemas.openxmlformats.org/officeDocument/2006/relationships/slide" Target="slides/slide38.xml"/><Relationship Id="rId89" Type="http://schemas.openxmlformats.org/officeDocument/2006/relationships/slide" Target="slides/slide40.xml"/><Relationship Id="rId90" Type="http://schemas.openxmlformats.org/officeDocument/2006/relationships/slide" Target="slides/slide45.xml"/><Relationship Id="rId91" Type="http://schemas.openxmlformats.org/officeDocument/2006/relationships/slide" Target="slides/slide47.xml"/><Relationship Id="rId92" Type="http://schemas.openxmlformats.org/officeDocument/2006/relationships/slide" Target="slides/slide48.xml"/><Relationship Id="rId93" Type="http://schemas.openxmlformats.org/officeDocument/2006/relationships/slide" Target="slides/slide51.xml"/><Relationship Id="rId94" Type="http://schemas.openxmlformats.org/officeDocument/2006/relationships/slide" Target="slides/slide52.xml"/><Relationship Id="rId95" Type="http://schemas.openxmlformats.org/officeDocument/2006/relationships/slide" Target="slides/slide55.xml"/><Relationship Id="rId96" Type="http://schemas.openxmlformats.org/officeDocument/2006/relationships/slide" Target="slides/slide57.xml"/><Relationship Id="rId97" Type="http://schemas.openxmlformats.org/officeDocument/2006/relationships/slide" Target="slides/slide59.xml"/><Relationship Id="rId98" Type="http://schemas.openxmlformats.org/officeDocument/2006/relationships/slide" Target="slides/slide61.xml"/><Relationship Id="rId99" Type="http://schemas.openxmlformats.org/officeDocument/2006/relationships/slide" Target="slides/slide62.xml"/><Relationship Id="rId100" Type="http://schemas.openxmlformats.org/officeDocument/2006/relationships/slide" Target="slides/slide63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71.xml"/><Relationship Id="rId104" Type="http://schemas.openxmlformats.org/officeDocument/2006/relationships/slide" Target="slides/slide77.xml"/><Relationship Id="rId105" Type="http://schemas.openxmlformats.org/officeDocument/2006/relationships/slide" Target="slides/slide80.xml"/><Relationship Id="rId106" Type="http://schemas.openxmlformats.org/officeDocument/2006/relationships/slide" Target="slides/slide92.xml"/><Relationship Id="rId107" Type="http://schemas.openxmlformats.org/officeDocument/2006/relationships/slide" Target="slides/slide94.xml"/><Relationship Id="rId108" Type="http://schemas.openxmlformats.org/officeDocument/2006/relationships/slide" Target="slides/slide96.xml"/><Relationship Id="rId109" Type="http://schemas.openxmlformats.org/officeDocument/2006/relationships/slide" Target="slides/slide98.xml"/><Relationship Id="rId110" Type="http://schemas.openxmlformats.org/officeDocument/2006/relationships/slide" Target="slides/slide101.xml"/><Relationship Id="rId111" Type="http://schemas.openxmlformats.org/officeDocument/2006/relationships/slide" Target="slides/slide102.xml"/><Relationship Id="rId112" Type="http://schemas.openxmlformats.org/officeDocument/2006/relationships/slide" Target="slides/slide103.xml"/><Relationship Id="rId113" Type="http://schemas.openxmlformats.org/officeDocument/2006/relationships/slide" Target="slides/slide10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1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jpg"/><Relationship Id="rId5" Type="http://schemas.openxmlformats.org/officeDocument/2006/relationships/image" Target="../media/image1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1.jpg"/><Relationship Id="rId5" Type="http://schemas.openxmlformats.org/officeDocument/2006/relationships/image" Target="../media/image1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1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.jpg"/><Relationship Id="rId5" Type="http://schemas.openxmlformats.org/officeDocument/2006/relationships/image" Target="../media/image13.jpg"/><Relationship Id="rId6" Type="http://schemas.openxmlformats.org/officeDocument/2006/relationships/image" Target="../media/image1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10.jpg"/><Relationship Id="rId5" Type="http://schemas.openxmlformats.org/officeDocument/2006/relationships/image" Target="../media/image14.jpg"/><Relationship Id="rId6" Type="http://schemas.openxmlformats.org/officeDocument/2006/relationships/image" Target="../media/image2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2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3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0000" y="2650000"/>
            <a:ext cx="7200000" cy="3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 i="0">
                <a:solidFill>
                  <a:srgbClr val="B8CCE8"/>
                </a:solidFill>
                <a:latin typeface="Calibri"/>
              </a:rPr>
              <a:t>Aula 3</a:t>
            </a:r>
          </a:p>
          <a:p>
            <a:pPr>
              <a:spcAft>
                <a:spcPts val="1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Modelagem de Sistemas e Introdução à UML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Técnico em Desenvolvimento de Sistemas</a:t>
            </a:r>
          </a:p>
          <a:p>
            <a:pPr>
              <a:spcAft>
                <a:spcPts val="1000"/>
              </a:spcAft>
            </a:pPr>
            <a:r>
              <a:rPr sz="2200" b="0" i="0">
                <a:solidFill>
                  <a:srgbClr val="B8CCE8"/>
                </a:solidFill>
                <a:latin typeface="Calibri"/>
              </a:rPr>
              <a:t>Turma 103513  ·  11/09/2026  ·  07:30–11:30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07:30 – 08:01  Revisão relâmpago + Critérios de Aceite (fechando o ciclo da Aula 2)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08:01 – 08:29  Modelagem de Sistemas: contexto e motivação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08:29 – 08:57  Tipos de modelo e panorama da UML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08:57 – 09:33  Elementos comuns, como escolher o diagrama e quiz relâmpago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09:33 – 09:48  Intervalo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09:48 – 10:04  Ferramentas de modelagem e o draw.io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10:04 – 10:27  Prática guiada: fluxograma de pedido no TechBurger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10:27 – 10:49  Diagrama Humano e esboço de Casos de Uso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10:49 – 11:11  Atividade e correção: classificando diagramas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11:11 – 11:23  Erros comuns ao modelar</a:t>
            </a:r>
          </a:p>
          <a:p>
            <a:pPr>
              <a:spcAft>
                <a:spcPts val="16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11:23 – 11:30  Glossário, revisão e encerramento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RETOMADA DAS AULAS 1 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Regra de Negócio, RF e RNF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Um raio-X rápido antes de fechar o ciclo com Critérios de Aceite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Relembrando as definições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de Negócio: condição que o negócio impõe, independente de sistema — ex.: “pedido mínimo de R$ 15 para entrega”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Funcional (RF): o que o sistema deve fazer — uma ação ou funcionalidade concreta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Requisito Não-Funcional (RNF): como o sistema deve se comportar — desempenho, segurança, usabilidade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cadeia do ciclo: regra de negócio → requisito (RF/RNF) → critério de aceite → teste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 relâmpago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1.  O que diferencia uma regra de negócio de um requisito funcional?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2.  Dê um exemplo de RNF do TechBurger e diga por que não é um RF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3.  Qual é a cadeia completa, da regra de negócio até o teste?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RETOMADA DA AULA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Critérios de Aceite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Fechando o ciclo antes de começarmos a modelar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é um critério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Fecha o ciclo iniciado na Aula 2: regra de negócio → requisito → critério de aceite → teste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Condição objetiva que diz quando um Requisito Funcional está “pronto e correto”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ele, “pronto” é opinião; com ele, vira algo que dá para testar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retomar esse ciclo nas aulas de teste de sistemas, mais adiante no curso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Formato: Dado / Quando / Então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 [um contexto inicial]: o estado do sistema antes da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 [uma ação acontece], o gatilho: o que o usuário ou o sistema faz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 [o sistema deve reagir assim]: o resultado esperado, de forma verificável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critério de aceite nasce de um Requisito Funcional já escrito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Formato conhecido como Gherkin, usado depois em testes de aceitação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aplicado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“o sistema deve bloquear o envio do pedido para a cozinha até que o pagamento seja confirmado”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Dado: um pedido com pagamento pendente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Quando: o atendente tentar enviar o pedido à cozinha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Então: o sistema deve impedir o envio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E: exibir uma mensagem de pagamento pendente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Tente você: mais um RF do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RF: “o sistema deve liberar a entrega apenas para endereços em até 5 km da loja”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dupla (2 min): escrevam o Dado / Quando / Então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Dica: pensem também na exceção dessa regra (Regra 5 da Aula 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Dado: um endereço de entrega informado no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Quando: o sistema verificar a distância até a loja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Então: se estiver a até 5 km, libera a entrega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E: se estiver fora do raio, oferece só a opção de retirada no balcão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um exemplo de Critério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 do TechBurger: “se o item selecionado estiver sem estoque, o sistema sugere um substituto” (Regra 6)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Dado: um item sem estoque foi selecionado no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Quando: o cliente tenta adicionar esse item ao carrinho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Então: o sistema impede a adição e sugere um item substituto do mesmo tipo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Percebam: o “Então” tem duas partes (impede + sugere) — ambas precisam estar no critério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escrever critérios de aceite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 vago: “o sistema deve funcionar direito” — não dá pra testar isso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 que só repete o RF, sem detalhar o resultado esperado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 que testa duas coisas ao mesmo tempo sem deixar claro qual falhou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o “Dado”: sem contexto inicial, não dá pra saber quando o critério se aplica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se dois colegas testarem o mesmo critério e chegarem a resultados diferentes, ele não está bom o suficiente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Peguem 1 RF que o grupo escreveu na Aula 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Escrevam o critério de aceite dele, no formato Dado/Quando/Então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Apostila da Aula 2, seção 8.2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1-2 duplas leem em voz alta para a turma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restante tenta identificar: está verificável?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600000"/>
            <a:ext cx="164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700" b="1" i="0">
                <a:solidFill>
                  <a:srgbClr val="1F497D"/>
                </a:solidFill>
                <a:latin typeface="Calibri"/>
              </a:rPr>
              <a:t>Antes de escrever a primeira linha de código,
como garantir que toda a equipe entende o mesmo sistema do mesmo jeito?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90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Vamos discutir antes de começar…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CONCEITO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Modelagem de Sistemas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Representar o sistema antes de construí-lo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Breve histórico da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Anos 1990: cada especialista tinha sua própria notação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Booch, Rumbaugh (OMT) e Jacobson (OOSE) unificam seus métodos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1997: UML é padronizada pela OMG (Object Management Group)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usamos a versão UML 2.x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Debate: E se não tivéssemos UML?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Imaginem: cada empresa, cada time, cada dev com sua própria notação de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dev sai do time — o próximo não entende os diagramas que ele deixou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Uma consultoria externa entra no projeto — precisa aprender a notação do zero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Isso é literalmente o cenário pré-1997, antes da unificação (slide anterior)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Debate rápido (2 min): que outros problemas um “cada um com seu jeito” causaria?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UML 1.x → 2.x: o que mudou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UML 1.x (1997-2003): focada em sistemas orientados a objetos “clássicos”, poucos diagramas comportamentais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UML 2.x (a partir de 2005): adiciona Estrutura Composta, Comunicação, Temporização e Visão Geral de Interação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UML 2.x também reforça o Diagrama de Componentes, pensando em sistemas maiores e distribuídos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Hoje praticamente só se usa a 2.x — é a versão que vamos usar na disciplina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UML no mercado: só o necessário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Mesmo em times ágeis, modelar não desapareceu — só ficou mais leve (“Agile Modeling”)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não é entregável pro cliente, é ferramenta de comunicação pro time — pode ser rascunho no quadro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dia a dia profissional, saber ler um diagrama UML é mais comum do que desenhar um do zero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modele o suficiente pra tirar uma dúvida ou alinhar o time — não modele por modelar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UML no mercado: exemplos reais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Vagas de Analista de Sistemas e Arquiteto de Software costumam pedir “leitura de diagramas UML” como requisito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Ferramentas como Jira, Confluence e Azure DevOps permitem anexar diagramas UML direto nas histórias e épicos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Times que praticam Domain-Driven Design (DDD) desenham Diagramas de Classes pra alinhar o modelo de domínio antes de codificar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Mesmo sem “UML formal”, ferramentas como Miro e Excalidraw reaproveitam a mesma notação — o padrão sobrevive, só muda o formato do arquivo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Quem usa modelagem no dia a 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Analista de Requisitos — desenha Casos de Uso pra alinhar escopo com o cliente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Arquiteto de Software — usa Diagrama de Componentes e Implantação pra decidir a estrutura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Product Owner — lê (não desenha) diagramas pra entender o que o time está construindo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QA / Testador — usa Diagrama de Atividades e critérios de aceite pra planejar casos de teste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Nem todo papel desenha diagrama — mas quase todo papel técnico precisa ler um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Debate: Quanto modelar é suficiente?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A — MVP de startup: app de delivery pra validar em 1 semana, time de 2 devs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B — Sistema interno de RH: vai rodar por anos, várias áreas usam, time médio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C — Sistema bancário: transferências entre contas, auditoria de compliance, time de 15+ devs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 cada cenário: vocês modelariam tudo em UML antes de codificar, ou só o essencial? Quais diagramas (se algum)?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Cenário C, em detalhe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C — Sistema bancário: transferências entre contas, auditoria de compliance, time de 15+ devs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Quanto modelar seria suficiente aqui? Por quê?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Compare com o Cenário A (MVP) visto antes — e com o B (RH), se vocês chegaram a discutir esse também — o que muda na resposta?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quanto maior o risco de um erro não percebido, mais vale a pena modelar antes de codificar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Cenário D — Sistema de saúde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Prontuário eletrônico: dados sensíveis de pacientes, protegidos por LGPD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Integração com outros hospitais e laboratórios — múltiplos sistemas externos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no sistema pode significar risco real à saúde de alguém, não só prejuízo financeiro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 esse cenário: modelar tudo seria exagero, ou o mínimo aceitável?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Compare com o Cenário C (banco) — o que muda quando o risco não é só financeiro?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corrigir um modelo é mais barato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achado nos requisitos: custo 1x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achado na modelagem: custo 5x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achado na codificação: custo 10x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achado em produção: custo 100x ou mais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Quanto mais cedo o erro aparece, mais barato é corrigi-lo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custo na prática: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Regra 4 do TechBurger (desconto PIX) tinha uma ambiguidade: “aplica automaticamente” não dizia se era antes ou depois de confirmar o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Pega essa ambiguidade ainda no levantamento de requisitos (agora): custo 1x — só ajustar o texto da regra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percebe na codificação: custo 10x — já tem código escrito em cima da interpretação errada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aparece com o sistema no ar, cliente reclamando de desconto duplicado: custo 100x+ — correção emergencial, e já causou prejuízo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um exemplo de custo de erro (Biblioteca)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da Biblioteca “Ler Mais”: um associado só pode pegar um livro novo se tiver menos de 3 emprestados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Ambiguidade real: “emprestados” conta livros atrasados também, ou só os dentro do prazo?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Pega essa dúvida no levantamento de requisitos: custo 1x — só perguntar e documentar a resposta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percebe na codificação: custo 10x — o sistema já foi programado com uma das duas interpretações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Só aparece com o sistema no ar, associado reclamando que não conseguiu pegar um livro que deveria poder pegar: custo 100x+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O custo de corrigir, em gráfico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Quanto mais tarde um erro é percebido, mais caro fica corrigir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0000" y="7400000"/>
            <a:ext cx="2200000" cy="900000"/>
          </a:xfrm>
          <a:prstGeom prst="rect">
            <a:avLst/>
          </a:prstGeom>
          <a:solidFill>
            <a:srgbClr val="B8CCE4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0000" y="6900000"/>
            <a:ext cx="2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1x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0000" y="838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Requisitos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0000" y="6771000"/>
            <a:ext cx="2200000" cy="1529000"/>
          </a:xfrm>
          <a:prstGeom prst="rect">
            <a:avLst/>
          </a:prstGeom>
          <a:solidFill>
            <a:srgbClr val="B8CCE4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0000" y="6271000"/>
            <a:ext cx="2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0000" y="838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Modelagem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0000" y="6500000"/>
            <a:ext cx="2200000" cy="1800000"/>
          </a:xfrm>
          <a:prstGeom prst="rect">
            <a:avLst/>
          </a:prstGeom>
          <a:solidFill>
            <a:srgbClr val="B8CCE4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0000" y="6000000"/>
            <a:ext cx="2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10x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0000" y="838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Código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650000" y="5600000"/>
            <a:ext cx="2200000" cy="2700000"/>
          </a:xfrm>
          <a:prstGeom prst="rect">
            <a:avLst/>
          </a:prstGeom>
          <a:solidFill>
            <a:srgbClr val="B8CCE4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50000" y="5100000"/>
            <a:ext cx="22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97D"/>
                </a:solidFill>
                <a:latin typeface="Calibri"/>
              </a:rPr>
              <a:t>100x+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50000" y="8380000"/>
            <a:ext cx="22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Produção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Modelagem de Sistemas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Representar, por meio de modelos, o funcionamento de um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modelo é sempre uma simplificação da realidade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Corrigir um erro no modelo é bem mais barato que corrigir código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Analogia: a planta do engenheiro civil antes da obra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Tipos de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Representa o que existe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Classes, objetos, componentes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estática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Comportamental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Representa o que acontece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Casos de uso, atividades, sequência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Visão dinâmica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Características de um bom modelo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Abstração — mostra só o que importa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Clareza — qualquer stakeholder entende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Consistência — não se contradiz entre diagramas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Nível de detalhe adequado ao público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reconhecer um modelo ruim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Classes com 40 atributos numa única classe — ninguém consegue ler de relânce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Nomes genéricos: classe “Coisa1”, atributo “dado2” — não comunicam nada sobre o sistema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Relações sem multiplicidade: não dá pra saber se é “1 pra 1” ou “1 pra muitos”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vocês olharem um diagrama e não conseguirem explicar o que ele representa em 10 segundos, ele provavelmente viola alguma característica da slide anterior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Estrutural x Comportamental: o mesmo pedido, dois olhares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Estrutural (o que existe)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Pedido, Item, Cliente — as “coisas” do sistema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um Pedido tem vários Itens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Comportamental (o que acontece)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Cliente escolhe itens → confirma pagamento → pedido vai pra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 sequência de passos até o pedido ficar pronto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Outro par de olhares: login no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Estrutural (o que existe)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Usuário, Sessão, Permissão — as “coisas” envolvidas no login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um Usuário tem um Perfil de acesso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Comportamental (o que acontece)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Usuário digita credenciais → sistema valida → sessão é criada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 sequência de tentativas até o acesso ser liberado ou negado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um par de olhares: Biblioteca Ler Mais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Estrutural: Aluno, Livro, Empréstimo — as “coisas” do sistema. Ex.: um Aluno pode ter vários Empréstimos ativos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Comportamental: Aluno pede livro → sistema verifica limite de 3 → confirma ou recusa o empréstimo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a sequência de verificação até o empréstimo ser liberado ou negado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a UML tem tantos diagramas?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Pense na planta de um prédio: planta baixa, elétrica, hidráulica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uma mostra o mesmo prédio sob um aspecto diferente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UML funciona igual: cada diagrama é uma “planta” diferente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 diagrama sozinho conta a história inteira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Analogia: GPS e a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GPS mostra o mesmo trajeto de formas diferentes: vista de satélite, vista de ruas, vista de trânsito em tempo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Nenhuma vista sozinha é “a errada” — cada uma serve pra uma decisão diferente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UML funciona igual: Casos de Uso, Classes, Atividades e Sequência são “vistas” diferentes do mesmo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Escolher o diagrama certo é escolher a vista certa pra pergunta que vocês têm agora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Panorama: mais dois diagramas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Estados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 os estados possíveis de um objeto e o que dispara a mudança de um pro outro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Útil pra regras com “status”: pedido Pendente → Pago → Em preparo → Pronto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Não é foco desta disciplina, mas aparece bastante em sistemas de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Diagrama de Componentes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Mostra como o sistema se divide em partes que se comunicam (ex.: API, banco de dados, app mobile)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Ajuda a enxergar a arquitetura de fora, sem entrar no código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Útil quando o sistema cresce e passa a ter múltiplos serviços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Panorama: mais dois diagramas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Objetos: mostra uma instância específica, já com valores reais preenchidos, num instante do tempo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É como uma “foto”: um Pedido nº 1029, cliente “Maria”, valor R$ 47,90 — não o modelo geral, um caso concreto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 Implantação: mostra como as partes do sistema são distribuídas em servidores físicos ou na nuvem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Ex.: app no celular do cliente, API rodando na nuvem, banco de dados num servidor separado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PANORAMA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A Linguagem UML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Unified Modeling Language — o padrão para modelar sistemas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Diagramas UML que veremos na disciplina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Casos de Uso (comportamental) — Aula 4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Classes (estrutural) — Aulas 5 e 6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Atividades (comportamental) — Aula 7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Sequência (comportamental) — Aula 8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Outros diagramas UML existem (Objetos, Componentes, Implantação) — vistos hoje de forma panorâmica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Os 14 diagramas da UML 2.x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Estruturais (7): Classes, Objetos, Componentes, Implantação, Pacotes, Estrutura Composta, Perfil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Comportamentais (7): Casos de Uso, Atividades, Sequência, Máquina de Estados, Comunicação, Temporização, Visão Geral de Interação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estudar a fundo 4 deles nesta disciplina: Casos de Uso, Classes, Atividades 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demais existem e você vai reconhecer o nome se aparecer, mas não vamos desenhá-los aqui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cada diagrama mostra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Casos de 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Quem interage com o sistema (atores) e o que cada um pode fazer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Atores (bonecos) fora de um retângulo com o sistema; ações em elipses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ator Cliente → caso de uso “Fazer Pedido”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Veremos na Aula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As entidades do sistema, seus atributos, métodos e relações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Números de multiplicidade indicam quantas instâncias se relacionam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classe Pedido 1 —— 1..* Item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Veremos nas Aulas 5 e 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real: Diagrama de Classes vira banco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classe de um Diagrama de Classes costuma virar uma tabela no banco de dados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Cada atributo da classe costuma virar uma coluna da tabela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multiplicidade da relação (1..*, por exemplo) ajuda a decidir chaves estrangeiras e tabelas de associação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Vocês vão ver isso com mais profundidade na disciplina de Banco de Dados (também no Módulo II) — a modelagem começa aqui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cada diagrama mostra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Atividades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O passo a passo de um processo, com decisões no caminho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Parecido com um fluxograma: caixas, setas e losangos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Receber pedido → pagamento confirmado? → Enviar à cozinha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Veremos na Aula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0000" y="3000000"/>
            <a:ext cx="7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1" i="0">
                <a:solidFill>
                  <a:srgbClr val="1F497D"/>
                </a:solidFill>
                <a:latin typeface="Calibri"/>
              </a:rPr>
              <a:t>Sequência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0000" y="3550000"/>
            <a:ext cx="7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 troca de mensagens entre objetos, em ordem cronológica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Linhas de vida verticais + setas horizontais numeradas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Ex.: App → Pagamento → Cozinha (mensagens numeradas em ordem)</a:t>
            </a:r>
          </a:p>
          <a:p>
            <a:pPr>
              <a:spcAft>
                <a:spcPts val="14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Veremos na Aula 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real de mercado: Trello/Kanban vs Diagrama de Atividades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quadro Kanban (Trello, Jira) mostra cartões passando por colunas: A Fazer → Fazendo → Pronto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Diagrama de Atividades mostra a mesma ideia, mas com decisões explícitas no meio do caminho (losangos)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Pergunta: um quadro Kanban simples resolveria pro fluxo do TechBurger? Ou a decisão (balcão x app) exige o losango do Diagrama de Atividades?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TechBurger: RNF revisitado (preview da Aula 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RNF do TechBurger (Aula 1): “o sistema deve confirmar o pagamento em até 2 segundos”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Esse RNF não aparece só como texto — ele vira parte do Diagrama de Sequência: cada seta numerada pode ter um tempo esperado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App → Sistema de Pagamento → Confirmação: se a segunda seta demorar mais que 2s, o RNF foi violado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desenhar isso de verdade na Aula 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Elementos comuns aos diagramas UML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— pessoa, sistema externo ou papel que interage com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 — a “caixa” que representa uma classe, objeto ou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 — a linha que conecta dois elementos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Rótulo — o texto que nomeia um elemento ou relacionamento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Elementos comuns, no TechBurger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→ Cliente, Atendente, ou o sistema de pagamento externo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Elemento → a classe Pedido, o caso de uso “Fazer Pedido”, a ação “Confirmar pagamento”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Relacionamento → a linha que liga o Cliente ao caso de uso “Fazer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Rótulo → o texto “1..*” numa linha de Classes, ou “Sim”/“Não” numa seta de Atividades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Mini-exercício: identifique o 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1: o Cliente faz login e escolhe os itens pelo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2: o sistema de pagamento externo avisa que a cobrança foi aprovada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3: o Atendente cancela um pedido pelo painel da loja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 cada cenário: quem (ou o quê) é o ator? E por quê?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Resposta: identifique o 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1: Cliente — pessoa que interage diretamente com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2: Sistema de pagamento — é um ator também, mesmo sendo outro sistema (e não uma pessoa)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 3: Atendente — outro papel humano que interage com 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 (revisão): ator é quem interage de fora pra dentro do sistema — pessoa ou sistema externo, tanto faz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Como escolher o diagrama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Pergunte primeiro: isso é uma COISA (estrutura) ou uma AÇÃO (comportamento)?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Quero mostrar quem interage com o sistema →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Quero mostrar os dados que uma entidade guarda →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Quero mostrar a ordem dos passos de um processo → Atividades (fluxo interno) ou Sequência (troca de mensagens entre objetos/sistemas)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dúvida entre Atividades e Sequência: Atividades é o processo; Sequência é a conversa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Checklist: escolhendo o diagrama certo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1: é uma coisa (estrutura) ou uma ação (comportamento)?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2: quero mostrar QUEM interage, O QUE existe, ou COMO acontece passo a passo?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3: a ordem no tempo importa? Se sim, considere Sequência; se não, Casos de Uso ou Atividades já bastam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dúvida: comece pelo diagrama mais simples (Casos de Uso) e refine depois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 comum na escolha do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Cenário: “o app manda o pedido pro sistema de pagamento, que responde aprovando ou recusando”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 comum: desenhar isso como Diagrama de Atividades (processo interno)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Por quê é erro: são dois sistemas diferentes trocando mensagens — isso é conversa entre objetos/sistemas, não um processo interno de um só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Escolha certa: Diagrama de Sequência (Aula 8)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(1/2): qual diagrama usar?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 Mostrar quem pode fazer o quê no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2. Mostrar os atributos e métodos de uma entidade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3. Mostrar o passo a passo de um processo, com decisões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4. Mostrar a ordem exata de mensagens entre dois sistemas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5. Mostrar que um Pedido pode ter vários Itens, e cada Item pertence a um Pedido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6. Mostrar o Cliente escolhendo o cardápio e fazendo o pedido no app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 cada frase: Casos de Uso, Classes, Atividades ou Sequência?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Quiz relâmpago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7. Mostrar como os componentes do sistema estão distribuídos em servidores diferentes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8. Mostrar um Pedido específico, já com valores reais preenchidos nos atributos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Pra cada frase: qual dos diagramas do panorama de hoje se aplica? (dica: não são os 4 principais)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Gabarito: quiz relâmpago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1. Mostrar quem pode fazer o quê no sistema →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2. Mostrar os atributos e métodos de uma entidade →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3. Mostrar o passo a passo de um processo, com decisões →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4. Mostrar a ordem exata de mensagens entre dois sistemas →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5. Mostrar que um Pedido pode ter vários Itens, e cada Item pertence a um Pedido →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6. Mostrar o Cliente escolhendo o cardápio e fazendo o pedido no app → Casos de Uso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Gabarito: quiz relâmpago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7. Mostrar como os componentes do sistema estão distribuídos em servidores diferentes → Diagrama de Implantação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8. Mostrar um Pedido específico, já com valores reais preenchidos → Diagrama de Objetos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Prévia da Aula 4: elementos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— quem interage com o sistema, representado por um boneco palito (ex.: Cliente, Atendente)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Caso de uso — uma funcionalidade que o sistema oferece, representada por uma elipse (ex.: “Fazer Pedido”)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Sistema (fronteira) — um retângulo que separa o que está dentro (casos de uso) do que está fora (atores)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Regra prática: fora do retângulo = ator; dentro = caso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desenhar isso de verdade, com o TechBurger, na Aula 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Mini-exercício: leitura de diagrama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Descrição: um Diagrama de Casos de Uso do “Sistema Academia” mostra o ator Aluno ligado à elipse “Reservar Aula”, e o ator Instrutor ligado à elipse “Cadastrar Aula”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1: quantos atores esse diagrama tem?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2: “Reservar Aula” fica dentro ou fora do retângulo do sistema?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Pergunta 3: o Aluno também poderia “Cadastrar Aula”? Como vocês sabem, só de olhar o diagrama?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Recall rápido: o que já vimos até aqui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Critérios de Aceite: Dado/Quando/Então, fechando o ciclo da Aula 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Modelagem de Sistemas: contexto, custo de corrigir erro cedo, debate de quanto modelar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Tipos de modelo: estrutural x comportamental, características de um bom modelo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Panorama da UML: os 14 diagramas, os 4 que vamos aprofundar, e mais 4 de reconhecimento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seguir, depois do intervalo: a prática — ferramentas, draw.io, e o primeiro diagrama de verdade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Depois do intervalo: o que vem a seguir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Ferramentas de modelagem, com foco no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Humano: um aquecimento com o corpo antes do computador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Prática guiada: o fluxograma do TechBurger e o esboço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Atividade em grupo: classificando diagramas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Erros comuns ao modelar — e o que evitar no Projeto Integrador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 i="0">
                <a:solidFill>
                  <a:srgbClr val="1F497D"/>
                </a:solidFill>
                <a:latin typeface="Calibri"/>
              </a:rPr>
              <a:t>DA TEORIA À PRÁTICA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100" b="1" i="0">
                <a:solidFill>
                  <a:srgbClr val="333333"/>
                </a:solidFill>
                <a:latin typeface="Calibri"/>
              </a:rPr>
              <a:t>Ferramentas de Modelagem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500" b="0" i="0">
                <a:solidFill>
                  <a:srgbClr val="1F497D"/>
                </a:solidFill>
                <a:latin typeface="Calibri"/>
              </a:rPr>
              <a:t>Com o que vamos desenhar os diagramas da disciplina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Ferramentas de modelagem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draw.io / diagrams.net — gratuita, no navegador (vamos usar nesta disciplina)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StarUML e Astah — dedicadas a UML, com validação de notação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Lucidchart — colaborativa, baseada em nuvem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Por que usar uma ferramenta em vez de desenhar à mão?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Versionamento — histórico de mudanças, igual ao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Padronização — obriga a usar a notação UML correta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Reuso — elementos reaproveitados entre diagramas do projeto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Exportação — vira imagem, PDF ou até esqueleto de código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PlantUML: diagramas em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Em vez de arrastar formas, você escreve texto e a ferramenta desenha o diagrama pra você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Exemplo: @startuml / Cliente --&gt; (Fazer Pedido) / @enduml já gera um mini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Vantagem: o diagrama vira um arquivo de texto — dá pra versionar no Git junto com 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vamos usar nesta disciplina, mas é comum em times que praticam “diagram as code”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Quando usar qual ferramenta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Quer algo rápido e gratuito, sem instalar nada →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Precisa que a notação UML esteja sempre 100% correta → StarUML / Astah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 time inteiro precisa editar o mesmo diagrama ao vivo → Lucidchart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Quer versionar o diagrama como código, junto com o projeto → PlantUML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Nesta disciplina, usamos draw.io — mas a lógica de escolha vale pro mercado também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Biblioteca de formas UML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05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 campo “Escreva / para pesquisar”, no topo do painel esquerdo, digitem “UML”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 não aparecer tudo, cliquem em “Mais formas” (canto inferior esquerdo) e marquem a categoria UML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Aparecem os stencils prontos: ator e caso de uso, classe com atributos/métodos, raia de atividade, linha de vida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Arrastar a forma para o canvas já traz a notação correta — não precisa desenhar do zero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Vamos usar exatamente essas formas a partir da Aula 4 (Casos de Uso)</a:t>
            </a:r>
          </a:p>
        </p:txBody>
      </p:sp>
      <p:pic>
        <p:nvPicPr>
          <p:cNvPr id="13" name="Picture 12" descr="uml_shapes_cro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8000" y="3000000"/>
            <a:ext cx="2984000" cy="5900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Caça ao tesouro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 busca de formas, encontrem: 1 ator, 1 caso de uso, 1 classe (com compartimentos), 1 raia (swimlane)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Arrastem cada um pro canvas e dêem um nome qualquer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5 minutos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Terminou antes? Ache também o símbolo de «extend» (ponto de extensão)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draw.io: atalhos úteis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Ctrl+Shift+H — ajusta o zoom pra ver o diagrama inteiro na tela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Ctrl+D — duplica a forma selecionada (útil pra repetir várias elipses de Casos de Uso)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Ctrl+Shift+V — cola só o estilo de uma forma em outra (mantém tudo com a mesma cara)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Segurar Shift ao arrastar uma seta — mantém a linha reta, mais fácil de organizar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Exemplo do professor: fluxograma de pedido no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Reproduzido ao vivo no draw.io — este é o diagrama que vocês vão refazer</a:t>
            </a:r>
          </a:p>
        </p:txBody>
      </p:sp>
      <p:pic>
        <p:nvPicPr>
          <p:cNvPr id="14" name="Picture 13" descr="techburger_final_diagr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727" y="3050000"/>
            <a:ext cx="3894545" cy="5100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1: abrir o draw.io e localizar as formas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Acessem app.diagrams.net e criem um diagrama em branco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Campo “Escreva / para pesquisar” (canto superior esquerdo): busca qualquer forma pelo nome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 seção “Geral” já traz os símbolos de fluxograma: oval (início/fim), retângulo (ação), losango (decisão)</a:t>
            </a:r>
          </a:p>
        </p:txBody>
      </p:sp>
      <p:pic>
        <p:nvPicPr>
          <p:cNvPr id="13" name="Picture 12" descr="screenshot-1788978404963-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2: arrastar, nomear e conectar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Arrastem a forma para o canvas e digitem o texto — ela já entra em modo de edição sozinha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Passem o mouse na borda da forma até aparecer a seta azul e arrastem até a próxima forma: isso cria a conexão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Para rotular uma seta (ex.: “Balcão” / “App”), deem duplo clique nela e digitem</a:t>
            </a:r>
          </a:p>
        </p:txBody>
      </p:sp>
      <p:pic>
        <p:nvPicPr>
          <p:cNvPr id="13" name="Picture 12" descr="screenshot-1788980918468-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3: o fluxograma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Repitam o padrão até fechar o fluxograma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As duas opções de pagamento convergem em “Confirmar pedido”, que leva ao “Fim”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Ctrl+Shift+H ajusta o zoom pra ver o diagrama inteiro de uma vez</a:t>
            </a:r>
          </a:p>
        </p:txBody>
      </p:sp>
      <p:pic>
        <p:nvPicPr>
          <p:cNvPr id="13" name="Picture 12" descr="screenshot-1788980733438-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Passo 4: salvar o arquivo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Ficheiro &gt; Guardar (Ctrl+S) — o arquivo fica salvo na conta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Esse mesmo arquivo será a base para os diagramas de UML das próximas aulas</a:t>
            </a:r>
          </a:p>
        </p:txBody>
      </p:sp>
      <p:pic>
        <p:nvPicPr>
          <p:cNvPr id="13" name="Picture 12" descr="screenshot-1788980962245-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no draw.io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Forma “flutuando”: parece conectada, mas a seta só está por cima, sem virar vértice de verdade — mova a forma pra testar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Esquecer de salvar (Ctrl+S) antes de fechar a aba — o navegador não avisa sempre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Nomear caso de uso sem verbo no infinitivo (“Pedido” em vez de “Fazer Pedido”) — dificulta saber que é uma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Dica de conferência: arrastem uma forma conectada — se a seta se mover junto, está conectada de verdade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Agora sozinho: seu fluxograma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Criem sozinhos um fluxograma para a regra da Biblioteca “Ler Mais”: só pode pegar um livro novo com menos de 3 emprestados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Usem pelo menos 1 losango de decisão e 2 caixas de 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Terminou rápido? Acrescentem o caso do professor (prazo de 30 dias em vez de 14)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15 minutos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Desafio bônus: fluxograma do estoque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Terminaram os dois fluxogramas? Tentem mais um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RF do TechBurger: “se o item selecionado estiver sem estoque, o sistema sugere um substituto” (Regra 6)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Fluxograma: Início → Selecionar item → Item em estoque? → Sim: Confirmar item / Não: Sugerir substituto → Fim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 tempo definido — é só para quem sobrar tempo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Diagrama Humano: antes do computador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Antes de desenhar o esboço de Casos de Uso na tela, vamos montá-lo com o corpo da turma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Fronteira marcada no chão, atores fora, casos de uso dentro, ligações com barbante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Objetivo: sentir a regra prática (fora = ator, dentro = caso de uso) antes de repetir isso no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(Ver Apostila, seção 3.4.1)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Exemplo do professor: esboço de Casos de Uso do TechBurger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Reproduzido ao vivo no draw.io — o mesmo TechBurger, agora sob o olhar comportamental de quem interage com o sistema</a:t>
            </a:r>
          </a:p>
        </p:txBody>
      </p:sp>
      <p:pic>
        <p:nvPicPr>
          <p:cNvPr id="14" name="Picture 13" descr="uc_final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4000" y="3050000"/>
            <a:ext cx="5500000" cy="4097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Passo 1: desenhar o sistema e os atores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Categoria “Geral” do painel de formas — a mesma paleta usada no fluxograma, com retângulo, elipse e o boneco palito de ator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Arrastem um retângulo grande e nomeiem “Sistema TechBurger” — ele é a fronteira do sistema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Arrastem a forma de ator (boneco palito) pra FORA do retângulo — um pra cada ator: Cliente, Atendente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Atores ficam sempre fora do retângulo; os casos de uso, que vêm no próximo passo, ficam dentro</a:t>
            </a:r>
          </a:p>
        </p:txBody>
      </p:sp>
      <p:pic>
        <p:nvPicPr>
          <p:cNvPr id="13" name="Picture 12" descr="uc_passo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Passo 2: adicionar os casos de uso e conectar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Arrastem a forma de elipse pra dentro do retângulo — nomeiem com um verbo no infinitivo: “Fazer Pedido”, “Pagar Pedido”, “Preparar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Conectem cada ator à elipse que ele realiza, com uma linha simples — sem seta, sem texto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ator pode se conectar a mais de um caso de uso, e um caso de uso pode ter mais de um ator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faz e paga o pedido; Atendente prepara o pedido</a:t>
            </a:r>
          </a:p>
        </p:txBody>
      </p:sp>
      <p:pic>
        <p:nvPicPr>
          <p:cNvPr id="13" name="Picture 12" descr="uc_passo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Passo 3: o esboço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786384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Revisem: atores fora do retângulo, casos de uso dentro, ligações sem seta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Cliente conecta com “Fazer Pedido” e “Pagar Pedido”; Atendente conecta com “Preparar Pedido”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Esse é o mesmo TechBurger do fluxograma — agora sob o olhar de quem interage com o sistema, não do passo a passo interno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Ctrl+Shift+H ajusta o zoom pra ver o esboço inteiro</a:t>
            </a:r>
          </a:p>
        </p:txBody>
      </p:sp>
      <p:pic>
        <p:nvPicPr>
          <p:cNvPr id="13" name="Picture 12" descr="uc_passo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3108960"/>
            <a:ext cx="8321040" cy="365128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Agora sozinho: seu esboço de 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Usando a regra da Biblioteca “Ler Mais” (mesma regra do fluxograma que vocês já fizeram): desenhem 1 ator (Aluno) e 2 casos de uso — “Pegar livro emprestado”, “Devolver livro”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Conectem o ator a cada caso de uso que ele realiza, dentro do retângulo “Sistema da Biblioteca”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Não se preocupem com relações mais avançadas (Include/Extend) — isso é conteúdo da Aula 4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Tempo: 5 minutos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Antes de começar: Estrutural x Comportamental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Estrutural — representa o que existe: classes, objetos, componentes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Comportamental — representa o que acontece: casos de uso, atividades,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Essa é a distinção que vocês vão aplicar na atividade a seguir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Atividade prática: classificando diagramas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Ler 8 descrições de diagramas na Apostila (seção 5.2)</a:t>
            </a: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Classificar cada um como Estrutural ou Comportamental</a:t>
            </a:r>
            <a:endParaRPr sz="23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Identificar o nome do diagrama UML correspondente</a:t>
            </a:r>
            <a:endParaRPr sz="23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Tempo: 15 minutos</a:t>
            </a:r>
            <a:endParaRPr sz="2300" b="0" i="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Pistas para identificar cada diagrama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Bonecos fora de um retângulo → Casos de Uso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Losangos de decisão → Atividades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Linhas verticais tracejadas (linha de vida) → Sequência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Atributos com valores preenchidos → Objetos (não Classes)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Módulos conectados indicando distribuição em servidores → Implantação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Uma seta de transição entre dois estados (ex.: Pendente → Pago) → Diagrama de Estados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Blocos representando partes do sistema (API, banco, app) distribuídos → Diagrama de Componentes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Gabarito: classificando diagramas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1 — Estrutural — Diagrama de Classes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2 — Comportamental —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3 — Comportamental — Diagrama de Atividades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4 — Comportamental — Diagrama de Sequência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5 — Estrutural — Diagrama de Implantação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6 — Estrutural — Diagrama de Objetos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7 — Comportamental — Diagrama de Estados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8 — Estrutural — Diagrama de Componentes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modelar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Modelar demais: diagrama tão detalhado que ninguém lê, ou vira mais trabalho que o código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Modelar de menos: diagrama tão vago que não ajuda a tirar nenhuma dúvida real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Diagrama desatualizado: o sistema mudou, mas o diagrama continua mostrando a versão antiga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Notação inventada: usar símbolos fora do padrão UML, que só quem desenhou entende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Mais dois erros comuns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Modelar sem validar com quem usa: o diagrama fica “bonito” no papel, mas ninguém do time confirma se reflete a realidade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Copiar um modelo pronto da internet sem adaptar: a notação bate, mas as regras de negócio do seu sistema são outras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Sinal de alerta: se dá pra apagar o diagrama e nada muda no código, ele não estava sendo usado de verdade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Erros comuns ao modelar: e no seu Projeto Integrador?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Nas Aulas 16 a 19 vocês vão modelar um sistema próprio, do zero, em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Os mesmos erros desta aula valem lá: modelar demais, modelar de menos, diagrama desatualizado, notação inventada, não validar com o grupo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Comecem já a prestar atenção: qual desses erros o seu grupo tem mais tendência a cometer?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Encontre o erro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2682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Um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colega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desenhou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um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Diagrama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de Classes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há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6 meses e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nunca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mais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abriu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o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arquivo</a:t>
            </a:r>
            <a:endParaRPr sz="23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•  O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ganhou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3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atributos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novos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desde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então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, mas o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diagrama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continua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igual</a:t>
            </a:r>
            <a:endParaRPr sz="23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endParaRPr lang="pt-BR" sz="230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 Qual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erro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comum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(slide anterior)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esse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cenário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representa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?</a:t>
            </a:r>
          </a:p>
          <a:p>
            <a:pPr>
              <a:spcAft>
                <a:spcPts val="1600"/>
              </a:spcAft>
            </a:pPr>
            <a:r>
              <a:rPr sz="2300" b="0" i="0" dirty="0">
                <a:solidFill>
                  <a:srgbClr val="333333"/>
                </a:solidFill>
                <a:latin typeface="Calibri"/>
              </a:rPr>
              <a:t> Em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dupla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: o que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vocês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fariam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diferente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daqui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pra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frente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? (5 </a:t>
            </a:r>
            <a:r>
              <a:rPr sz="2300" b="0" i="0" dirty="0" err="1">
                <a:solidFill>
                  <a:srgbClr val="333333"/>
                </a:solidFill>
                <a:latin typeface="Calibri"/>
              </a:rPr>
              <a:t>minutos</a:t>
            </a:r>
            <a:r>
              <a:rPr sz="2300" b="0" i="0" dirty="0">
                <a:solidFill>
                  <a:srgbClr val="333333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Mais um cenário: encontre o erro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Um grupo entregou um Diagrama de Classes gigante, com 30 classes e todos os atributos possíveis, “pra não faltar nada”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Ninguém do grupo consegue explicar o diagrama de cabeça — precisam consultar o arquivo pra responder qualquer pergunta sobre ele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Qual erro comum é esse? O que o grupo deveria ter feito diferente?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 (1/2)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Modelo — representação simplificada de um sistema, mostrando o que importa para um propósito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UML — Unified Modeling Language, a linguagem padrão para modelar sistemas orientados a objetos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Modelo estrutural — representa o que existe no sistema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•  Modelo comportamental — representa o que acontece no sistema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Glossário (2/2)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Abstração — mostrar apenas o que é relevante para o objetivo do modelo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OMG (Object Management Group) — organização que padroniza e mantém a UML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Ator — pessoa, sistema externo ou papel que interage com o sistema sendo modelado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Notação — conjunto de símbolos e regras usados para representar elementos num diagrama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Custo de mudança — quanto mais tarde um erro é encontrado, mais caro fica corrigi-lo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 de Aceite — condição Dado/Quando/Então que diz quando um RF está pronto e correto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Gherkin — formato de escrita de critérios de aceite, usado depois em testes de aceitação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1. O que é modelagem de sistemas e por que é feita antes/durante o desenvolvimento?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2. Diferencie modelo estrutural de comportamental, com um exemplo de cada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3. Cite duas características de um bom modelo</a:t>
            </a:r>
          </a:p>
          <a:p>
            <a:pPr>
              <a:spcAft>
                <a:spcPts val="1600"/>
              </a:spcAft>
            </a:pPr>
            <a:r>
              <a:rPr sz="2200" b="0" i="0">
                <a:solidFill>
                  <a:srgbClr val="333333"/>
                </a:solidFill>
                <a:latin typeface="Calibri"/>
              </a:rPr>
              <a:t>4. Cite três diagramas UML que estudaremos e classifique cada um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Fechamento: seu checklist pessoal de modelagem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Antes de desenhar: já sei se é uma COISA (estrutura) ou uma AÇÃO (comportamento)?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Durante: meu modelo tem abstração, clareza, consistência e o nível de detalhe certo pro público?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Depois: alguém que não sou eu consegue entender esse diagrama sem eu explicar?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Sempre: esse diagrama ainda representa o sistema real, ou já ficou desatualizado?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 i="0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Critérios de aceite: formato Dado/Quando/Então, fechando o ciclo da Aula 2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Contexto e motivação da UML, e o debate sobre quanto modelar é suficiente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Modelos estruturais x comportamentais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Panorama da UML e dos diagramas que veremos na disciplina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Prévia dos elementos do Diagrama de Casos de Uso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Ferramentas de modelagem, com foco no draw.io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Erros comuns ao modelar</a:t>
            </a:r>
          </a:p>
          <a:p>
            <a:pPr>
              <a:spcAft>
                <a:spcPts val="1600"/>
              </a:spcAft>
            </a:pPr>
            <a:r>
              <a:rPr sz="2300" b="0" i="0">
                <a:solidFill>
                  <a:srgbClr val="333333"/>
                </a:solidFill>
                <a:latin typeface="Calibri"/>
              </a:rPr>
              <a:t>•  Próxima aula (18/09): Diagrama de Casos de Uso, aplicado ao TechBurger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60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5"/>
          <p:cNvSpPr txBox="1"/>
          <p:nvPr/>
        </p:nvSpPr>
        <p:spPr>
          <a:xfrm>
            <a:off x="10078328" y="5200000"/>
            <a:ext cx="7629482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0">
                <a:solidFill>
                  <a:srgbClr val="FFFFFF"/>
                </a:solidFill>
                <a:latin typeface="Calibri"/>
              </a:rPr>
              <a:t>Até a próxima aula!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Panorama: exemplo visual — Diagrama de Estados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Pedido do TechBurger passando pelos estados Pendente → Pago → Em preparo → Pronto</a:t>
            </a:r>
          </a:p>
        </p:txBody>
      </p:sp>
      <p:pic>
        <p:nvPicPr>
          <p:cNvPr id="14" name="Picture 13" descr="diagrama_estad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00" y="3815417"/>
            <a:ext cx="5500000" cy="256666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Panorama: exemplo visual — Diagrama de Componentes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App Mobile, API e Banco de Dados como módulos que se comunicam</a:t>
            </a:r>
          </a:p>
        </p:txBody>
      </p:sp>
      <p:pic>
        <p:nvPicPr>
          <p:cNvPr id="14" name="Picture 13" descr="diagrama_componen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00" y="3815417"/>
            <a:ext cx="5500000" cy="2566666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Panorama: exemplo visual — Diagrama de Objetos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Uma instância real do Pedido, com valores preenchidos — não o modelo geral</a:t>
            </a:r>
          </a:p>
        </p:txBody>
      </p:sp>
      <p:pic>
        <p:nvPicPr>
          <p:cNvPr id="14" name="Picture 13" descr="diagrama_objeto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00" y="3815417"/>
            <a:ext cx="5500000" cy="2566666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300" b="1">
                <a:solidFill>
                  <a:srgbClr val="1F497D"/>
                </a:solidFill>
                <a:latin typeface="Calibri"/>
              </a:rPr>
              <a:t>Panorama: exemplo visual — Diagrama de Implantação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8250000"/>
            <a:ext cx="164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 i="1">
                <a:solidFill>
                  <a:srgbClr val="333333"/>
                </a:solidFill>
                <a:latin typeface="Calibri"/>
              </a:rPr>
              <a:t>Onde cada parte do sistema roda: celular, servidor na nuvem e servidor de banco de dados</a:t>
            </a:r>
          </a:p>
        </p:txBody>
      </p:sp>
      <p:pic>
        <p:nvPicPr>
          <p:cNvPr id="14" name="Picture 13" descr="diagrama_implantaca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4000" y="3815417"/>
            <a:ext cx="5500000" cy="25666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10934</TotalTime>
  <Words>2616</Words>
  <Application>Microsoft Office PowerPoint</Application>
  <PresentationFormat>Personalizar</PresentationFormat>
  <Paragraphs>242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Calibri</vt:lpstr>
      <vt:lpstr>Unbounded 1 Ultra-Bold</vt:lpstr>
      <vt:lpstr>Arial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Natanael Santos De Jesus</cp:lastModifiedBy>
  <cp:revision>15</cp:revision>
  <dcterms:created xsi:type="dcterms:W3CDTF">2006-08-16T00:00:00Z</dcterms:created>
  <dcterms:modified xsi:type="dcterms:W3CDTF">2026-09-05T17:19:03Z</dcterms:modified>
  <dc:identifier>DAGGnDa8uXQ</dc:identifier>
</cp:coreProperties>
</file>