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340" r:id="rId55"/>
    <p:sldId id="341" r:id="rId56"/>
    <p:sldId id="342" r:id="rId57"/>
    <p:sldId id="325" r:id="rId7"/>
    <p:sldId id="320" r:id="rId8"/>
    <p:sldId id="321" r:id="rId9"/>
    <p:sldId id="322" r:id="rId10"/>
    <p:sldId id="347" r:id="rId38"/>
    <p:sldId id="348" r:id="rId62"/>
    <p:sldId id="323" r:id="rId11"/>
    <p:sldId id="296" r:id="rId12"/>
    <p:sldId id="297" r:id="rId13"/>
    <p:sldId id="314" r:id="rId14"/>
    <p:sldId id="331" r:id="rId15"/>
    <p:sldId id="330" r:id="rId16"/>
    <p:sldId id="354" r:id="rId68"/>
    <p:sldId id="338" r:id="rId17"/>
    <p:sldId id="355" r:id="rId69"/>
    <p:sldId id="313" r:id="rId18"/>
    <p:sldId id="350" r:id="rId64"/>
    <p:sldId id="356" r:id="rId70"/>
    <p:sldId id="298" r:id="rId19"/>
    <p:sldId id="299" r:id="rId20"/>
    <p:sldId id="300" r:id="rId21"/>
    <p:sldId id="351" r:id="rId65"/>
    <p:sldId id="357" r:id="rId71"/>
    <p:sldId id="315" r:id="rId22"/>
    <p:sldId id="358" r:id="rId72"/>
    <p:sldId id="305" r:id="rId23"/>
    <p:sldId id="306" r:id="rId24"/>
    <p:sldId id="332" r:id="rId25"/>
    <p:sldId id="317" r:id="rId26"/>
    <p:sldId id="318" r:id="rId27"/>
    <p:sldId id="319" r:id="rId28"/>
    <p:sldId id="352" r:id="rId66"/>
    <p:sldId id="353" r:id="rId67"/>
    <p:sldId id="359" r:id="rId73"/>
    <p:sldId id="333" r:id="rId29"/>
    <p:sldId id="339" r:id="rId30"/>
    <p:sldId id="329" r:id="rId31"/>
    <p:sldId id="301" r:id="rId32"/>
    <p:sldId id="302" r:id="rId33"/>
    <p:sldId id="316" r:id="rId34"/>
    <p:sldId id="327" r:id="rId35"/>
    <p:sldId id="334" r:id="rId36"/>
    <p:sldId id="303" r:id="rId37"/>
    <p:sldId id="343" r:id="rId58"/>
    <p:sldId id="344" r:id="rId59"/>
    <p:sldId id="345" r:id="rId60"/>
    <p:sldId id="346" r:id="rId61"/>
    <p:sldId id="328" r:id="rId39"/>
    <p:sldId id="349" r:id="rId63"/>
    <p:sldId id="360" r:id="rId74"/>
    <p:sldId id="361" r:id="rId75"/>
    <p:sldId id="362" r:id="rId76"/>
    <p:sldId id="363" r:id="rId77"/>
    <p:sldId id="365" r:id="rId79"/>
    <p:sldId id="324" r:id="rId40"/>
    <p:sldId id="307" r:id="rId41"/>
    <p:sldId id="308" r:id="rId42"/>
    <p:sldId id="326" r:id="rId43"/>
    <p:sldId id="335" r:id="rId44"/>
    <p:sldId id="364" r:id="rId78"/>
    <p:sldId id="336" r:id="rId45"/>
    <p:sldId id="309" r:id="rId46"/>
    <p:sldId id="310" r:id="rId47"/>
    <p:sldId id="311" r:id="rId48"/>
    <p:sldId id="312" r:id="rId49"/>
  </p:sldIdLst>
  <p:sldSz cx="18288000" cy="10287000"/>
  <p:notesSz cx="6858000" cy="9144000"/>
  <p:embeddedFontLst>
    <p:embeddedFont>
      <p:font typeface="Unbounded 1 Ultra-Bold" panose="020B0604020202020204" charset="0"/>
      <p:regular r:id="rId5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slide" Target="slides/slide21.xml"/><Relationship Id="rId19" Type="http://schemas.openxmlformats.org/officeDocument/2006/relationships/slide" Target="slides/slide24.xml"/><Relationship Id="rId20" Type="http://schemas.openxmlformats.org/officeDocument/2006/relationships/slide" Target="slides/slide25.xml"/><Relationship Id="rId21" Type="http://schemas.openxmlformats.org/officeDocument/2006/relationships/slide" Target="slides/slide26.xml"/><Relationship Id="rId22" Type="http://schemas.openxmlformats.org/officeDocument/2006/relationships/slide" Target="slides/slide29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3.xml"/><Relationship Id="rId26" Type="http://schemas.openxmlformats.org/officeDocument/2006/relationships/slide" Target="slides/slide34.xml"/><Relationship Id="rId27" Type="http://schemas.openxmlformats.org/officeDocument/2006/relationships/slide" Target="slides/slide35.xml"/><Relationship Id="rId28" Type="http://schemas.openxmlformats.org/officeDocument/2006/relationships/slide" Target="slides/slide36.xml"/><Relationship Id="rId29" Type="http://schemas.openxmlformats.org/officeDocument/2006/relationships/slide" Target="slides/slide40.xml"/><Relationship Id="rId30" Type="http://schemas.openxmlformats.org/officeDocument/2006/relationships/slide" Target="slides/slide41.xml"/><Relationship Id="rId31" Type="http://schemas.openxmlformats.org/officeDocument/2006/relationships/slide" Target="slides/slide42.xml"/><Relationship Id="rId32" Type="http://schemas.openxmlformats.org/officeDocument/2006/relationships/slide" Target="slides/slide43.xml"/><Relationship Id="rId33" Type="http://schemas.openxmlformats.org/officeDocument/2006/relationships/slide" Target="slides/slide44.xml"/><Relationship Id="rId34" Type="http://schemas.openxmlformats.org/officeDocument/2006/relationships/slide" Target="slides/slide45.xml"/><Relationship Id="rId35" Type="http://schemas.openxmlformats.org/officeDocument/2006/relationships/slide" Target="slides/slide46.xml"/><Relationship Id="rId36" Type="http://schemas.openxmlformats.org/officeDocument/2006/relationships/slide" Target="slides/slide47.xml"/><Relationship Id="rId37" Type="http://schemas.openxmlformats.org/officeDocument/2006/relationships/slide" Target="slides/slide48.xml"/><Relationship Id="rId38" Type="http://schemas.openxmlformats.org/officeDocument/2006/relationships/slide" Target="slides/slide10.xml"/><Relationship Id="rId39" Type="http://schemas.openxmlformats.org/officeDocument/2006/relationships/slide" Target="slides/slide53.xml"/><Relationship Id="rId40" Type="http://schemas.openxmlformats.org/officeDocument/2006/relationships/slide" Target="slides/slide60.xml"/><Relationship Id="rId41" Type="http://schemas.openxmlformats.org/officeDocument/2006/relationships/slide" Target="slides/slide61.xml"/><Relationship Id="rId42" Type="http://schemas.openxmlformats.org/officeDocument/2006/relationships/slide" Target="slides/slide62.xml"/><Relationship Id="rId43" Type="http://schemas.openxmlformats.org/officeDocument/2006/relationships/slide" Target="slides/slide63.xml"/><Relationship Id="rId44" Type="http://schemas.openxmlformats.org/officeDocument/2006/relationships/slide" Target="slides/slide64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font" Target="fonts/font1.fntdata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openxmlformats.org/officeDocument/2006/relationships/slide" Target="slides/slide3.xml"/><Relationship Id="rId56" Type="http://schemas.openxmlformats.org/officeDocument/2006/relationships/slide" Target="slides/slide4.xml"/><Relationship Id="rId57" Type="http://schemas.openxmlformats.org/officeDocument/2006/relationships/slide" Target="slides/slide5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11.xml"/><Relationship Id="rId63" Type="http://schemas.openxmlformats.org/officeDocument/2006/relationships/slide" Target="slides/slide54.xml"/><Relationship Id="rId64" Type="http://schemas.openxmlformats.org/officeDocument/2006/relationships/slide" Target="slides/slide22.xml"/><Relationship Id="rId65" Type="http://schemas.openxmlformats.org/officeDocument/2006/relationships/slide" Target="slides/slide27.xml"/><Relationship Id="rId66" Type="http://schemas.openxmlformats.org/officeDocument/2006/relationships/slide" Target="slides/slide37.xml"/><Relationship Id="rId67" Type="http://schemas.openxmlformats.org/officeDocument/2006/relationships/slide" Target="slides/slide38.xml"/><Relationship Id="rId68" Type="http://schemas.openxmlformats.org/officeDocument/2006/relationships/slide" Target="slides/slide18.xml"/><Relationship Id="rId69" Type="http://schemas.openxmlformats.org/officeDocument/2006/relationships/slide" Target="slides/slide20.xml"/><Relationship Id="rId70" Type="http://schemas.openxmlformats.org/officeDocument/2006/relationships/slide" Target="slides/slide23.xml"/><Relationship Id="rId71" Type="http://schemas.openxmlformats.org/officeDocument/2006/relationships/slide" Target="slides/slide28.xml"/><Relationship Id="rId72" Type="http://schemas.openxmlformats.org/officeDocument/2006/relationships/slide" Target="slides/slide30.xml"/><Relationship Id="rId73" Type="http://schemas.openxmlformats.org/officeDocument/2006/relationships/slide" Target="slides/slide39.xml"/><Relationship Id="rId74" Type="http://schemas.openxmlformats.org/officeDocument/2006/relationships/slide" Target="slides/slide55.xml"/><Relationship Id="rId75" Type="http://schemas.openxmlformats.org/officeDocument/2006/relationships/slide" Target="slides/slide56.xml"/><Relationship Id="rId76" Type="http://schemas.openxmlformats.org/officeDocument/2006/relationships/slide" Target="slides/slide57.xml"/><Relationship Id="rId77" Type="http://schemas.openxmlformats.org/officeDocument/2006/relationships/slide" Target="slides/slide58.xml"/><Relationship Id="rId78" Type="http://schemas.openxmlformats.org/officeDocument/2006/relationships/slide" Target="slides/slide65.xml"/><Relationship Id="rId79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9.jpg"/><Relationship Id="rId5" Type="http://schemas.openxmlformats.org/officeDocument/2006/relationships/image" Target="../media/image13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0.jpg"/><Relationship Id="rId5" Type="http://schemas.openxmlformats.org/officeDocument/2006/relationships/image" Target="../media/image14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1.jpg"/><Relationship Id="rId5" Type="http://schemas.openxmlformats.org/officeDocument/2006/relationships/image" Target="../media/image1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jpg"/><Relationship Id="rId5" Type="http://schemas.openxmlformats.org/officeDocument/2006/relationships/image" Target="../media/image1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9.jpg"/><Relationship Id="rId5" Type="http://schemas.openxmlformats.org/officeDocument/2006/relationships/image" Target="../media/image13.jpg"/><Relationship Id="rId6" Type="http://schemas.openxmlformats.org/officeDocument/2006/relationships/image" Target="../media/image1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0.jpg"/><Relationship Id="rId5" Type="http://schemas.openxmlformats.org/officeDocument/2006/relationships/image" Target="../media/image14.jpg"/><Relationship Id="rId6" Type="http://schemas.openxmlformats.org/officeDocument/2006/relationships/image" Target="../media/image2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3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Modelagem de Sistemas e Introdução à UML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11/09/2026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(4h45)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07:30 – 07:40  Revisão relâmpago: Regra de Negócio, RF e RNF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07:40 – 08:05  Critérios de Aceite: fechando o ciclo da Aula 2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08:05 – 08:46  Modelagem de Sistemas: contexto, motivação e definição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08:46 – 09:01  Intervalo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09:01 – 09:19  Tipos de modelo e características de um bom modelo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09:19 – 10:04  Visão geral da UML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10:04 – 10:14  Prévia da Aula 4: elementos de Casos de Uso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10:14 – 10:30  Ferramentas de modelagem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10:30 – 11:21  Prática guiada: fluxograma e esboço de Casos de Uso no draw.io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11:21 – 12:15  Atividade prática, correção e erros comuns ao modelar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RETOMADA DAS AULAS 1 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Regra de Negócio, RF e RNF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Um raio-X rápido antes de fechar o ciclo com Critérios de Aceite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 as definições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Negócio: condição que o negócio impõe, independente de sistema — ex.: “pedido mínimo de R$ 15 para entrega”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Funcional (RF): o que o sistema deve fazer — uma ação ou funcionalidade concreta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Não-Funcional (RNF): como o sistema deve se comportar — desempenho, segurança, usabilidade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cadeia do ciclo: regra de negócio → requisito (RF/RNF) → critério de aceite → teste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 relâmpago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que diferencia uma regra de negócio de um requisito funcional?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Dê um exemplo de RNF do TechBurger e diga por que não é um RF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Qual é a cadeia completa, da regra de negócio até o teste?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RETOMADA DA AULA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Critérios de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Fechando o ciclo antes de começarmos a modelar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critério de aceite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Fecha o ciclo iniciado na Aula 2: regra de negócio → requisito → critério de aceite → teste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objetiva que diz quando um Requisito Funcional está “pronto e correto”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ele, “pronto” é opinião; com ele, vira algo que dá para testar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retomar esse ciclo nas aulas de teste de sistemas, mais adiante no curso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Formato: Dado / Quando / Então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 [um contexto inicial]: o estado do sistema antes da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[uma ação acontece], o gatilho: o que o usuário ou o sistema faz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Então [o sistema deve reagir assim]: o resultado esperado, de forma verificável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critério de aceite nasce de um Requisito Funcional já escrito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Formato conhecido como Gherkin, usado depois em testes de aceitação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aplicado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“o sistema deve bloquear o envio do pedido para a cozinha até que o pagamento seja confirmado”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Dado: um pedido com pagamento pendente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Quando: o atendente tentar enviar o pedido à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Então: o sistema deve impedir o envio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E: exibir uma mensagem de pagamento pendente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Tente você: mais um RF do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“o sistema deve liberar a entrega apenas para endereços em até 5 km da loja”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dupla (2 min): escrevam o Dado / Quando / Então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Dica: pensem também na exceção dessa regra (Regra 5 da Aula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Dado: um endereço de entrega informado no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Quando: o sistema verificar a distância até a loja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Então: se estiver a até 5 km, libera a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E: se estiver fora do raio, oferece só a opção de retirada no balcão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Peguem 1 RF que o grupo escreveu na Aula 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Escrevam o critério de aceite dele, no formato Dado/Quando/Então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Apostila da Aula 2, seção 8.2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1-2 duplas leem em voz alta para a turma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restante tenta identificar: está verificável?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Antes de escrever a primeira linha de código,
como garantir que toda a equipe entende o mesmo sistema do mesmo jeito?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Modelagem de Sistemas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Representar o sistema antes de construí-lo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Breve histórico da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Anos 1990: cada especialista tinha sua própria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Booch, Rumbaugh (OMT) e Jacobson (OOSE) unificam seus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1997: UML é padronizada pela OMG (Object Management Group)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usamos a versão UML 2.x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UML 1.x → 2.x: o que mudou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UML 1.x (1997-2003): focada em sistemas orientados a objetos “clássicos”, poucos diagramas comportamentais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UML 2.x (a partir de 2005): adiciona Estrutura Composta, Comunicação, Temporização e Visão Geral de Interação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UML 2.x também reforça o Diagrama de Componentes, pensando em sistemas maiores e distribuídos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praticamente só se usa a 2.x — é a versão que vamos usar na disciplina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UML no mercado: só o necessário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 em times ágeis, modelar não desapareceu — só ficou mais leve (“Agile Modeling”)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não é entregável pro cliente, é ferramenta de comunicação pro time — pode ser rascunho no quadro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dia a dia profissional, saber ler um diagrama UML é mais comum do que desenhar um do zero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modele o suficiente pra tirar uma dúvida ou alinhar o time — não modele por modelar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UML no mercado: exemplos reais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Vagas de Analista de Sistemas e Arquiteto de Software costumam pedir “leitura de diagramas UML” como requisito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Ferramentas como Jira, Confluence e Azure DevOps permitem anexar diagramas UML direto nas histórias e épicos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Times que praticam Domain-Driven Design (DDD) desenham Diagramas de Classes pra alinhar o modelo de domínio antes de codificar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 sem “UML formal”, ferramentas como Miro e Excalidraw reaproveitam a mesma notação — o padrão sobrevive, só muda o formato do arquivo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Debate: Quanto modelar é suficiente?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 A — MVP de startup: app de delivery pra validar em 1 semana, time de 2 devs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 B — Sistema interno de RH: vai rodar por anos, várias áreas usam, time médio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 C — Sistema bancário: transferências entre contas, auditoria de compliance, time de 15+ devs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 cada cenário: vocês modelariam tudo em UML antes de codificar, ou só o essencial? Quais diagramas (se algum)?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Mais um cenário pro debate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 C — Sistema bancário: transações financeiras, várias equipes, exigência regulatória de auditoria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Quanto modelar seria suficiente aqui?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 com os Cenários A (MVP) e B (RH) vistos antes — o que muda na resposta?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quanto maior o risco de um erro não percebido, mais vale a pena modelar antes de codificar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corrigir um modelo é mais barato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nos requisitos: custo 1x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na modelagem: custo 5x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na codificação: custo 10x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em produção: custo 100x ou 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Quanto mais cedo o erro aparece, mais barato é corrigi-lo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custo na prática: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4 do TechBurger (desconto PIX) tinha uma ambiguidade: “aplica automaticamente” não dizia se era antes ou depois de confirmar 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Pega essa ambiguidade ainda no levantamento de requisitos (agora): custo 1x — só ajustar o texto da regra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percebe na codificação: custo 10x — já tem código escrito em cima da interpretação errada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aparece com o sistema no ar, cliente reclamando de desconto duplicado: custo 100x+ — correção emergencial, e já causou prejuízo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custo de corrigir, em gráfico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Quanto mais tarde um erro é percebido, mais caro fica corrigir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0000" y="7400000"/>
            <a:ext cx="2200000" cy="900000"/>
          </a:xfrm>
          <a:prstGeom prst="rect">
            <a:avLst/>
          </a:prstGeom>
          <a:solidFill>
            <a:srgbClr val="B8CCE4"/>
          </a:solidFill>
          <a:ln w="1905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0000" y="6900000"/>
            <a:ext cx="2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497D"/>
                </a:solidFill>
                <a:latin typeface="Calibri"/>
              </a:rPr>
              <a:t>1x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0000" y="8380000"/>
            <a:ext cx="2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Requisitos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0000" y="6771000"/>
            <a:ext cx="2200000" cy="1529000"/>
          </a:xfrm>
          <a:prstGeom prst="rect">
            <a:avLst/>
          </a:prstGeom>
          <a:solidFill>
            <a:srgbClr val="B8CCE4"/>
          </a:solidFill>
          <a:ln w="1905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0000" y="6271000"/>
            <a:ext cx="2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497D"/>
                </a:solidFill>
                <a:latin typeface="Calibri"/>
              </a:rPr>
              <a:t>5x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0000" y="8380000"/>
            <a:ext cx="2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Modelagem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50000" y="6500000"/>
            <a:ext cx="2200000" cy="1800000"/>
          </a:xfrm>
          <a:prstGeom prst="rect">
            <a:avLst/>
          </a:prstGeom>
          <a:solidFill>
            <a:srgbClr val="B8CCE4"/>
          </a:solidFill>
          <a:ln w="1905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0000" y="6000000"/>
            <a:ext cx="2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497D"/>
                </a:solidFill>
                <a:latin typeface="Calibri"/>
              </a:rPr>
              <a:t>10x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0000" y="8380000"/>
            <a:ext cx="2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Código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650000" y="5600000"/>
            <a:ext cx="2200000" cy="2700000"/>
          </a:xfrm>
          <a:prstGeom prst="rect">
            <a:avLst/>
          </a:prstGeom>
          <a:solidFill>
            <a:srgbClr val="B8CCE4"/>
          </a:solidFill>
          <a:ln w="1905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650000" y="5100000"/>
            <a:ext cx="2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497D"/>
                </a:solidFill>
                <a:latin typeface="Calibri"/>
              </a:rPr>
              <a:t>100x+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50000" y="8380000"/>
            <a:ext cx="2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Produção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Modelagem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Representar, por meio de modelos, o funcionamento de um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modelo é sempre uma simplificação da realidade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Corrigir um erro no modelo é bem mais barato que corrigir código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Analogia: a planta do engenheiro civil antes da obra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Tipos de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Representa o que existe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Classes, objetos, componentes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estática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Comportamental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Representa o que acontece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Casos de uso, atividades, sequência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dinâmica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Características de um bom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Abstração — mostra só o que importa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Clareza — qualquer stakeholder entende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Consistência — não se contradiz entre diagramas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Nível de detalhe adequado ao público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Estrutural x Comportamental: o mesmo pedido, dois olhares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Estrutural (o que existe)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Pedido, Item, Cliente — as “coisas” do sistema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um Pedido tem vários Itens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Comportamental (o que acontece)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escolhe itens → confirma pagamento → pedido vai pra cozinha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 sequência de passos até o pedido ficar pronto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Outro par de olhares: login no 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Estrutural (o que existe)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Usuário, Sessão, Permissão — as “coisas” envolvidas no login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um Usuário tem um Perfil de acesso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Comportamental (o que acontece)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Usuário digita credenciais → sistema valida → sessão é criada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 sequência de tentativas até o acesso ser liberado ou negado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 UML tem tantos diagramas?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 na planta de um prédio: planta baixa, elétrica, hidráulica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uma mostra o mesmo prédio sob um aspecto diferente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UML funciona igual: cada diagrama é uma “planta” diferente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Nenhum diagrama sozinho conta a história inteira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Panorama: mais dois diagramas da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Estados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os estados possíveis de um objeto e o que dispara a mudança de um pro outro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Útil pra regras com “status”: pedido Pendente → Pago → Em preparo → Pronto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é foco desta disciplina, mas aparece bastante em sistemas de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Componentes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como o sistema se divide em partes que se comunicam (ex.: API, banco de dados, app mobile)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Ajuda a enxergar a arquitetura de fora, sem entrar no código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Útil quando o sistema cresce e passa a ter múltiplos serviços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PANORAMA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 Linguagem UML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Unified Modeling Language — o padrão para modelar sistemas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Diagramas UML que veremos na 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(comportamental) —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(estrutural) — Aulas 5 e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 (comportamental) —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(comportamental) — Aula 8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Outros diagramas UML existem (Objetos, Componentes, Implantação) — vistos hoje de forma panorâmica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14 diagramas da UML 2.x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Estruturais (7): Classes, Objetos, Componentes, Implantação, Pacotes, Estrutura Composta, Perfil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Comportamentais (7): Casos de Uso, Atividades, Sequência, Máquina de Estados, Comunicação, Temporização, Visão Geral de Interação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estudar a fundo 4 deles nesta disciplina: Casos de Uso, Classes, Atividades 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demais existem e você vai reconhecer o nome se aparecer, mas não vamos desenhá-los aqui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cada diagrama mostra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Quem interage com o sistema (atores) e o que cada um pode fazer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Atores (bonecos) fora de um retângulo com o sistema; ações em elipses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ator Cliente → caso de uso “Fazer Pedido”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Veremos na Aula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 entidades do sistema, seus atributos, métodos e relações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Números de multiplicidade indicam quantas instâncias se relacionam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classe Pedido 1 —— 1..* Item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Veremos nas Aulas 5 e 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cada diagrama mostra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passo a passo de um processo, com decisões no caminho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Parecido com um fluxograma: caixas, setas e losangos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Receber pedido → pagamento confirmado? → Enviar à cozinha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Veremos na Aula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Sequência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 troca de mensagens entre objetos, em ordem cronológica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Linhas de vida verticais + setas horizontais numeradas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App → Pagamento → Cozinha (mensagens numeradas em ordem)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Veremos na Aula 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comuns aos diagramas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— pessoa, sistema externo ou papel que interage com 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 — a “caixa” que representa uma classe, objeto ou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 — a linha que conecta dois elementos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Rótulo — o texto que nomeia um elemento ou relacionamento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comuns, no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→ Cliente, Atendente, ou o sistema de pagamento externo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 → a classe Pedido, o caso de uso “Fazer Pedido”, a ação “Confirmar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 → a linha que liga o Cliente ao caso de uso “Fazer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Rótulo → o texto “1..*” numa linha de Classes, ou “Sim”/“Não” numa seta de Atividades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escolher o diagrama 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Pergunte primeiro: isso é uma COISA (estrutura) ou uma AÇÃO (comportamento)?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Quero mostrar quem interage com o sistema →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Quero mostrar os dados que uma entidade guarda →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Quero mostrar a ordem dos passos de um processo → Atividades (fluxo interno) ou Sequência (troca de mensagens entre objetos/sistemas)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dúvida entre Atividades e Sequência: Atividades é o processo; Sequência é a conversa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Checklist: escolhendo o diagrama 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 1: é uma coisa (estrutura) ou uma ação (comportamento)?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 2: quero mostrar QUEM interage, O QUE existe, ou COMO acontece passo a passo?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 3: a ordem no tempo importa? Se sim, considere Sequência; se não, Casos de Uso ou Atividades já bastam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dúvida: comece pelo diagrama mais simples (Casos de Uso) e refine depois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relâmpago: qual diagrama usar?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 Mostrar quem pode fazer o quê no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2. Mostrar os atributos e métodos de uma entidade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3. Mostrar o passo a passo de um processo, com decisões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4. Mostrar a ordem exata de mensagens entre dois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5. Mostrar que um Pedido pode ter vários Itens, e cada Item pertence a um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6. Mostrar o Cliente escolhendo o cardápio e fazendo o pedido no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 cada frase: Casos de Uso, Classes, Atividades ou Sequência?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Gabarito: quiz relâmpago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 Mostrar quem pode fazer o quê no sistema →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2. Mostrar os atributos e métodos de uma entidade →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3. Mostrar o passo a passo de um processo, com decisões →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4. Mostrar a ordem exata de mensagens entre dois sistemas →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5. Mostrar que um Pedido pode ter vários Itens, e cada Item pertence a um Pedido →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6. Mostrar o Cliente escolhendo o cardápio e fazendo o pedido no app → Casos de Uso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Prévia da Aula 4: elementos de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— quem interage com o sistema, representado por um boneco palito (ex.: Cliente, Atendente)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 de uso — uma funcionalidade que o sistema oferece, representada por uma elipse (ex.: “Fazer Pedido”)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(fronteira) — um retângulo que separa o que está dentro (casos de uso) do que está fora (atores)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fora do retângulo = ator; dentro =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desenhar isso de verdade, com o TechBurger, na Aula 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DA TEORIA À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 o que vamos desenhar os diagramas da disciplina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draw.io / diagrams.net — gratuita, no navegador (vamos usar nesta disciplina)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StarUML e Astah — dedicadas a UML, com validação de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Lucidchart — colaborativa, baseada em nuvem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usar uma ferramenta em vez de desenhar à mão?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Versionamento — histórico de mudanças, igual ao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Padronização — obriga a usar a notação UML correta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Reuso — elementos reaproveitados entre diagramas do projeto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Exportação — vira imagem, PDF ou até esqueleto de código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de formas UML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05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campo “Escreva / para pesquisar”, no topo do painel esquerdo, digitem “UML”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não aparecer tudo, cliquem em “Mais formas” (canto inferior esquerdo) e marquem a categoria UML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Aparecem os stencils prontos: ator e caso de uso, classe com atributos/métodos, raia de atividade, linha de vida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Arrastar a forma para o canvas já traz a notação correta — não precisa desenhar do zero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usar exatamente essas formas a partir da Aula 4 (Casos de Uso)</a:t>
            </a:r>
          </a:p>
        </p:txBody>
      </p:sp>
      <p:pic>
        <p:nvPicPr>
          <p:cNvPr id="13" name="Picture 12" descr="uml_shapes_cro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8000" y="3000000"/>
            <a:ext cx="2984000" cy="5900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Caça ao tesouro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busca de formas, encontrem: 1 ator, 1 caso de uso, 1 classe (com compartimentos), 1 raia (swimlane)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Arrastem cada um pro canvas e dêem um nome qualquer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5 minutos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Terminou antes? Ache também o símbolo de «extend» (ponto de extensão)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do professor: fluxograma de pedido no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8250000"/>
            <a:ext cx="16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1">
                <a:solidFill>
                  <a:srgbClr val="333333"/>
                </a:solidFill>
                <a:latin typeface="Calibri"/>
              </a:rPr>
              <a:t>Reproduzido ao vivo no draw.io — este é o diagrama que vocês vão refazer</a:t>
            </a:r>
          </a:p>
        </p:txBody>
      </p:sp>
      <p:pic>
        <p:nvPicPr>
          <p:cNvPr id="14" name="Picture 13" descr="techburger_final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6727" y="3050000"/>
            <a:ext cx="3894545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1: abrir o draw.io e localizar as formas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6384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Acessem app.diagrams.net e criem um diagrama em branco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Campo “Escreva / para pesquisar” (canto superior esquerdo): busca qualquer forma pelo nome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seção “Geral” já traz os símbolos de fluxograma: oval (início/fim), retângulo (ação), losango (decisão)</a:t>
            </a:r>
          </a:p>
        </p:txBody>
      </p:sp>
      <p:pic>
        <p:nvPicPr>
          <p:cNvPr id="13" name="Picture 12" descr="screenshot-1788978404963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3108960"/>
            <a:ext cx="8321040" cy="3651289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2: arrastar, nomear e conectar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6384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Arrastem a forma para o canvas e digitem o texto — ela já entra em modo de edição sozinha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Passem o mouse na borda da forma até aparecer a seta azul e arrastem até a próxima forma: isso cria a conexão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Para rotular uma seta (ex.: “Balcão” / “App”), deem duplo clique nela e digitem</a:t>
            </a:r>
          </a:p>
        </p:txBody>
      </p:sp>
      <p:pic>
        <p:nvPicPr>
          <p:cNvPr id="13" name="Picture 12" descr="screenshot-1788980918468-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3108960"/>
            <a:ext cx="8321040" cy="3651289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3: o fluxograma completo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6384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Repitam o padrão até fechar o fluxograma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opções de pagamento convergem em “Confirmar pedido”, que leva ao “Fim”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Ctrl+Shift+H ajusta o zoom pra ver o diagrama inteiro de uma vez</a:t>
            </a:r>
          </a:p>
        </p:txBody>
      </p:sp>
      <p:pic>
        <p:nvPicPr>
          <p:cNvPr id="13" name="Picture 12" descr="screenshot-1788980733438-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3108960"/>
            <a:ext cx="8321040" cy="3651289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4: salvar o arquivo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6384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Ficheiro &gt; Guardar (Ctrl+S) — o arquivo fica salvo na conta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Esse mesmo arquivo será a base para os diagramas de UML das próximas aulas</a:t>
            </a:r>
          </a:p>
        </p:txBody>
      </p:sp>
      <p:pic>
        <p:nvPicPr>
          <p:cNvPr id="13" name="Picture 12" descr="screenshot-1788980962245-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3108960"/>
            <a:ext cx="8321040" cy="365128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Agora sozinho: seu fluxograma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Criem sozinhos um fluxograma para a regra da Biblioteca “Ler Mais”: só pode pegar um livro novo com menos de 3 emprestados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pelo menos 1 losango de decisão e 2 caixas de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Terminou rápido? Acrescentem o caso do professor (prazo de 30 dias em vez de 14)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15 minutos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Desafio bônus: fluxograma do estoque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Terminaram os dois fluxogramas? Tentem mais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 do TechBurger: “se o item selecionado estiver sem estoque, o sistema sugere um substituto” (Regra 6)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Fluxograma: Início → Selecionar item → Item em estoque? → Sim: Confirmar item / Não: Sugerir substituto → Fim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tempo definido — é só para quem sobrar tempo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Exemplo do professor: esboço de Casos de Uso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8250000"/>
            <a:ext cx="16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1">
                <a:solidFill>
                  <a:srgbClr val="333333"/>
                </a:solidFill>
                <a:latin typeface="Calibri"/>
              </a:rPr>
              <a:t>Reproduzido ao vivo no draw.io — o mesmo TechBurger, agora sob o olhar comportamental de quem interage com o sistema</a:t>
            </a:r>
          </a:p>
        </p:txBody>
      </p:sp>
      <p:pic>
        <p:nvPicPr>
          <p:cNvPr id="14" name="Picture 13" descr="uc_final_cle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4000" y="3050000"/>
            <a:ext cx="5500000" cy="40975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1: desenhar o sistema e os atores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6384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Categoria “Geral” do painel de formas — a mesma paleta usada no fluxograma, com retângulo, elipse e o boneco palito de ator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Arrastem um retângulo grande e nomeiem “Sistema TechBurger” — ele é a fronteira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Arrastem a forma de ator (boneco palito) pra FORA do retângulo — um pra cada ator: Cliente, Atendente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 ficam sempre fora do retângulo; os casos de uso, que vêm no próximo passo, ficam dentro</a:t>
            </a:r>
          </a:p>
        </p:txBody>
      </p:sp>
      <p:pic>
        <p:nvPicPr>
          <p:cNvPr id="13" name="Picture 12" descr="uc_passo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3108960"/>
            <a:ext cx="8321040" cy="3651289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2: adicionar os casos de uso e conectar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6384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Arrastem a forma de elipse pra dentro do retângulo — nomeiem com um verbo no infinitivo: “Fazer Pedido”, “Pagar Pedido”, “Preparar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Conectem cada ator à elipse que ele realiza, com uma linha simples — sem seta, sem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ator pode se conectar a mais de um caso de uso, e um caso de uso pode ter mais de um ator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faz e paga o pedido; Atendente prepara o pedido</a:t>
            </a:r>
          </a:p>
        </p:txBody>
      </p:sp>
      <p:pic>
        <p:nvPicPr>
          <p:cNvPr id="13" name="Picture 12" descr="uc_pass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3108960"/>
            <a:ext cx="8321040" cy="3651289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3: o esboço completo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6384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Revisem: atores fora do retângulo, casos de uso dentro, ligações sem seta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conecta com “Fazer Pedido” e “Pagar Pedido”; Atendente conecta com “Preparar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Esse é o mesmo TechBurger do fluxograma — agora sob o olhar de quem interage com o sistema, não do passo a passo interno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Ctrl+Shift+H ajusta o zoom pra ver o esboço inteiro</a:t>
            </a:r>
          </a:p>
        </p:txBody>
      </p:sp>
      <p:pic>
        <p:nvPicPr>
          <p:cNvPr id="13" name="Picture 12" descr="uc_passo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3108960"/>
            <a:ext cx="8321040" cy="3651289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Agora sozinho: seu esboço de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Usando a regra da Biblioteca “Ler Mais” (mesma regra do fluxograma que vocês já fizeram): desenhem 1 ator (Aluno) e 2 casos de uso — “Pegar livro emprestado”, “Devolver livro”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Conectem o ator a cada caso de uso que ele realiza, dentro do retângulo “Sistema da Biblioteca”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se preocupem com relações mais avançadas (Include/Extend) — isso é conteúdo da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5 minutos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Estrutural x Comportamental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Estrutural — representa o que existe: classes, objetos, componentes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Comportamental — representa o que acontece: casos de uso, atividades,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Essa é a distinção que vocês vão aplicar na atividade a seguir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prática: classificando diagramas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 dirty="0">
                <a:solidFill>
                  <a:srgbClr val="333333"/>
                </a:solidFill>
                <a:latin typeface="Calibri"/>
              </a:rPr>
              <a:t>•  Ler 6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descrições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diagramas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na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Apostila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(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seção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5.2)</a:t>
            </a:r>
          </a:p>
          <a:p>
            <a:pPr>
              <a:spcAft>
                <a:spcPts val="1600"/>
              </a:spcAft>
            </a:pPr>
            <a:r>
              <a:rPr sz="2300" b="0" i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Classificar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cada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um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como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Estrutural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Comportamental</a:t>
            </a:r>
            <a:endParaRPr sz="23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Identificar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o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nome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do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diagrama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UML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correspondente</a:t>
            </a:r>
            <a:endParaRPr sz="23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 dirty="0">
                <a:solidFill>
                  <a:srgbClr val="333333"/>
                </a:solidFill>
                <a:latin typeface="Calibri"/>
              </a:rPr>
              <a:t>•  Tempo: </a:t>
            </a:r>
            <a:r>
              <a:rPr lang="pt-BR" sz="2300" dirty="0">
                <a:solidFill>
                  <a:srgbClr val="333333"/>
                </a:solidFill>
                <a:latin typeface="Calibri"/>
              </a:rPr>
              <a:t>15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minutos</a:t>
            </a:r>
            <a:endParaRPr sz="2300" b="0" i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identificar cada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Bonecos fora de um retângulo → Casos de Uso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Losangos de decisão → Atividades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Linhas verticais tracejadas (linha de vida) → Sequência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Atributos com valores preenchidos → Objetos (não Classes)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Módulos conectados indicando distribuição em servidores → Implantação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Gabarito: classificando diagramas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— Estrutural — Diagrama de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2 — Comportamental — Diagrama de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 — Comportamental —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 — Comportamental —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 — Estrutural — Diagrama de Implantação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6 — Estrutural — Diagrama de Objetos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modelar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demais: diagrama tão detalhado que ninguém lê, ou vira mais trabalho que o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de menos: diagrama tão vago que não ajuda a tirar nenhuma dúvida real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desatualizado: o sistema mudou, mas o diagrama continua mostrando a versão antiga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 inventada: usar símbolos fora do padrão UML, que só quem desenhou entende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Mais dois 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sem validar com quem usa: o diagrama fica “bonito” no papel, mas ninguém do time confirma se reflete a realidade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Copiar um modelo pronto da internet sem adaptar: a notação bate, mas as regras de negócio do seu sistema são outras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Sinal de alerta: se dá pra apagar o diagrama e nada muda no código, ele não estava sendo usado de verdade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682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 dirty="0">
                <a:solidFill>
                  <a:srgbClr val="333333"/>
                </a:solidFill>
                <a:latin typeface="Calibri"/>
              </a:rPr>
              <a:t>•  Um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colega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desenhou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um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Diagrama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de Classes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há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6 meses e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nunca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mais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abriu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o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arquivo</a:t>
            </a:r>
            <a:endParaRPr sz="23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 dirty="0">
                <a:solidFill>
                  <a:srgbClr val="333333"/>
                </a:solidFill>
                <a:latin typeface="Calibri"/>
              </a:rPr>
              <a:t>•  O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sistema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ganhou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3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atributos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novos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desde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então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, mas o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diagrama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continua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igual</a:t>
            </a:r>
            <a:endParaRPr sz="23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endParaRPr lang="pt-BR" sz="230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 dirty="0">
                <a:solidFill>
                  <a:srgbClr val="333333"/>
                </a:solidFill>
                <a:latin typeface="Calibri"/>
              </a:rPr>
              <a:t> Qual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erro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comum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(slide anterior)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esse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cenário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representa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?</a:t>
            </a:r>
          </a:p>
          <a:p>
            <a:pPr>
              <a:spcAft>
                <a:spcPts val="1600"/>
              </a:spcAft>
            </a:pPr>
            <a:r>
              <a:rPr sz="2300" b="0" i="0" dirty="0">
                <a:solidFill>
                  <a:srgbClr val="333333"/>
                </a:solidFill>
                <a:latin typeface="Calibri"/>
              </a:rPr>
              <a:t> Em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dupla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: o que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vocês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fariam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diferente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daqui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pra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frente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? (5 </a:t>
            </a:r>
            <a:r>
              <a:rPr sz="2300" b="0" i="0" dirty="0" err="1">
                <a:solidFill>
                  <a:srgbClr val="333333"/>
                </a:solidFill>
                <a:latin typeface="Calibri"/>
              </a:rPr>
              <a:t>minutos</a:t>
            </a:r>
            <a:r>
              <a:rPr sz="2300" b="0" i="0" dirty="0">
                <a:solidFill>
                  <a:srgbClr val="333333"/>
                </a:solidFill>
                <a:latin typeface="Calibri"/>
              </a:rPr>
              <a:t>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— representação simplificada de um sistema, mostrando o que importa para um propósito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UML — Unified Modeling Language, a linguagem padrão para modelar sistemas orientados a objetos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estrutural — representa o que existe no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comportamental — representa o que acontece no sistema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é modelagem de sistemas e por que é feita antes/durante o desenvolvimento?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Diferencie modelo estrutural de comportamental, com um exemplo de 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Cite duas características de um bom modelo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Cite três diagramas UML que estudaremos e classifique cada um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Critérios de aceite: formato Dado/Quando/Então, fechando o ciclo da Aula 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Contexto e motivação da UML, e o debate sobre quanto modelar é suficiente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Modelos estruturais x comportamentais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Panorama da UML e dos diagramas que veremos na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Prévia dos elementos do Diagrama de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Ferramentas de modelagem, com foco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Erros comuns ao modelar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(18/09): Diagrama de Casos de Uso, aplicado ao TechBurger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10934</TotalTime>
  <Words>2616</Words>
  <Application>Microsoft Office PowerPoint</Application>
  <PresentationFormat>Personalizar</PresentationFormat>
  <Paragraphs>242</Paragraphs>
  <Slides>45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45</vt:i4>
      </vt:variant>
    </vt:vector>
  </HeadingPairs>
  <TitlesOfParts>
    <vt:vector size="50" baseType="lpstr">
      <vt:lpstr>Calibri</vt:lpstr>
      <vt:lpstr>Unbounded 1 Ultra-Bold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15</cp:revision>
  <dcterms:created xsi:type="dcterms:W3CDTF">2006-08-16T00:00:00Z</dcterms:created>
  <dcterms:modified xsi:type="dcterms:W3CDTF">2026-09-05T17:19:03Z</dcterms:modified>
  <dc:identifier>DAGGnDa8uXQ</dc:identifier>
</cp:coreProperties>
</file>