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diag_001_os4.svg" ContentType="image/svg+xml"/>
  <Override PartName="/ppt/media/diag_010_eco_uc.svg" ContentType="image/svg+xml"/>
  <Override PartName="/ppt/media/diag_011_eco_cl.svg" ContentType="image/svg+xml"/>
  <Override PartName="/ppt/media/diag_012_eco_at.svg" ContentType="image/svg+xml"/>
  <Override PartName="/ppt/media/diag_013_eco_sq.svg" ContentType="image/svg+xml"/>
  <Override PartName="/ppt/media/tb9_01.svg" ContentType="image/svg+xml"/>
  <Override PartName="/ppt/media/tb9_02.svg" ContentType="image/svg+xml"/>
  <Override PartName="/ppt/media/tb9_03.svg" ContentType="image/svg+xml"/>
  <Override PartName="/ppt/media/tb9_04.svg" ContentType="image/svg+xml"/>
  <Override PartName="/ppt/media/tb9_05.svg" ContentType="image/svg+xml"/>
  <Override PartName="/ppt/media/tb9_06.svg" ContentType="image/svg+xml"/>
  <Override PartName="/ppt/media/tb9_07.svg" ContentType="image/svg+xml"/>
  <Override PartName="/ppt/media/tb9_08.svg" ContentType="image/svg+xml"/>
  <Override PartName="/ppt/media/tb9_09.svg" ContentType="image/svg+xml"/>
  <Override PartName="/ppt/media/tb9_10.svg" ContentType="image/svg+xml"/>
  <Override PartName="/ppt/media/tb9_11.svg" ContentType="image/svg+xml"/>
  <Override PartName="/ppt/media/tb9_1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813" r:id="rId135"/>
    <p:sldId id="814" r:id="rId136"/>
    <p:sldId id="821" r:id="rId143"/>
    <p:sldId id="822" r:id="rId144"/>
    <p:sldId id="823" r:id="rId145"/>
    <p:sldId id="824" r:id="rId146"/>
    <p:sldId id="825" r:id="rId147"/>
    <p:sldId id="826" r:id="rId148"/>
    <p:sldId id="827" r:id="rId149"/>
    <p:sldId id="828" r:id="rId150"/>
    <p:sldId id="829" r:id="rId151"/>
    <p:sldId id="830" r:id="rId152"/>
    <p:sldId id="831" r:id="rId153"/>
    <p:sldId id="832" r:id="rId154"/>
    <p:sldId id="833" r:id="rId155"/>
    <p:sldId id="834" r:id="rId156"/>
    <p:sldId id="835" r:id="rId157"/>
    <p:sldId id="836" r:id="rId158"/>
    <p:sldId id="837" r:id="rId159"/>
    <p:sldId id="838" r:id="rId160"/>
    <p:sldId id="839" r:id="rId161"/>
    <p:sldId id="840" r:id="rId162"/>
    <p:sldId id="841" r:id="rId163"/>
    <p:sldId id="922" r:id="rId119"/>
    <p:sldId id="842" r:id="rId164"/>
    <p:sldId id="923" r:id="rId120"/>
    <p:sldId id="843" r:id="rId165"/>
    <p:sldId id="844" r:id="rId166"/>
    <p:sldId id="845" r:id="rId167"/>
    <p:sldId id="846" r:id="rId168"/>
    <p:sldId id="847" r:id="rId169"/>
    <p:sldId id="848" r:id="rId170"/>
    <p:sldId id="849" r:id="rId171"/>
    <p:sldId id="850" r:id="rId110"/>
    <p:sldId id="851" r:id="rId109"/>
    <p:sldId id="852" r:id="rId108"/>
    <p:sldId id="853" r:id="rId107"/>
    <p:sldId id="854" r:id="rId176"/>
    <p:sldId id="855" r:id="rId177"/>
    <p:sldId id="856" r:id="rId106"/>
    <p:sldId id="857" r:id="rId105"/>
    <p:sldId id="858" r:id="rId104"/>
    <p:sldId id="859" r:id="rId99"/>
    <p:sldId id="860" r:id="rId182"/>
    <p:sldId id="861" r:id="rId183"/>
    <p:sldId id="862" r:id="rId184"/>
    <p:sldId id="863" r:id="rId98"/>
    <p:sldId id="924" r:id="rId115"/>
    <p:sldId id="925" r:id="rId116"/>
    <p:sldId id="926" r:id="rId117"/>
    <p:sldId id="927" r:id="rId118"/>
    <p:sldId id="928" r:id="rId114"/>
    <p:sldId id="929" r:id="rId113"/>
    <p:sldId id="930" r:id="rId121"/>
    <p:sldId id="931" r:id="rId122"/>
    <p:sldId id="866" r:id="rId95"/>
    <p:sldId id="867" r:id="rId94"/>
    <p:sldId id="868" r:id="rId93"/>
    <p:sldId id="932" r:id="rId97"/>
    <p:sldId id="933" r:id="rId96"/>
    <p:sldId id="934" r:id="rId85"/>
    <p:sldId id="935" r:id="rId100"/>
    <p:sldId id="936" r:id="rId101"/>
    <p:sldId id="937" r:id="rId102"/>
    <p:sldId id="869" r:id="rId92"/>
    <p:sldId id="870" r:id="rId91"/>
    <p:sldId id="871" r:id="rId90"/>
    <p:sldId id="872" r:id="rId89"/>
    <p:sldId id="873" r:id="rId88"/>
    <p:sldId id="874" r:id="rId87"/>
    <p:sldId id="875" r:id="rId86"/>
    <p:sldId id="876" r:id="rId82"/>
    <p:sldId id="877" r:id="rId81"/>
    <p:sldId id="878" r:id="rId80"/>
    <p:sldId id="879" r:id="rId79"/>
    <p:sldId id="880" r:id="rId78"/>
    <p:sldId id="881" r:id="rId77"/>
    <p:sldId id="882" r:id="rId76"/>
    <p:sldId id="883" r:id="rId75"/>
    <p:sldId id="884" r:id="rId74"/>
    <p:sldId id="892" r:id="rId66"/>
    <p:sldId id="893" r:id="rId65"/>
    <p:sldId id="894" r:id="rId64"/>
    <p:sldId id="895" r:id="rId63"/>
    <p:sldId id="896" r:id="rId62"/>
    <p:sldId id="914" r:id="rId236"/>
    <p:sldId id="915" r:id="rId237"/>
    <p:sldId id="916" r:id="rId238"/>
    <p:sldId id="917" r:id="rId239"/>
    <p:sldId id="918" r:id="rId240"/>
    <p:sldId id="919" r:id="rId241"/>
    <p:sldId id="920" r:id="rId242"/>
    <p:sldId id="921" r:id="rId243"/>
  </p:sldIdLst>
  <p:sldSz cx="18288000" cy="10287000"/>
  <p:notesSz cx="6858000" cy="9144000"/>
  <p:embeddedFontLst>
    <p:embeddedFont>
      <p:font typeface="Unbounded 1 Ultra-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22" autoAdjust="0"/>
  </p:normalViewPr>
  <p:slideViewPr>
    <p:cSldViewPr>
      <p:cViewPr>
        <p:scale>
          <a:sx n="60" d="100"/>
          <a:sy n="60" d="100"/>
        </p:scale>
        <p:origin x="398" y="-19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25" Type="http://schemas.openxmlformats.org/officeDocument/2006/relationships/font" Target="fonts/font1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62" Type="http://schemas.openxmlformats.org/officeDocument/2006/relationships/slide" Target="slides/slide85.xml"/><Relationship Id="rId63" Type="http://schemas.openxmlformats.org/officeDocument/2006/relationships/slide" Target="slides/slide84.xml"/><Relationship Id="rId64" Type="http://schemas.openxmlformats.org/officeDocument/2006/relationships/slide" Target="slides/slide83.xml"/><Relationship Id="rId65" Type="http://schemas.openxmlformats.org/officeDocument/2006/relationships/slide" Target="slides/slide82.xml"/><Relationship Id="rId66" Type="http://schemas.openxmlformats.org/officeDocument/2006/relationships/slide" Target="slides/slide81.xml"/><Relationship Id="rId74" Type="http://schemas.openxmlformats.org/officeDocument/2006/relationships/slide" Target="slides/slide80.xml"/><Relationship Id="rId75" Type="http://schemas.openxmlformats.org/officeDocument/2006/relationships/slide" Target="slides/slide79.xml"/><Relationship Id="rId76" Type="http://schemas.openxmlformats.org/officeDocument/2006/relationships/slide" Target="slides/slide78.xml"/><Relationship Id="rId77" Type="http://schemas.openxmlformats.org/officeDocument/2006/relationships/slide" Target="slides/slide77.xml"/><Relationship Id="rId78" Type="http://schemas.openxmlformats.org/officeDocument/2006/relationships/slide" Target="slides/slide76.xml"/><Relationship Id="rId79" Type="http://schemas.openxmlformats.org/officeDocument/2006/relationships/slide" Target="slides/slide75.xml"/><Relationship Id="rId80" Type="http://schemas.openxmlformats.org/officeDocument/2006/relationships/slide" Target="slides/slide74.xml"/><Relationship Id="rId81" Type="http://schemas.openxmlformats.org/officeDocument/2006/relationships/slide" Target="slides/slide73.xml"/><Relationship Id="rId82" Type="http://schemas.openxmlformats.org/officeDocument/2006/relationships/slide" Target="slides/slide72.xml"/><Relationship Id="rId85" Type="http://schemas.openxmlformats.org/officeDocument/2006/relationships/slide" Target="slides/slide61.xml"/><Relationship Id="rId86" Type="http://schemas.openxmlformats.org/officeDocument/2006/relationships/slide" Target="slides/slide71.xml"/><Relationship Id="rId87" Type="http://schemas.openxmlformats.org/officeDocument/2006/relationships/slide" Target="slides/slide70.xml"/><Relationship Id="rId88" Type="http://schemas.openxmlformats.org/officeDocument/2006/relationships/slide" Target="slides/slide69.xml"/><Relationship Id="rId89" Type="http://schemas.openxmlformats.org/officeDocument/2006/relationships/slide" Target="slides/slide68.xml"/><Relationship Id="rId90" Type="http://schemas.openxmlformats.org/officeDocument/2006/relationships/slide" Target="slides/slide67.xml"/><Relationship Id="rId91" Type="http://schemas.openxmlformats.org/officeDocument/2006/relationships/slide" Target="slides/slide66.xml"/><Relationship Id="rId92" Type="http://schemas.openxmlformats.org/officeDocument/2006/relationships/slide" Target="slides/slide65.xml"/><Relationship Id="rId93" Type="http://schemas.openxmlformats.org/officeDocument/2006/relationships/slide" Target="slides/slide58.xml"/><Relationship Id="rId94" Type="http://schemas.openxmlformats.org/officeDocument/2006/relationships/slide" Target="slides/slide57.xml"/><Relationship Id="rId95" Type="http://schemas.openxmlformats.org/officeDocument/2006/relationships/slide" Target="slides/slide56.xml"/><Relationship Id="rId96" Type="http://schemas.openxmlformats.org/officeDocument/2006/relationships/slide" Target="slides/slide60.xml"/><Relationship Id="rId97" Type="http://schemas.openxmlformats.org/officeDocument/2006/relationships/slide" Target="slides/slide59.xml"/><Relationship Id="rId98" Type="http://schemas.openxmlformats.org/officeDocument/2006/relationships/slide" Target="slides/slide47.xml"/><Relationship Id="rId99" Type="http://schemas.openxmlformats.org/officeDocument/2006/relationships/slide" Target="slides/slide43.xml"/><Relationship Id="rId100" Type="http://schemas.openxmlformats.org/officeDocument/2006/relationships/slide" Target="slides/slide62.xml"/><Relationship Id="rId101" Type="http://schemas.openxmlformats.org/officeDocument/2006/relationships/slide" Target="slides/slide63.xml"/><Relationship Id="rId102" Type="http://schemas.openxmlformats.org/officeDocument/2006/relationships/slide" Target="slides/slide64.xml"/><Relationship Id="rId104" Type="http://schemas.openxmlformats.org/officeDocument/2006/relationships/slide" Target="slides/slide42.xml"/><Relationship Id="rId105" Type="http://schemas.openxmlformats.org/officeDocument/2006/relationships/slide" Target="slides/slide41.xml"/><Relationship Id="rId106" Type="http://schemas.openxmlformats.org/officeDocument/2006/relationships/slide" Target="slides/slide40.xml"/><Relationship Id="rId107" Type="http://schemas.openxmlformats.org/officeDocument/2006/relationships/slide" Target="slides/slide37.xml"/><Relationship Id="rId108" Type="http://schemas.openxmlformats.org/officeDocument/2006/relationships/slide" Target="slides/slide36.xml"/><Relationship Id="rId109" Type="http://schemas.openxmlformats.org/officeDocument/2006/relationships/slide" Target="slides/slide35.xml"/><Relationship Id="rId110" Type="http://schemas.openxmlformats.org/officeDocument/2006/relationships/slide" Target="slides/slide34.xml"/><Relationship Id="rId113" Type="http://schemas.openxmlformats.org/officeDocument/2006/relationships/slide" Target="slides/slide53.xml"/><Relationship Id="rId114" Type="http://schemas.openxmlformats.org/officeDocument/2006/relationships/slide" Target="slides/slide52.xml"/><Relationship Id="rId115" Type="http://schemas.openxmlformats.org/officeDocument/2006/relationships/slide" Target="slides/slide48.xml"/><Relationship Id="rId116" Type="http://schemas.openxmlformats.org/officeDocument/2006/relationships/slide" Target="slides/slide49.xml"/><Relationship Id="rId117" Type="http://schemas.openxmlformats.org/officeDocument/2006/relationships/slide" Target="slides/slide50.xml"/><Relationship Id="rId118" Type="http://schemas.openxmlformats.org/officeDocument/2006/relationships/slide" Target="slides/slide51.xml"/><Relationship Id="rId119" Type="http://schemas.openxmlformats.org/officeDocument/2006/relationships/slide" Target="slides/slide24.xml"/><Relationship Id="rId120" Type="http://schemas.openxmlformats.org/officeDocument/2006/relationships/slide" Target="slides/slide26.xml"/><Relationship Id="rId121" Type="http://schemas.openxmlformats.org/officeDocument/2006/relationships/slide" Target="slides/slide54.xml"/><Relationship Id="rId122" Type="http://schemas.openxmlformats.org/officeDocument/2006/relationships/slide" Target="slides/slide55.xml"/><Relationship Id="rId135" Type="http://schemas.openxmlformats.org/officeDocument/2006/relationships/slide" Target="slides/slide1.xml"/><Relationship Id="rId136" Type="http://schemas.openxmlformats.org/officeDocument/2006/relationships/slide" Target="slides/slide2.xml"/><Relationship Id="rId143" Type="http://schemas.openxmlformats.org/officeDocument/2006/relationships/slide" Target="slides/slide3.xml"/><Relationship Id="rId144" Type="http://schemas.openxmlformats.org/officeDocument/2006/relationships/slide" Target="slides/slide4.xml"/><Relationship Id="rId145" Type="http://schemas.openxmlformats.org/officeDocument/2006/relationships/slide" Target="slides/slide5.xml"/><Relationship Id="rId146" Type="http://schemas.openxmlformats.org/officeDocument/2006/relationships/slide" Target="slides/slide6.xml"/><Relationship Id="rId147" Type="http://schemas.openxmlformats.org/officeDocument/2006/relationships/slide" Target="slides/slide7.xml"/><Relationship Id="rId148" Type="http://schemas.openxmlformats.org/officeDocument/2006/relationships/slide" Target="slides/slide8.xml"/><Relationship Id="rId149" Type="http://schemas.openxmlformats.org/officeDocument/2006/relationships/slide" Target="slides/slide9.xml"/><Relationship Id="rId150" Type="http://schemas.openxmlformats.org/officeDocument/2006/relationships/slide" Target="slides/slide10.xml"/><Relationship Id="rId151" Type="http://schemas.openxmlformats.org/officeDocument/2006/relationships/slide" Target="slides/slide11.xml"/><Relationship Id="rId152" Type="http://schemas.openxmlformats.org/officeDocument/2006/relationships/slide" Target="slides/slide12.xml"/><Relationship Id="rId153" Type="http://schemas.openxmlformats.org/officeDocument/2006/relationships/slide" Target="slides/slide13.xml"/><Relationship Id="rId154" Type="http://schemas.openxmlformats.org/officeDocument/2006/relationships/slide" Target="slides/slide14.xml"/><Relationship Id="rId155" Type="http://schemas.openxmlformats.org/officeDocument/2006/relationships/slide" Target="slides/slide15.xml"/><Relationship Id="rId156" Type="http://schemas.openxmlformats.org/officeDocument/2006/relationships/slide" Target="slides/slide16.xml"/><Relationship Id="rId157" Type="http://schemas.openxmlformats.org/officeDocument/2006/relationships/slide" Target="slides/slide17.xml"/><Relationship Id="rId158" Type="http://schemas.openxmlformats.org/officeDocument/2006/relationships/slide" Target="slides/slide18.xml"/><Relationship Id="rId159" Type="http://schemas.openxmlformats.org/officeDocument/2006/relationships/slide" Target="slides/slide19.xml"/><Relationship Id="rId160" Type="http://schemas.openxmlformats.org/officeDocument/2006/relationships/slide" Target="slides/slide20.xml"/><Relationship Id="rId161" Type="http://schemas.openxmlformats.org/officeDocument/2006/relationships/slide" Target="slides/slide21.xml"/><Relationship Id="rId162" Type="http://schemas.openxmlformats.org/officeDocument/2006/relationships/slide" Target="slides/slide22.xml"/><Relationship Id="rId163" Type="http://schemas.openxmlformats.org/officeDocument/2006/relationships/slide" Target="slides/slide23.xml"/><Relationship Id="rId164" Type="http://schemas.openxmlformats.org/officeDocument/2006/relationships/slide" Target="slides/slide25.xml"/><Relationship Id="rId165" Type="http://schemas.openxmlformats.org/officeDocument/2006/relationships/slide" Target="slides/slide27.xml"/><Relationship Id="rId166" Type="http://schemas.openxmlformats.org/officeDocument/2006/relationships/slide" Target="slides/slide28.xml"/><Relationship Id="rId167" Type="http://schemas.openxmlformats.org/officeDocument/2006/relationships/slide" Target="slides/slide29.xml"/><Relationship Id="rId168" Type="http://schemas.openxmlformats.org/officeDocument/2006/relationships/slide" Target="slides/slide30.xml"/><Relationship Id="rId169" Type="http://schemas.openxmlformats.org/officeDocument/2006/relationships/slide" Target="slides/slide31.xml"/><Relationship Id="rId170" Type="http://schemas.openxmlformats.org/officeDocument/2006/relationships/slide" Target="slides/slide32.xml"/><Relationship Id="rId171" Type="http://schemas.openxmlformats.org/officeDocument/2006/relationships/slide" Target="slides/slide33.xml"/><Relationship Id="rId176" Type="http://schemas.openxmlformats.org/officeDocument/2006/relationships/slide" Target="slides/slide38.xml"/><Relationship Id="rId177" Type="http://schemas.openxmlformats.org/officeDocument/2006/relationships/slide" Target="slides/slide39.xml"/><Relationship Id="rId182" Type="http://schemas.openxmlformats.org/officeDocument/2006/relationships/slide" Target="slides/slide44.xml"/><Relationship Id="rId183" Type="http://schemas.openxmlformats.org/officeDocument/2006/relationships/slide" Target="slides/slide45.xml"/><Relationship Id="rId184" Type="http://schemas.openxmlformats.org/officeDocument/2006/relationships/slide" Target="slides/slide46.xml"/><Relationship Id="rId236" Type="http://schemas.openxmlformats.org/officeDocument/2006/relationships/slide" Target="slides/slide86.xml"/><Relationship Id="rId237" Type="http://schemas.openxmlformats.org/officeDocument/2006/relationships/slide" Target="slides/slide87.xml"/><Relationship Id="rId238" Type="http://schemas.openxmlformats.org/officeDocument/2006/relationships/slide" Target="slides/slide88.xml"/><Relationship Id="rId239" Type="http://schemas.openxmlformats.org/officeDocument/2006/relationships/slide" Target="slides/slide89.xml"/><Relationship Id="rId240" Type="http://schemas.openxmlformats.org/officeDocument/2006/relationships/slide" Target="slides/slide90.xml"/><Relationship Id="rId241" Type="http://schemas.openxmlformats.org/officeDocument/2006/relationships/slide" Target="slides/slide91.xml"/><Relationship Id="rId242" Type="http://schemas.openxmlformats.org/officeDocument/2006/relationships/slide" Target="slides/slide92.xml"/><Relationship Id="rId243" Type="http://schemas.openxmlformats.org/officeDocument/2006/relationships/slide" Target="slides/slide9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5" Type="http://schemas.openxmlformats.org/officeDocument/2006/relationships/image" Target="../media/diag_001_os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tb9_01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tb9_02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tb9_03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tb9_04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tb9_05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tb9_11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tb9_06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6" Type="http://schemas.openxmlformats.org/officeDocument/2006/relationships/image" Target="../media/image18.png"/><Relationship Id="rId7" Type="http://schemas.openxmlformats.org/officeDocument/2006/relationships/image" Target="../media/tb9_12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6" Type="http://schemas.openxmlformats.org/officeDocument/2006/relationships/image" Target="../media/image13.png"/><Relationship Id="rId7" Type="http://schemas.openxmlformats.org/officeDocument/2006/relationships/image" Target="../media/tb9_07.sv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tb9_08.sv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9.png"/><Relationship Id="rId5" Type="http://schemas.openxmlformats.org/officeDocument/2006/relationships/image" Target="../media/diag_010_eco_uc.sv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diag_011_eco_cl.sv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1.png"/><Relationship Id="rId5" Type="http://schemas.openxmlformats.org/officeDocument/2006/relationships/image" Target="../media/diag_012_eco_at.sv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2.png"/><Relationship Id="rId5" Type="http://schemas.openxmlformats.org/officeDocument/2006/relationships/image" Target="../media/diag_013_eco_sq.sv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6" Type="http://schemas.openxmlformats.org/officeDocument/2006/relationships/image" Target="../media/image15.png"/><Relationship Id="rId7" Type="http://schemas.openxmlformats.org/officeDocument/2006/relationships/image" Target="../media/tb9_09.sv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tb9_10.sv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9</a:t>
            </a:r>
          </a:p>
          <a:p>
            <a:pPr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Revisão Integradora UML — os 4 diagramas juntos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15/10/2026  ·  07:30–10:55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07:30 - 07:35  Abertura e agenda do dia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07:35 - 08:30  Novo assunto: os 4 diagramas juntos - o TechBurger de ponta a ponta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08:30 - 08:45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08:45 - 09:25  Mapa do draw.io e exemplo guiado passo a passo: resgatar combo grátis (TechBurger)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09:25 - 10:25  Atividade 1 em grupo: EcoBike nos 4 diagramas + correção coletiva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10:25 - 10:35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10:35 - 10:45  Encontre as incoerências (em duplas)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10:45 - 10:55  Fechamento do bloco de UML e encerramento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NOVO ASSUNTO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Os 4 diagramas trabalhando juntos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Um sistema, quatro vistas - e todas precisam contar a mesma história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Antes de começar: vamos pensar juntos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Nas Aulas 4 a 8 vocês desenharam o TechBurger em 4 diagramas diferentes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 se a atividade disser [mais de 10 itens?] e a sequência disser opt [mais de 5 itens]?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 se a sequência chamar validarEndereco() e a classe Entrega só tiver validarRaio()?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Qual dos dois está certo? Quem vai programar segue qual?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Hoje: como fazer os 4 diagramas conversarem - e como conferir se conversam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Um sistema, várias vistas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casa tem planta baixa, projeto elétrico e hidráulico: vistas da MESMA casa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a tomada do projeto elétrico cai no meio de uma porta da planta baixa, alguém errou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UML é igual: cada diagrama mostra um lado do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Nenhum diagrama sozinho conta a história inteira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Juntos, e coerentes, viram a especificação que a equipe usa para programar e testar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4 diagramas e como eles se ligam</a:t>
            </a:r>
          </a:p>
        </p:txBody>
      </p:sp>
      <p:pic>
        <p:nvPicPr>
          <p:cNvPr id="12" name="Picture 11" descr="os4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01391" y="2900000"/>
            <a:ext cx="9997217" cy="65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Cada diagrama responde uma pergunta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Casos de uso: O QUE o sistema oferece, e PARA QUEM?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Classes: QUAIS DADOS existem, e COMO se ligam?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Atividades: qual o PASSO A PASSO, e QUEM faz cada passo?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Sequência: QUEM CHAMA QUEM, e em que ORDEM?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Por trás de todos: as regras de negócio (Aula 1) e os requisitos (Aulas 2 e 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Estrutural x comportamental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Estrutural: o que o sistema 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Diagrama de classes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Fotografia do sistema parado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Um diagrama para o sistema todo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Muda pouco com o tempo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Comportamental: o que ele FAZ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Casos de uso, atividades, sequência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Filme do sistema em ação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Um diagrama por processo ou cenário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Um novo a cada funcionalidade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Em que ordem trabalhar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Ler o texto do cliente e listar as regras de negócio (Aula 1)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Escrever os requisitos e os critérios de aceite (Aulas 2 e 3)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Desenhar os casos de uso: quem usa e para quê (Aula 4)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Desenhar as classes, com cardinalidade (Aulas 5 e 6)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Para os casos de uso principais: atividades (Aula 7) e sequência (Aula 8)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Conferir a coerência entre todos - e voltar para corrigir o que for preciso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É um vai e volta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Ninguém acerta o diagrama de classes de primeira: a sequência mostra o método que faltou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atividade revela uma decisão que não estava nas regras: volte e pergunte ao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caso de uso sem fluxo definido costuma esconder regras não ditas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diagrama novo é uma revisão dos anteriores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Por isso se diz que a modelagem é ITERATIVA: desenha, confere, corrige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Do texto ao modelo: a técnica dos grifos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SUBSTANTIVOS: candidatos a classes, atributos e atores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VERBOS: candidatos a casos de uso, ações e métodos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/ SENÃO / QUANDO: decisões (atividades) e alt ou opt (sequência)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PARA CADA / ATÉ / REPETE: laço (atividades) e loop (sequência)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AO MESMO TEMPO / ENQUANTO: bifurcação e união, par ou mensagem assíncrona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NÚMEROS: cardinalidades e guardas (R$ 15,00, 5 km, 10 itens)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grifos no texto do TechBurger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“pedidos do APP só confirmam com VALOR TOTAL de R$ 15,00 ou mais” → Pedido.canal, /valorTotal e uma decisão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“ASSIM QUE o PAGAMENTO é CONFIRMADO, o pedido vai para a COZINHA” → «include» Confirmar Pagamento e alt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“PIX pelo app tem 5% de DESCONTO” → «extend» Aplicar Desconto PIX; aplicarDesconto()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“ENTREGA só ATÉ 5 KM” → Pedido 1 —— 0..1 Entrega; validarRaio(); [endereço a até 5 km?]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“MAIS DE 10 ITENS exigem confirmação do GERENTE” → ator Gerente; [mais de 10 itens?] e opt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rápido: para onde vai?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“Cliente” (a pessoa que usa o app)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“cada pedido pode ter uma entrega”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“se o pagamento for recusado, cancela o pedido”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“para cada item do carrinho, confere o estoque”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“o sistema calcula o valor total do pedido”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“a cozinha prepara enquanto o sistema credita os pontos”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Respostas - para onde vai?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Ator (casos de uso), raia (atividades) e primeiro participante (sequência)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Cardinalidade: Pedido 1 —— 0..1 Entrega (classes)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Decisão com guardas (atividades) e alt (sequência)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Laço (atividades) e loop (sequência)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Ação na raia do Sistema e método calcularValorTotal() de Pedido (mensagem na sequência)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Bifurcação e união (atividades); par ou mensagem assíncrona (sequência)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EXEMPLO RESOLVIDO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TechBurger de ponta a ponta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O mesmo sistema nos 4 diagramas - e uma regra atravessando todos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fio condutor: a regra do pagamento em 7 artefatos</a:t>
            </a:r>
          </a:p>
        </p:txBody>
      </p:sp>
      <p:pic>
        <p:nvPicPr>
          <p:cNvPr id="12" name="Picture 11" descr="fio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0000" y="2900000"/>
            <a:ext cx="16400000" cy="416849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o fio condutor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regra nasce no texto do cliente (Aula 1) e vira RF e critério de aceite (Aulas 2 e 3)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 caso de uso vira «include»: todo Fazer Pedido pelo App passa por Confirmar 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Nas classes vira Pedido 1 —— 0..1 Pagamento, o status e o método confirmar() de 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atividade vira a decisão [pagamento confirmado?]; na sequência, o alt [resultado = aprovado]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um artefato mandar o pedido à cozinha ANTES de confirmar, o modelo está INCOERENTE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TechBurger: casos de uso (Aula 4)</a:t>
            </a:r>
          </a:p>
        </p:txBody>
      </p:sp>
      <p:pic>
        <p:nvPicPr>
          <p:cNvPr id="12" name="Picture 11" descr="tb_cu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16177" y="2900000"/>
            <a:ext cx="10967645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os casos de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Atores: Cliente, Atendente de Balcão e Gerente (tipos de Funcionário), Cozinha e Sistema de 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Fazer Pedido pelo App «include» Confirmar Pagamento: todo pedido pelo app passa pela confirmação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Aplicar Desconto PIX «extend» Confirmar Pagamento: só quando o cliente paga com PIX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Sugerir Item Substituto e Recusar Pedido de Cliente Bloqueado «extend» Fazer Pedido pelo App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TechBurger: classes com cardinalidade (Aulas 5 e 6)</a:t>
            </a:r>
          </a:p>
        </p:txBody>
      </p:sp>
      <p:pic>
        <p:nvPicPr>
          <p:cNvPr id="12" name="Picture 11" descr="tb_cl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85165" y="2900000"/>
            <a:ext cx="9029669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as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Pedido 1 —— 0..1 Pagamento: o pedido nasce antes de o pagamento ser confirmado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Pedido 1 —— 0..1 Entrega: pedido de retirada no balcão não tem Entrega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/valorTotal é derivado: a soma dos ItemPedido, calculada por calcularValorTotal()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Em laranja: adicionarItem(), validar(), cancelar() e calcularPontos() vieram da sequência da Aula 8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Atendente e Gerente herdam de Funcionario: herança não tem números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TechBurger: atividades “Fazer pedido pelo app” (Aula 7) - parte 1</a:t>
            </a:r>
          </a:p>
        </p:txBody>
      </p:sp>
      <p:pic>
        <p:nvPicPr>
          <p:cNvPr id="12" name="Picture 11" descr="tb_at1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50904" y="2900000"/>
            <a:ext cx="8898191" cy="65499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TechBurger: atividades “Fazer pedido pelo app” (Aula 7) - parte 2</a:t>
            </a:r>
          </a:p>
        </p:txBody>
      </p:sp>
      <p:pic>
        <p:nvPicPr>
          <p:cNvPr id="12" name="Picture 11" descr="tb_at2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1234" y="2900000"/>
            <a:ext cx="10457531" cy="65499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TechBurger: atividades “Fazer pedido pelo app” (Aula 7) - parte 3</a:t>
            </a:r>
          </a:p>
        </p:txBody>
      </p:sp>
      <p:pic>
        <p:nvPicPr>
          <p:cNvPr id="12" name="Picture 11" descr="tb_at3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65770" y="2900000"/>
            <a:ext cx="12068459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TechBurger: sequência “Pedido pelo app com PIX” (Aula 8) - parte 1</a:t>
            </a:r>
          </a:p>
        </p:txBody>
      </p:sp>
      <p:pic>
        <p:nvPicPr>
          <p:cNvPr id="12" name="Picture 11" descr="tb_sq1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2859" y="2900000"/>
            <a:ext cx="13794281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TechBurger: sequência “Pedido pelo app com PIX” (Aula 8) - parte 2</a:t>
            </a:r>
          </a:p>
        </p:txBody>
      </p:sp>
      <p:pic>
        <p:nvPicPr>
          <p:cNvPr id="12" name="Picture 11" descr="tb_sq2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35277" y="2900000"/>
            <a:ext cx="14529446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Conferindo atividades x sequência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No diagrama de atividades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Raias: Cliente, Sistema, Cozinha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Decisão [pagamento confirmado?]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Decisão [mais de 10 itens?]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Bifurcação: Cozinha prepara e Sistema credita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No diagrama de sequência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Ator Cliente + :App e objetos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alt [resultado = aprovado]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opt [mais de 10 itens]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13: enviarPedido() assíncrona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Nem toda diferença é incoerência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atividade tem 6 decisões; a sequência só passa por 2 (o cenário é entrega, PIX, estoque ok)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sequência mostra UM cenário; a atividade mostra TODOS os caminhos: é esperado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atividade tem ações humanas (“Prepara o pedido”); a sequência, só as chamadas do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Incoerência é quando um diagrama diz uma coisa DIFERENTE do outro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Mostrar MENOS não é incoerência; mostrar DIFERENTE é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Regras de coerência: os NOMES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ator do caso de uso é a raia da atividade e o 1º participante da sequência - mesmo nome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Todo participante :X é uma classe X (exceção: :App ou :Sistema, que fazem o papel da tela)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Toda mensagem recebida por :X é um método da classe X - com a mesma grafia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Todo atributo usado numa guarda existe na classe ([valor total ≥ R$ 15,00?] usa /valorTotal)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cardinalidades batem com as regras (0..1 = no máximo um pagamento por pedido)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Regras de coerência: o COMPORTAMENTO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decisão da atividade vira alt ou opt na sequência (se o cenário passa por ela)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Laço vira loop; bifurcação e união viram par ou mensagem assíncrona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«include» = passos que SEMPRE aparecem no fluxo; «extend» = trecho opcional (opt)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ORDEM das regras é a mesma: validar antes de cobrar, cobrar antes de entregar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Nenhuma regra de negócio pode sumir no caminho de um diagrama para outro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Tabela de equivalências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Num diagrama...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Ator (casos de uso)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Substantivo do texto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Caso de uso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Regra com número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Decisão (atividades)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«extend» (casos de uso)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...aparece no outro como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Raia e 1º participante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Classe ou atributo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Fluxo e cenários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Cardinalidade ou guarda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alt ou opt (sequência)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opt ou caminho opcional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Matriz de rastreabilidade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tabela com uma linha por REGRA e uma coluna por artefato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Em cada célula: ONDE a regra aparece naquele diagrama, com o nome exato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Célula vazia = lacuna: a regra sumiu ali (ou não se aplica - e é preciso dizer por quê)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o que o mercado usa para provar que todo requisito foi modelado e testado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Hoje: a matriz serve de checklist final da EcoBike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Exemplo: a regra do pagamento na matriz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Regra: o pedido só vai para a cozinha com o pagamento confirmado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RF: “bloquear o envio à cozinha até o pagamento ser confirmado”  ·  Caso de uso: Confirmar 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Classes: Pedido 1 —— 0..1 Pagamento; Pagamento.status e confirmar()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Atividades: decisão [pagamento confirmado?]  ·  Sequência: alt [resultado = aprovado] antes de 13: enviarPedido()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de coerência mais comuns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mesmo papel com nomes diferentes: Atendente de Balcão num diagrama, Caixa no outro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Mensagem que não é método da classe: validarEndereco() x validarRaio()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Participante na sequência que não existe no diagrama de classes (:Cardapio)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Cardinalidade que contradiz a regra: Pedido 1 —— 1 Entrega, se retirada não tem entrega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Guarda invertida, ou usando um atributo que não existe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Ordem diferente: a atividade valida antes de cobrar, a sequência cobra antes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rápido: coerente ou incoerente?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Caso de uso com o ator Gerente; na atividade, a raia se chama Supervisor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A sequência envia validarRaio() à :Entrega; a classe Entrega tem + validarRaio()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A atividade tem 6 decisões; a sequência “pedido aprovado” tem só 1 alt e 1 opt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Pedido 1 —— 0..1 Pagamento; a sequência cria DOIS :Pagamento para o mesmo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A atividade confere o estoque antes de cobrar; a sequência cobra e depois confere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Respostas - coerente ou incoerente?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Incoerente: o mesmo papel precisa ter o mesmo nome nos dois diagramas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Coerente: a mensagem é um método da classe de quem recebe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Coerente: a sequência mostra UM cenário; os outros caminhos ficam na atividade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Incoerente: a cardinalidade diz no máximo 1 pagamento por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Incoerente: a ordem das regras precisa ser a mesma nos dois diagramas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mesmo nível de detalhe em todos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Atividade com 20 ações e sequência com 3 mensagens: algo ficou de fora (ou sobrou)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Classes: só as que aparecem nos casos de uso e nas regras - sem inventar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Atividades e sequência: as regras e as integrações importantes, não cada clique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diagrama por processo ou cenário, com o mesmo nome em todos os diagramas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Trabalhando em equipe no mesmo 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arquivo .drawio, uma página por diagrama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Combinem os nomes ANTES: atores, classes e métodos numa lista na primeira página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Dividam os diagramas, mas façam revisão cruzada: quem fez a sequência revisa as 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Usem a matriz de rastreabilidade como checklist final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assim que vai funcionar no Projeto Integrador (Aulas 16 a 19)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EXEMPLO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Resgatar combo grátis: uma regra nova nos 4 diagramas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Vamos construir juntos, ao vivo, no draw.io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Mapa do draw.io: os 4 diagramas numa aula só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Tudo sai do painel da esquerda: a paleta UML (clique em “UML”) e a paleta Geral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Ao parar o mouse sobre um ícone, o draw.io mostra o nome dele em inglês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Casos de uso e classes no TOPO da paleta UML; atividades no meio; sequência no FIM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arquivo por grupo, uma página por diagrama (botão “+” embaixo)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cola completa está no slide 46 e na seção 6.1 da Apostila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Mapa do draw.io: as partes da tela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8605" y="2900000"/>
            <a:ext cx="10662790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Casos de uso e classes: o topo da paleta UML</a:t>
            </a:r>
          </a:p>
        </p:txBody>
      </p:sp>
      <p:pic>
        <p:nvPicPr>
          <p:cNvPr id="12" name="Picture 11" descr="uml_paleta_uc_clas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362" y="2900000"/>
            <a:ext cx="12821276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Atividades: o meio da paleta UML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027" y="2900000"/>
            <a:ext cx="9187945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Atividades: a raia e o nó final de fluxo (fora da paleta UML)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3761084"/>
            <a:ext cx="16400000" cy="482783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Sequência: o fim da paleta UML</a:t>
            </a:r>
          </a:p>
        </p:txBody>
      </p:sp>
      <p:pic>
        <p:nvPicPr>
          <p:cNvPr id="12" name="Picture 11" descr="seq_paleta_um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557" y="2900000"/>
            <a:ext cx="12132885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Cola do draw.io: os 4 diagramas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Casos de uso: UML › “Actor” e “Use Case”; fronteira = Geral › “Rectangle”; «include»/«extend» = “Dependency”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Classes: UML › “Class”; associação com cardinalidade = UML › “Relation 2”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Classes: agregação/composição = “Aggregation 1”/“Composition 1”; herança = “Generalization”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Atividades: UML › “Start”, “Activity”, “Condition”, “Fork/Join”, “End”; raias = Geral › “Vertical Container”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Sequência: UML › “Actor Lifeline”, “Lifeline”, “Activation Bar”, “Message”, “Return”, “Frame”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Rótulos e guardas: duplo clique na forma ou na seta  ·  Ctrl+D duplica  ·  Ctrl+Z desfaz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Setas: passe o mouse sobre a forma e arraste uma das setas azuis até a outra forma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 regra nova do cliente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 (Regra 2, Aula 1): aos 100 pontos o combo vem AUTOMÁTICO na próxima compra, e os pontos zeram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Mudança pedida pela gerente Fernanda: o cliente escolhe QUANDO resgatar, no carrinho do app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NOVA: só 1 combo grátis por pedido; o combo entra com preço R$ 0,00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Continua valendo: precisa de 100 pontos ou mais, e o resgate zera os pontos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 para a turma: o que muda em cada um dos 4 diagramas?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0 de 7: abrir o ponto de partida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Arquivo › Abrir › “Aula 9 - Exemplo Guiado (ponto de partida).drawio”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Página Atividades: as raias Cliente e Sistema já estão prontas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Página Sequência: o boneco Cliente, :App, :Pedido e :Cliente já estão lá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Releiam a regra do slide anterior: ela vai passar pelos 4 diagramas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 à turma: quem é o ator? (o Cliente: é ele quem pede o combo no app)</a:t>
            </a:r>
          </a:p>
        </p:txBody>
      </p:sp>
      <p:pic>
        <p:nvPicPr>
          <p:cNvPr id="13" name="Picture 11" descr="p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3875" y="2150000"/>
            <a:ext cx="6772249" cy="7100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1 de 7: casos de uso e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16400000" cy="1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Casos de uso: “Resgatar Combo Grátis” JÁ existe (Aula 4), ligado ao Cliente - nada muda</a:t>
            </a:r>
          </a:p>
          <a:p>
            <a:pPr>
              <a:spcAft>
                <a:spcPts val="16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Regra nova (1 combo por pedido) → Pedido ganha + temComboGratis() e + adicionarComboGratis()</a:t>
            </a:r>
          </a:p>
          <a:p>
            <a:pPr>
              <a:spcAft>
                <a:spcPts val="16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Regra 2 (100 pontos) → Cliente ganha + podeResgatar(); resgatarCombo() já existia (Aula 5)</a:t>
            </a:r>
          </a:p>
          <a:p>
            <a:pPr>
              <a:spcAft>
                <a:spcPts val="16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Pergunte: por que temComboGratis() fica no Pedido? (é o Pedido que conhece os próprios itens)</a:t>
            </a:r>
          </a:p>
        </p:txBody>
      </p:sp>
      <p:pic>
        <p:nvPicPr>
          <p:cNvPr id="13" name="Picture 11" descr="p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129" y="4750000"/>
            <a:ext cx="11113741" cy="4700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2 de 7: o cliente pede o combo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Página Atividades: UML › “Start” no topo da raia Cliente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UML › “Activity” logo abaixo: Pede o combo grátis no carrinho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Seta: passem o mouse no círculo e arrastem a seta azul até a ação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Pergunte: em que raia fica essa ação? (Cliente: é ele quem toca no botão)</a:t>
            </a:r>
          </a:p>
        </p:txBody>
      </p:sp>
      <p:pic>
        <p:nvPicPr>
          <p:cNvPr id="13" name="Picture 11" descr="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3875" y="2150000"/>
            <a:ext cx="6772249" cy="7100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3 de 7: 1ª decisão - a regra nova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UML › “Condition” na raia Sistema: O pedido já tem um combo grátis?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Saída [sim]: “Activity” Informa: só 1 combo grátis por pedido → UML › “End”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Rótulo da saída: duplo clique na seta e escrevam [sim], sempre entre colchetes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Nota amarela (Geral › Note) com a regra nova, ligada ao losango por linha tracejada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Pergunte: se o pedido já tem combo, os pontos do cliente podem ser zerados? (não: por isso a regra nova é conferida ANTES de mexer nos pontos)</a:t>
            </a:r>
          </a:p>
        </p:txBody>
      </p:sp>
      <p:pic>
        <p:nvPicPr>
          <p:cNvPr id="13" name="Picture 11" descr="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3875" y="2150000"/>
            <a:ext cx="6772249" cy="7100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4 de 7: 2ª decisão - os 100 pontos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 saída [não] da 1ª decisão leva a outra “Condition”: Tem 100 pontos ou mais?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Saída [não]: Informa quantos pontos faltam → “End”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Nota amarela: Regra 2 (Aula 1) - 100 pontos = combo grátis; o resgate zera os pontos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Pergunte: cliente com 80 pontos e sem combo no pedido - termina onde? (Informa que faltam 20 pontos)</a:t>
            </a:r>
          </a:p>
        </p:txBody>
      </p:sp>
      <p:pic>
        <p:nvPicPr>
          <p:cNvPr id="13" name="Picture 11" descr="p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3875" y="2150000"/>
            <a:ext cx="6772249" cy="7100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5 de 7: o caminho [sim] - o resgate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Saída [sim]: Zera os pontos do cliente → Adiciona o combo (R$ 0,00) ao pedido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 última ação volta para a raia Cliente: Vê o combo grátis no carrinho → “End”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Confiram: todo losango com as duas saídas rotuladas e todo caminho terminando num “End”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Pergunte: quantos caminhos esse diagrama tem? (3: já tem combo, faltam pontos, resgatou)</a:t>
            </a:r>
          </a:p>
        </p:txBody>
      </p:sp>
      <p:pic>
        <p:nvPicPr>
          <p:cNvPr id="13" name="Picture 11" descr="p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3875" y="2150000"/>
            <a:ext cx="6772249" cy="7100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6 de 7: sequência - primeiro o app pergunta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Página Sequência: UML › “Message” do boneco até o :App → 1: pedirComboGratis()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UML › “Activation Bar” no :App, a partir da ponta da seta, bem comprida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2: temComboGratis() do :App ao :Pedido; UML › “Return” tracejado de volta: temCombo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3: podeResgatar() do :App ao :Cliente; “Return” de volta: pode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Pergunte: de onde vieram esses nomes? (dos métodos do Passo 1: a mensagem é um método de quem recebe)</a:t>
            </a:r>
          </a:p>
        </p:txBody>
      </p:sp>
      <p:pic>
        <p:nvPicPr>
          <p:cNvPr id="13" name="Picture 11" descr="p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000" y="2150000"/>
            <a:ext cx="7500000" cy="624595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7 de 7: o alt - resgata ou recusa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UML › “Frame” abaixo da mensagem 3; canto → alt; guarda com Geral › “Text”: [temCombo = falso e pode = verdadeiro]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Dentro: 4: resgatarCombo() ao :Cliente (volta resgatou) e 5: adicionarComboGratis() ao :Pedido (volta comboAdicionado)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Linha tracejada divide o alt; embaixo, [senão]: o :App devolve motivoRecusa ao cliente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Moldura cobrindo as setas? Selecionem e usem Ctrl+Shift+B (para trás)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Pergunte: as DUAS decisões da atividade viraram quantos alt? (um só, com as duas condições na guarda)</a:t>
            </a:r>
          </a:p>
        </p:txBody>
      </p:sp>
      <p:pic>
        <p:nvPicPr>
          <p:cNvPr id="13" name="Picture 11" descr="p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000" y="2150000"/>
            <a:ext cx="7500000" cy="702797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Resultado: atividades “Resgatar combo grátis”</a:t>
            </a:r>
          </a:p>
        </p:txBody>
      </p:sp>
      <p:pic>
        <p:nvPicPr>
          <p:cNvPr id="12" name="Picture 11" descr="eg_at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5000" y="2900000"/>
            <a:ext cx="6550000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Resultado: sequência “Resgatar combo grátis”</a:t>
            </a:r>
          </a:p>
        </p:txBody>
      </p:sp>
      <p:pic>
        <p:nvPicPr>
          <p:cNvPr id="12" name="Picture 11" descr="eg_sq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36265" y="2900000"/>
            <a:ext cx="11927469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do exemplo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regra aparece nos 4? (caso de uso existente, métodos novos, 2 decisões, alt)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nomes batem? Cliente é ator, raia e participante; :Pedido e :Cliente são 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temComboGratis(), podeResgatar(), resgatarCombo() e adicionarComboGratis() estão nas classes?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duas decisões da atividade viraram UM alt com as duas condições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ordem é a mesma: primeiro conferir, depois zerar os pontos e adicionar o combo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REVISÃO DO EXEMPLO GUIADO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O que cada diagrama mostrou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Os conceitos principais de cada diagrama, com o resultado de hoje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casos de uso - O QUE e PARA QUEM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Ator (boneco): quem usa o sistema, sempre FORA da fronteira - aqui, o Cliente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Caso de uso (elipse): um objetivo do ator, escrito com verbo - Resgatar Combo Grátis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Fronteira (retângulo TechBurger): o que está dentro é o sistema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Linha ator-caso de uso: o ator participa daquele objetivo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No guiado: a regra nova NÃO criou caso de uso - mudou como ele funciona por dentro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Os detalhes (dados, passos, ordem) ficam para os outros 3 diagramas</a:t>
            </a:r>
          </a:p>
        </p:txBody>
      </p:sp>
      <p:pic>
        <p:nvPicPr>
          <p:cNvPr id="13" name="Picture 11" descr="u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2635" y="2950000"/>
            <a:ext cx="5954730" cy="6400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classes - QUAIS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Classe: nome no topo, atributos no meio (- nome: tipo), métodos embaixo (+ nome())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Atributo guarda um dado: pontosFidelidade é o saldo de pontos do cliente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Método é o que a classe sabe fazer: podeResgatar() confere os 100 pontos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No guiado: regra nova → métodos novos (em laranja) no Pedido e no Cliente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Associação “faz” com cardinalidade: 1 Cliente faz * (muitos) Pedidos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É o único diagrama ESTRUTURAL: mostra o que o sistema guarda, não a ordem</a:t>
            </a:r>
          </a:p>
        </p:txBody>
      </p:sp>
      <p:pic>
        <p:nvPicPr>
          <p:cNvPr id="13" name="Picture 11" descr="c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2118" y="2950000"/>
            <a:ext cx="7295764" cy="6400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atividades - O PASSO A PASSO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Raias: Cliente e Sistema - cada ação fica na raia de quem a executa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Nó inicial (bolinha preta) e nó final (alvo): onde o fluxo começa e termina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Ação (retângulo arredondado): um passo, com verbo - Zera os pontos do cliente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Decisão (losango): uma pergunta, com as saídas entre colchetes - [sim] / [não]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No guiado: 2 decisões = 3 caminhos (já tem combo, faltam pontos, resgatou)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Notas amarelas: de qual regra de negócio veio cada decisão</a:t>
            </a:r>
          </a:p>
        </p:txBody>
      </p:sp>
      <p:pic>
        <p:nvPicPr>
          <p:cNvPr id="13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0000" y="2950000"/>
            <a:ext cx="6400000" cy="6400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sequência - QUEM CHAMA QUEM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Participantes no topo: o ator Cliente e os objetos :App, :Pedido e :Cliente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Mensagem (seta cheia, numerada): chama um método de quem recebe - 2: temComboGratis()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Retorno (seta tracejada): a resposta volta para quem chamou - temCombo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Ativação (retângulo fino): o tempo em que o objeto está trabalhando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alt com guarda: [temCombo = falso e pode = verdadeiro] resgata; [senão] recusa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 ordem é de cima para baixo: primeiro pergunta (1 a 3), depois age (4 e 5)</a:t>
            </a:r>
          </a:p>
        </p:txBody>
      </p:sp>
      <p:pic>
        <p:nvPicPr>
          <p:cNvPr id="13" name="Picture 11" descr="s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1212" y="2950000"/>
            <a:ext cx="7137575" cy="6400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Revisão: como os 4 diagramas se ligam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90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Cliente: ator (casos de uso) = raia (atividades) = participante (sequência)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temComboGratis(): método do Pedido (classes) = mensagem 2 (sequência)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Decisão [o pedido já tem um combo grátis?] (atividades) = temCombo na guarda do alt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Mesma ordem nos dois: primeiro conferir, depois zerar os pontos e adicionar o combo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333333"/>
                </a:solidFill>
                <a:latin typeface="Calibri"/>
              </a:rPr>
              <a:t>•  A regra “só 1 combo por pedido” aparece nos 4: é isso que é um modelo COERENTE</a:t>
            </a:r>
          </a:p>
        </p:txBody>
      </p:sp>
      <p:pic>
        <p:nvPicPr>
          <p:cNvPr id="13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000" y="2950000"/>
            <a:ext cx="7500000" cy="4876357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ATIVIDADE PRÁTICA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Os 4 diagramas da EcoBike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50 minutos, em grupo, no draw.io (12 minutos por diagrama)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 prática 1 - o que fazer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Grupos de 3 a 4: modelem a EcoBike nos 4 diagramas, no MESMO arquivo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Partam do “Aula 9 - Atividade 1 EcoBike (ponto de partida).drawio”: 4 páginas prontas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Cronômetro: 12 minutos por diagrama - casos de uso, classes, atividades, sequência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Antes de começar (2 min): façam os grifos no texto e combinem os NOMES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Ao final, conferência de coerência com o checklist: é ela que mais vale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cenário EcoBike (parte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EcoBike é uma loja que vende bicicletas e faz manutenção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cliente pode comprar uma bicicleta ou agendar uma manutenção (revisão, peças, marchas)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manutenção, um mecânico avalia a bicicleta e gera um orçamento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cliente precisa APROVAR o orçamento antes de o serviço começar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o cliente recusar o orçamento, a ordem de serviço é encerrada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cenário EcoBike (parte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Concluído o serviço, o cliente é notificado para retirar a bicicleta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pagamento é feito na retirada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gerente acompanha o estoque de peças e de bicicletas à venda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ordem de serviço é de UMA bicicleta e é atendida por UM mecânico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ordem gera no máximo um orçamento e no máximo um pagamento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Cronograma da atividade (50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0 a 2 min: grifos no texto e lista de nomes (atores, classes) na página 1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2 a 14 min: casos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14 a 26 min: classes, com cardinalidade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26 a 38 min: atividades, do agendamento até a retirada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38 a 50 min: sequência do mesmo fluxo + conferência de coerência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No draw.io, para a atividade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Arquivo › Abrir: o ponto de partida já tem as 4 páginas nomeadas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Casos de uso: UML › “Actor” e “Use Case”; a fronteira “EcoBike” já está pronta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Classes: UML › “Class” e “Relation 2” (cardinalidade nas duas pontas)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Atividades: Geral › “Vertical Container” (raias); UML › “Start”, “Activity”, “Condition”, “End”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Sequência: UML › “Actor Lifeline”, “Lifeline”, “Message”, “Return”, “Frame”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Esqueceu onde fica? Cola do draw.io (slide 46) e seção 6.1 da Apostila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Pistas para o grupo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Substantivos que viram classes: cliente, bicicleta, ordem de serviço, orçamento, mecânico, 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“precisa APROVAR antes” = uma decisão (atividades) e um passo obrigatório (sequência)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“UMA bicicleta”, “UM mecânico”, “no máximo um”: as cardinalidades estão no texto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Cliente é ator (a pessoa) e também classe (os dados dela)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Casos de uso começam com verbo: Agendar Manutenção, Aprovar Orçamento...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“Avaliar SEMPRE gera orçamento”: o que sempre acontece é «include»; o que só às vezes, «extend»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Mensagem para um objeto :X = método da classe X (ex.: aprovar() de Orcamento)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da atividade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4 diagramas, uma página cada, dentro do tempo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mesmos nomes em todos: ator = raia = participante; classe = participante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Cardinalidades justificadas pelo texto (UMA bicicleta, no máximo um orçamento)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Decisão [cliente aprova o orçamento?] com as duas saídas na atividade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Mensagens da sequência na mesma ordem das ações da atividade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Dicas para o grupo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lê o texto e controla o tempo; os outros desenham - troquem a cada diagrama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Acabou o tempo? Passem para o próximo: incompleto e coerente vale mais que metade perfeita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Deixem na página 1 a lista de nomes combinados e usem SEMPRE ela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Nos 2 minutos finais, leiam a atividade e a sequência lado a lado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CORREÇÃO COLETIVA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Resposta-modelo: EcoBike nos 4 diagramas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Comparem com o que cada grupo produziu - o que mais importa é a coerência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Resposta-modelo - casos de uso</a:t>
            </a:r>
          </a:p>
        </p:txBody>
      </p:sp>
      <p:pic>
        <p:nvPicPr>
          <p:cNvPr id="12" name="Picture 11" descr="eco_uc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8803" y="2900000"/>
            <a:ext cx="9562393" cy="6500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Resposta-modelo - classes</a:t>
            </a:r>
          </a:p>
        </p:txBody>
      </p:sp>
      <p:pic>
        <p:nvPicPr>
          <p:cNvPr id="12" name="Picture 11" descr="eco_cl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5705" y="2900000"/>
            <a:ext cx="9588590" cy="6500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Resposta-modelo - atividades</a:t>
            </a:r>
          </a:p>
        </p:txBody>
      </p:sp>
      <p:pic>
        <p:nvPicPr>
          <p:cNvPr id="12" name="Picture 11" descr="eco_at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9279" y="2900000"/>
            <a:ext cx="5641441" cy="6500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Resposta-modelo - sequência</a:t>
            </a:r>
          </a:p>
        </p:txBody>
      </p:sp>
      <p:pic>
        <p:nvPicPr>
          <p:cNvPr id="12" name="Picture 11" descr="eco_sq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3129" y="2900000"/>
            <a:ext cx="9493742" cy="6500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a resposta-modelo: a coerência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Cliente e Mecânico: atores (casos de uso), raias (atividades) e participantes (sequência)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Aprovar Orçamento = decisão [cliente aprova o orçamento?] = 6: aprovarOrcamento() → 7: aprovar()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OrdemServico 1 —— 0..1 Orcamento: “no máximo um orçamento”, direto do texto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Mensagem = método: aprovar() é de Orcamento; concluir() é de OrdemServico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Notificar e pagar aparecem nos 3 comportamentais, na mesma ordem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Gerenciar Estoque (Gerente) só está nos casos de uso: não faz parte do fluxo de manutenção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Diferenças plausíveis entre grupos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Gerar Orçamento dentro de Avaliar Bicicleta, sem caso de uso separado: aceitável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decisão na raia do Cliente em vez do Sistema: aceitável (o sistema só registra)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:Pagamento na sequência, recebendo o pagamento: ótima melhoria, se estiver nas 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Outros métodos nas classes (recusar(), encerrar()): bem-vindos para o caminho [não]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aceitar: nomes diferentes para o mesmo papel, decisão sem guarda, «extend» (avaliar SEMPRE gera orçamento)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ENCONTRE AS INCOERÊNCIAS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Classes x sequência: 6 incoerências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Em duplas: 6 minutos para achar, explicar e corrigir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Encontre as incoerências - o que fazer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O próximo slide tem as regras, um diagrama de classes e uma sequência do TechBurger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Há 6 incoerências: entre os diagramas, ou entre um diagrama e a regra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Marquem cada uma e digam QUAL regra de coerência foi violada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Escrevam como ficaria a correção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Sem consultar a Apostila nos primeiros 5 minutos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Encontre as 6 incoerências (em duplas)</a:t>
            </a:r>
          </a:p>
        </p:txBody>
      </p:sp>
      <p:pic>
        <p:nvPicPr>
          <p:cNvPr id="12" name="Picture 11" descr="ei1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72129" y="2900000"/>
            <a:ext cx="9455742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As 6 incoerências marcadas</a:t>
            </a:r>
          </a:p>
        </p:txBody>
      </p:sp>
      <p:pic>
        <p:nvPicPr>
          <p:cNvPr id="12" name="Picture 11" descr="ei2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96207" y="2900000"/>
            <a:ext cx="9607586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Incoerências e correções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1..* contradiz a regra (no máximo um pagamento por pedido): Pedido 1 —— 0..1 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Ator “Comprador”: nos outros diagramas é Cliente - usar o mesmo nome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aplicarCupom() não é método de Pagamento: 2: aplicarDesconto()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Guarda invertida: o pedido só é confirmado com pagamento aprovado - alt [resultado = aprovado]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:NotaFiscal não existe no diagrama de classes: criar a classe ou tirar o participante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A guarda do opt usa forma, que falta em Pagamento: acrescentar - forma: String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comuns ao integrar os diagramas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Desenhar cada diagrama do zero, sem olhar os outros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Mudar um diagrama e esquecer de atualizar os outros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Inventar classes e métodos que o texto não pede - e esquecer os que ele pede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Deixar a regra de negócio só na cabeça: ela precisa estar nos modelos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Gastar todo o tempo no primeiro diagrama e não fazer os outros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Boas práticas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Comecem pelas regras e combinem os nomes antes de desenhar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arquivo, uma página por diagrama, os mesmos nomes em todos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cada diagrama novo, revisem os anteriores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Usem a matriz de rastreabilidade como checklist final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Prefiram simples e coerente a grande e contraditório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Fechamento do bloco de UML (Aulas 3 a 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 3: modelagem e UML  ·  Aula 4: casos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Aulas 5 e 6: classes e cardinalidade  ·  Aula 7: atividades  ·  Aula 8: sequência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Hoje: os 4 juntos, coerentes e rastreáveis até as regras de negócio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Vocês já conseguem modelar um sistema novo do zero, contra o relógio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Isso vai ser usado no Projeto Integrador (Aulas 16 a 19)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Glossário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Vista - um jeito de olhar o sistema; cada diagrama UML é uma vista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Coerência - todos os diagramas contam a mesma história, com os mesmos nomes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Rastreabilidade - conseguir seguir uma regra do texto até cada diagrama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Matriz de rastreabilidade - tabela regra x artefato; célula vazia = lacuna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Técnica dos grifos - marcar substantivos, verbos, “se” e números no texto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Modelagem iterativa - desenhar, conferir e corrigir em ciclos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Por que um sistema precisa de mais de um tipo de diagrama?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Qual a pergunta que cada um dos 4 diagramas responde?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Cite 3 regras de coerência entre o diagrama de classes e o de sequência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Como um «extend» do caso de uso costuma aparecer na sequência?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O que é uma matriz de rastreabilidade? Para que serve uma célula vazia?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A sequência mostra menos caminhos que a atividade. Isso é incoerência? Por quê?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7.  Na técnica dos grifos, o que viram os substantivos, os verbos e os “se”?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8.  Dê um exemplo de regra que vira cardinalidade e um de regra que vira decisão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relâmpago para casa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Quais são os 4 diagramas UML do curso? Qual deles é estrutural?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O ator do caso de uso aparece como o quê na atividade? E na sequência?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aplicarCupom() chega em :Pagamento, que só tem aplicarDesconto(). O que está errado?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O que significa uma célula vazia na matriz de rastreabilidade?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Por onde se começa a modelar: pelas classes ou pelas regras de negócio?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4 diagramas são vistas do MESMO sistema e precisam contar a mesma história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Técnica dos grifos: do texto do cliente aos elementos de cada diagrama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Regras de coerência: nomes, métodos, cardinalidades, guardas e ordem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Matriz de rastreabilidade: cada regra seguida em todos os diagramas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EcoBike: os 4 diagramas de um sistema novo, do zero, contra o relógio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Próxima aula (16/10): Fundamentos de UX - como a pessoa vai USAR tudo isso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755</Words>
  <Application>Microsoft Office PowerPoint</Application>
  <PresentationFormat>Personalizar</PresentationFormat>
  <Paragraphs>94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Unbounded 1 Ultra-Bold</vt:lpstr>
      <vt:lpstr>Calibri</vt:lpstr>
      <vt:lpstr>Arial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Natanael Santos De Jesus</cp:lastModifiedBy>
  <cp:revision>14</cp:revision>
  <dcterms:created xsi:type="dcterms:W3CDTF">2006-08-16T00:00:00Z</dcterms:created>
  <dcterms:modified xsi:type="dcterms:W3CDTF">2026-08-30T15:39:53Z</dcterms:modified>
  <dc:identifier>DAGGnDa8uXQ</dc:identifier>
</cp:coreProperties>
</file>