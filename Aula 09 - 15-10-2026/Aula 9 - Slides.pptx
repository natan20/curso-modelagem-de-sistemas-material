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diag_001_os4.svg" ContentType="image/svg+xml"/>
  <Override PartName="/ppt/media/diag_010_eco_uc.svg" ContentType="image/svg+xml"/>
  <Override PartName="/ppt/media/diag_011_eco_cl.svg" ContentType="image/svg+xml"/>
  <Override PartName="/ppt/media/diag_012_eco_at.svg" ContentType="image/svg+xml"/>
  <Override PartName="/ppt/media/diag_013_eco_sq.svg" ContentType="image/svg+xml"/>
  <Override PartName="/ppt/media/diag_016_park_at.svg" ContentType="image/svg+xml"/>
  <Override PartName="/ppt/media/diag_017_park_sq.svg" ContentType="image/svg+xml"/>
  <Override PartName="/ppt/media/tb9_01.svg" ContentType="image/svg+xml"/>
  <Override PartName="/ppt/media/tb9_02.svg" ContentType="image/svg+xml"/>
  <Override PartName="/ppt/media/tb9_03.svg" ContentType="image/svg+xml"/>
  <Override PartName="/ppt/media/tb9_04.svg" ContentType="image/svg+xml"/>
  <Override PartName="/ppt/media/tb9_05.svg" ContentType="image/svg+xml"/>
  <Override PartName="/ppt/media/tb9_06.svg" ContentType="image/svg+xml"/>
  <Override PartName="/ppt/media/tb9_07.svg" ContentType="image/svg+xml"/>
  <Override PartName="/ppt/media/tb9_08.svg" ContentType="image/svg+xml"/>
  <Override PartName="/ppt/media/tb9_09.svg" ContentType="image/svg+xml"/>
  <Override PartName="/ppt/media/tb9_10.svg" ContentType="image/svg+xml"/>
  <Override PartName="/ppt/media/tb9_11.svg" ContentType="image/svg+xml"/>
  <Override PartName="/ppt/media/tb9_12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813" r:id="rId135"/>
    <p:sldId id="814" r:id="rId136"/>
    <p:sldId id="821" r:id="rId143"/>
    <p:sldId id="822" r:id="rId144"/>
    <p:sldId id="823" r:id="rId145"/>
    <p:sldId id="824" r:id="rId146"/>
    <p:sldId id="825" r:id="rId147"/>
    <p:sldId id="826" r:id="rId148"/>
    <p:sldId id="827" r:id="rId149"/>
    <p:sldId id="828" r:id="rId150"/>
    <p:sldId id="829" r:id="rId151"/>
    <p:sldId id="830" r:id="rId152"/>
    <p:sldId id="831" r:id="rId153"/>
    <p:sldId id="832" r:id="rId154"/>
    <p:sldId id="833" r:id="rId155"/>
    <p:sldId id="834" r:id="rId156"/>
    <p:sldId id="835" r:id="rId157"/>
    <p:sldId id="836" r:id="rId158"/>
    <p:sldId id="837" r:id="rId159"/>
    <p:sldId id="838" r:id="rId160"/>
    <p:sldId id="839" r:id="rId161"/>
    <p:sldId id="840" r:id="rId162"/>
    <p:sldId id="841" r:id="rId163"/>
    <p:sldId id="922" r:id="rId119"/>
    <p:sldId id="842" r:id="rId164"/>
    <p:sldId id="923" r:id="rId120"/>
    <p:sldId id="843" r:id="rId165"/>
    <p:sldId id="844" r:id="rId166"/>
    <p:sldId id="845" r:id="rId167"/>
    <p:sldId id="846" r:id="rId168"/>
    <p:sldId id="847" r:id="rId169"/>
    <p:sldId id="848" r:id="rId170"/>
    <p:sldId id="849" r:id="rId171"/>
    <p:sldId id="850" r:id="rId110"/>
    <p:sldId id="851" r:id="rId109"/>
    <p:sldId id="852" r:id="rId108"/>
    <p:sldId id="853" r:id="rId107"/>
    <p:sldId id="854" r:id="rId176"/>
    <p:sldId id="855" r:id="rId177"/>
    <p:sldId id="856" r:id="rId106"/>
    <p:sldId id="857" r:id="rId105"/>
    <p:sldId id="858" r:id="rId104"/>
    <p:sldId id="859" r:id="rId99"/>
    <p:sldId id="860" r:id="rId182"/>
    <p:sldId id="861" r:id="rId183"/>
    <p:sldId id="862" r:id="rId184"/>
    <p:sldId id="863" r:id="rId98"/>
    <p:sldId id="864" r:id="rId97"/>
    <p:sldId id="865" r:id="rId96"/>
    <p:sldId id="866" r:id="rId95"/>
    <p:sldId id="867" r:id="rId94"/>
    <p:sldId id="868" r:id="rId93"/>
    <p:sldId id="869" r:id="rId92"/>
    <p:sldId id="870" r:id="rId91"/>
    <p:sldId id="871" r:id="rId90"/>
    <p:sldId id="872" r:id="rId89"/>
    <p:sldId id="873" r:id="rId88"/>
    <p:sldId id="874" r:id="rId87"/>
    <p:sldId id="875" r:id="rId86"/>
    <p:sldId id="876" r:id="rId82"/>
    <p:sldId id="877" r:id="rId81"/>
    <p:sldId id="878" r:id="rId80"/>
    <p:sldId id="879" r:id="rId79"/>
    <p:sldId id="880" r:id="rId78"/>
    <p:sldId id="881" r:id="rId77"/>
    <p:sldId id="882" r:id="rId76"/>
    <p:sldId id="883" r:id="rId75"/>
    <p:sldId id="884" r:id="rId74"/>
    <p:sldId id="885" r:id="rId73"/>
    <p:sldId id="886" r:id="rId72"/>
    <p:sldId id="887" r:id="rId71"/>
    <p:sldId id="888" r:id="rId70"/>
    <p:sldId id="889" r:id="rId69"/>
    <p:sldId id="890" r:id="rId68"/>
    <p:sldId id="891" r:id="rId67"/>
    <p:sldId id="892" r:id="rId66"/>
    <p:sldId id="893" r:id="rId65"/>
    <p:sldId id="894" r:id="rId64"/>
    <p:sldId id="895" r:id="rId63"/>
    <p:sldId id="896" r:id="rId62"/>
    <p:sldId id="897" r:id="rId61"/>
    <p:sldId id="898" r:id="rId60"/>
    <p:sldId id="899" r:id="rId59"/>
    <p:sldId id="900" r:id="rId58"/>
    <p:sldId id="901" r:id="rId57"/>
    <p:sldId id="902" r:id="rId56"/>
    <p:sldId id="903" r:id="rId55"/>
    <p:sldId id="904" r:id="rId226"/>
    <p:sldId id="905" r:id="rId227"/>
    <p:sldId id="906" r:id="rId228"/>
    <p:sldId id="907" r:id="rId229"/>
    <p:sldId id="908" r:id="rId230"/>
    <p:sldId id="909" r:id="rId231"/>
    <p:sldId id="910" r:id="rId232"/>
    <p:sldId id="911" r:id="rId233"/>
    <p:sldId id="912" r:id="rId234"/>
    <p:sldId id="913" r:id="rId235"/>
    <p:sldId id="914" r:id="rId236"/>
    <p:sldId id="915" r:id="rId237"/>
    <p:sldId id="916" r:id="rId238"/>
    <p:sldId id="917" r:id="rId239"/>
    <p:sldId id="918" r:id="rId240"/>
    <p:sldId id="919" r:id="rId241"/>
    <p:sldId id="920" r:id="rId242"/>
    <p:sldId id="921" r:id="rId243"/>
  </p:sldIdLst>
  <p:sldSz cx="18288000" cy="10287000"/>
  <p:notesSz cx="6858000" cy="9144000"/>
  <p:embeddedFontLst>
    <p:embeddedFont>
      <p:font typeface="Unbounded 1 Ultra-Bold" panose="020B0604020202020204" charset="0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22" autoAdjust="0"/>
  </p:normalViewPr>
  <p:slideViewPr>
    <p:cSldViewPr>
      <p:cViewPr>
        <p:scale>
          <a:sx n="60" d="100"/>
          <a:sy n="60" d="100"/>
        </p:scale>
        <p:origin x="398" y="-19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25" Type="http://schemas.openxmlformats.org/officeDocument/2006/relationships/font" Target="fonts/font1.fntdata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55" Type="http://schemas.openxmlformats.org/officeDocument/2006/relationships/slide" Target="slides/slide91.xml"/><Relationship Id="rId56" Type="http://schemas.openxmlformats.org/officeDocument/2006/relationships/slide" Target="slides/slide90.xml"/><Relationship Id="rId57" Type="http://schemas.openxmlformats.org/officeDocument/2006/relationships/slide" Target="slides/slide89.xml"/><Relationship Id="rId58" Type="http://schemas.openxmlformats.org/officeDocument/2006/relationships/slide" Target="slides/slide88.xml"/><Relationship Id="rId59" Type="http://schemas.openxmlformats.org/officeDocument/2006/relationships/slide" Target="slides/slide87.xml"/><Relationship Id="rId60" Type="http://schemas.openxmlformats.org/officeDocument/2006/relationships/slide" Target="slides/slide86.xml"/><Relationship Id="rId61" Type="http://schemas.openxmlformats.org/officeDocument/2006/relationships/slide" Target="slides/slide85.xml"/><Relationship Id="rId62" Type="http://schemas.openxmlformats.org/officeDocument/2006/relationships/slide" Target="slides/slide84.xml"/><Relationship Id="rId63" Type="http://schemas.openxmlformats.org/officeDocument/2006/relationships/slide" Target="slides/slide83.xml"/><Relationship Id="rId64" Type="http://schemas.openxmlformats.org/officeDocument/2006/relationships/slide" Target="slides/slide82.xml"/><Relationship Id="rId65" Type="http://schemas.openxmlformats.org/officeDocument/2006/relationships/slide" Target="slides/slide81.xml"/><Relationship Id="rId66" Type="http://schemas.openxmlformats.org/officeDocument/2006/relationships/slide" Target="slides/slide80.xml"/><Relationship Id="rId67" Type="http://schemas.openxmlformats.org/officeDocument/2006/relationships/slide" Target="slides/slide79.xml"/><Relationship Id="rId68" Type="http://schemas.openxmlformats.org/officeDocument/2006/relationships/slide" Target="slides/slide78.xml"/><Relationship Id="rId69" Type="http://schemas.openxmlformats.org/officeDocument/2006/relationships/slide" Target="slides/slide77.xml"/><Relationship Id="rId70" Type="http://schemas.openxmlformats.org/officeDocument/2006/relationships/slide" Target="slides/slide76.xml"/><Relationship Id="rId71" Type="http://schemas.openxmlformats.org/officeDocument/2006/relationships/slide" Target="slides/slide75.xml"/><Relationship Id="rId72" Type="http://schemas.openxmlformats.org/officeDocument/2006/relationships/slide" Target="slides/slide74.xml"/><Relationship Id="rId73" Type="http://schemas.openxmlformats.org/officeDocument/2006/relationships/slide" Target="slides/slide73.xml"/><Relationship Id="rId74" Type="http://schemas.openxmlformats.org/officeDocument/2006/relationships/slide" Target="slides/slide72.xml"/><Relationship Id="rId75" Type="http://schemas.openxmlformats.org/officeDocument/2006/relationships/slide" Target="slides/slide71.xml"/><Relationship Id="rId76" Type="http://schemas.openxmlformats.org/officeDocument/2006/relationships/slide" Target="slides/slide70.xml"/><Relationship Id="rId77" Type="http://schemas.openxmlformats.org/officeDocument/2006/relationships/slide" Target="slides/slide69.xml"/><Relationship Id="rId78" Type="http://schemas.openxmlformats.org/officeDocument/2006/relationships/slide" Target="slides/slide68.xml"/><Relationship Id="rId79" Type="http://schemas.openxmlformats.org/officeDocument/2006/relationships/slide" Target="slides/slide67.xml"/><Relationship Id="rId80" Type="http://schemas.openxmlformats.org/officeDocument/2006/relationships/slide" Target="slides/slide66.xml"/><Relationship Id="rId81" Type="http://schemas.openxmlformats.org/officeDocument/2006/relationships/slide" Target="slides/slide65.xml"/><Relationship Id="rId82" Type="http://schemas.openxmlformats.org/officeDocument/2006/relationships/slide" Target="slides/slide64.xml"/><Relationship Id="rId86" Type="http://schemas.openxmlformats.org/officeDocument/2006/relationships/slide" Target="slides/slide63.xml"/><Relationship Id="rId87" Type="http://schemas.openxmlformats.org/officeDocument/2006/relationships/slide" Target="slides/slide62.xml"/><Relationship Id="rId88" Type="http://schemas.openxmlformats.org/officeDocument/2006/relationships/slide" Target="slides/slide61.xml"/><Relationship Id="rId89" Type="http://schemas.openxmlformats.org/officeDocument/2006/relationships/slide" Target="slides/slide60.xml"/><Relationship Id="rId90" Type="http://schemas.openxmlformats.org/officeDocument/2006/relationships/slide" Target="slides/slide59.xml"/><Relationship Id="rId91" Type="http://schemas.openxmlformats.org/officeDocument/2006/relationships/slide" Target="slides/slide58.xml"/><Relationship Id="rId92" Type="http://schemas.openxmlformats.org/officeDocument/2006/relationships/slide" Target="slides/slide57.xml"/><Relationship Id="rId93" Type="http://schemas.openxmlformats.org/officeDocument/2006/relationships/slide" Target="slides/slide56.xml"/><Relationship Id="rId94" Type="http://schemas.openxmlformats.org/officeDocument/2006/relationships/slide" Target="slides/slide55.xml"/><Relationship Id="rId95" Type="http://schemas.openxmlformats.org/officeDocument/2006/relationships/slide" Target="slides/slide54.xml"/><Relationship Id="rId96" Type="http://schemas.openxmlformats.org/officeDocument/2006/relationships/slide" Target="slides/slide53.xml"/><Relationship Id="rId97" Type="http://schemas.openxmlformats.org/officeDocument/2006/relationships/slide" Target="slides/slide52.xml"/><Relationship Id="rId98" Type="http://schemas.openxmlformats.org/officeDocument/2006/relationships/slide" Target="slides/slide51.xml"/><Relationship Id="rId99" Type="http://schemas.openxmlformats.org/officeDocument/2006/relationships/slide" Target="slides/slide47.xml"/><Relationship Id="rId104" Type="http://schemas.openxmlformats.org/officeDocument/2006/relationships/slide" Target="slides/slide46.xml"/><Relationship Id="rId105" Type="http://schemas.openxmlformats.org/officeDocument/2006/relationships/slide" Target="slides/slide45.xml"/><Relationship Id="rId106" Type="http://schemas.openxmlformats.org/officeDocument/2006/relationships/slide" Target="slides/slide44.xml"/><Relationship Id="rId107" Type="http://schemas.openxmlformats.org/officeDocument/2006/relationships/slide" Target="slides/slide41.xml"/><Relationship Id="rId108" Type="http://schemas.openxmlformats.org/officeDocument/2006/relationships/slide" Target="slides/slide40.xml"/><Relationship Id="rId109" Type="http://schemas.openxmlformats.org/officeDocument/2006/relationships/slide" Target="slides/slide39.xml"/><Relationship Id="rId110" Type="http://schemas.openxmlformats.org/officeDocument/2006/relationships/slide" Target="slides/slide38.xml"/><Relationship Id="rId119" Type="http://schemas.openxmlformats.org/officeDocument/2006/relationships/slide" Target="slides/slide110.xml"/><Relationship Id="rId120" Type="http://schemas.openxmlformats.org/officeDocument/2006/relationships/slide" Target="slides/slide111.xml"/><Relationship Id="rId135" Type="http://schemas.openxmlformats.org/officeDocument/2006/relationships/slide" Target="slides/slide1.xml"/><Relationship Id="rId136" Type="http://schemas.openxmlformats.org/officeDocument/2006/relationships/slide" Target="slides/slide2.xml"/><Relationship Id="rId143" Type="http://schemas.openxmlformats.org/officeDocument/2006/relationships/slide" Target="slides/slide9.xml"/><Relationship Id="rId144" Type="http://schemas.openxmlformats.org/officeDocument/2006/relationships/slide" Target="slides/slide10.xml"/><Relationship Id="rId145" Type="http://schemas.openxmlformats.org/officeDocument/2006/relationships/slide" Target="slides/slide11.xml"/><Relationship Id="rId146" Type="http://schemas.openxmlformats.org/officeDocument/2006/relationships/slide" Target="slides/slide12.xml"/><Relationship Id="rId147" Type="http://schemas.openxmlformats.org/officeDocument/2006/relationships/slide" Target="slides/slide13.xml"/><Relationship Id="rId148" Type="http://schemas.openxmlformats.org/officeDocument/2006/relationships/slide" Target="slides/slide14.xml"/><Relationship Id="rId149" Type="http://schemas.openxmlformats.org/officeDocument/2006/relationships/slide" Target="slides/slide15.xml"/><Relationship Id="rId150" Type="http://schemas.openxmlformats.org/officeDocument/2006/relationships/slide" Target="slides/slide16.xml"/><Relationship Id="rId151" Type="http://schemas.openxmlformats.org/officeDocument/2006/relationships/slide" Target="slides/slide17.xml"/><Relationship Id="rId152" Type="http://schemas.openxmlformats.org/officeDocument/2006/relationships/slide" Target="slides/slide18.xml"/><Relationship Id="rId153" Type="http://schemas.openxmlformats.org/officeDocument/2006/relationships/slide" Target="slides/slide19.xml"/><Relationship Id="rId154" Type="http://schemas.openxmlformats.org/officeDocument/2006/relationships/slide" Target="slides/slide20.xml"/><Relationship Id="rId155" Type="http://schemas.openxmlformats.org/officeDocument/2006/relationships/slide" Target="slides/slide21.xml"/><Relationship Id="rId156" Type="http://schemas.openxmlformats.org/officeDocument/2006/relationships/slide" Target="slides/slide22.xml"/><Relationship Id="rId157" Type="http://schemas.openxmlformats.org/officeDocument/2006/relationships/slide" Target="slides/slide23.xml"/><Relationship Id="rId158" Type="http://schemas.openxmlformats.org/officeDocument/2006/relationships/slide" Target="slides/slide24.xml"/><Relationship Id="rId159" Type="http://schemas.openxmlformats.org/officeDocument/2006/relationships/slide" Target="slides/slide25.xml"/><Relationship Id="rId160" Type="http://schemas.openxmlformats.org/officeDocument/2006/relationships/slide" Target="slides/slide26.xml"/><Relationship Id="rId161" Type="http://schemas.openxmlformats.org/officeDocument/2006/relationships/slide" Target="slides/slide27.xml"/><Relationship Id="rId162" Type="http://schemas.openxmlformats.org/officeDocument/2006/relationships/slide" Target="slides/slide28.xml"/><Relationship Id="rId163" Type="http://schemas.openxmlformats.org/officeDocument/2006/relationships/slide" Target="slides/slide29.xml"/><Relationship Id="rId164" Type="http://schemas.openxmlformats.org/officeDocument/2006/relationships/slide" Target="slides/slide30.xml"/><Relationship Id="rId165" Type="http://schemas.openxmlformats.org/officeDocument/2006/relationships/slide" Target="slides/slide31.xml"/><Relationship Id="rId166" Type="http://schemas.openxmlformats.org/officeDocument/2006/relationships/slide" Target="slides/slide32.xml"/><Relationship Id="rId167" Type="http://schemas.openxmlformats.org/officeDocument/2006/relationships/slide" Target="slides/slide33.xml"/><Relationship Id="rId168" Type="http://schemas.openxmlformats.org/officeDocument/2006/relationships/slide" Target="slides/slide34.xml"/><Relationship Id="rId169" Type="http://schemas.openxmlformats.org/officeDocument/2006/relationships/slide" Target="slides/slide35.xml"/><Relationship Id="rId170" Type="http://schemas.openxmlformats.org/officeDocument/2006/relationships/slide" Target="slides/slide36.xml"/><Relationship Id="rId171" Type="http://schemas.openxmlformats.org/officeDocument/2006/relationships/slide" Target="slides/slide37.xml"/><Relationship Id="rId176" Type="http://schemas.openxmlformats.org/officeDocument/2006/relationships/slide" Target="slides/slide42.xml"/><Relationship Id="rId177" Type="http://schemas.openxmlformats.org/officeDocument/2006/relationships/slide" Target="slides/slide43.xml"/><Relationship Id="rId182" Type="http://schemas.openxmlformats.org/officeDocument/2006/relationships/slide" Target="slides/slide48.xml"/><Relationship Id="rId183" Type="http://schemas.openxmlformats.org/officeDocument/2006/relationships/slide" Target="slides/slide49.xml"/><Relationship Id="rId184" Type="http://schemas.openxmlformats.org/officeDocument/2006/relationships/slide" Target="slides/slide50.xml"/><Relationship Id="rId226" Type="http://schemas.openxmlformats.org/officeDocument/2006/relationships/slide" Target="slides/slide92.xml"/><Relationship Id="rId227" Type="http://schemas.openxmlformats.org/officeDocument/2006/relationships/slide" Target="slides/slide93.xml"/><Relationship Id="rId228" Type="http://schemas.openxmlformats.org/officeDocument/2006/relationships/slide" Target="slides/slide94.xml"/><Relationship Id="rId229" Type="http://schemas.openxmlformats.org/officeDocument/2006/relationships/slide" Target="slides/slide95.xml"/><Relationship Id="rId230" Type="http://schemas.openxmlformats.org/officeDocument/2006/relationships/slide" Target="slides/slide96.xml"/><Relationship Id="rId231" Type="http://schemas.openxmlformats.org/officeDocument/2006/relationships/slide" Target="slides/slide97.xml"/><Relationship Id="rId232" Type="http://schemas.openxmlformats.org/officeDocument/2006/relationships/slide" Target="slides/slide98.xml"/><Relationship Id="rId233" Type="http://schemas.openxmlformats.org/officeDocument/2006/relationships/slide" Target="slides/slide99.xml"/><Relationship Id="rId234" Type="http://schemas.openxmlformats.org/officeDocument/2006/relationships/slide" Target="slides/slide100.xml"/><Relationship Id="rId235" Type="http://schemas.openxmlformats.org/officeDocument/2006/relationships/slide" Target="slides/slide101.xml"/><Relationship Id="rId236" Type="http://schemas.openxmlformats.org/officeDocument/2006/relationships/slide" Target="slides/slide102.xml"/><Relationship Id="rId237" Type="http://schemas.openxmlformats.org/officeDocument/2006/relationships/slide" Target="slides/slide103.xml"/><Relationship Id="rId238" Type="http://schemas.openxmlformats.org/officeDocument/2006/relationships/slide" Target="slides/slide104.xml"/><Relationship Id="rId239" Type="http://schemas.openxmlformats.org/officeDocument/2006/relationships/slide" Target="slides/slide105.xml"/><Relationship Id="rId240" Type="http://schemas.openxmlformats.org/officeDocument/2006/relationships/slide" Target="slides/slide106.xml"/><Relationship Id="rId241" Type="http://schemas.openxmlformats.org/officeDocument/2006/relationships/slide" Target="slides/slide107.xml"/><Relationship Id="rId242" Type="http://schemas.openxmlformats.org/officeDocument/2006/relationships/slide" Target="slides/slide108.xml"/><Relationship Id="rId243" Type="http://schemas.openxmlformats.org/officeDocument/2006/relationships/slide" Target="slides/slide10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8.png"/><Relationship Id="rId5" Type="http://schemas.openxmlformats.org/officeDocument/2006/relationships/image" Target="../media/diag_001_os4.sv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tb9_01.sv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6" Type="http://schemas.openxmlformats.org/officeDocument/2006/relationships/image" Target="../media/image7.png"/><Relationship Id="rId7" Type="http://schemas.openxmlformats.org/officeDocument/2006/relationships/image" Target="../media/tb9_02.sv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6" Type="http://schemas.openxmlformats.org/officeDocument/2006/relationships/image" Target="../media/image8.png"/><Relationship Id="rId7" Type="http://schemas.openxmlformats.org/officeDocument/2006/relationships/image" Target="../media/tb9_03.sv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6" Type="http://schemas.openxmlformats.org/officeDocument/2006/relationships/image" Target="../media/image10.png"/><Relationship Id="rId7" Type="http://schemas.openxmlformats.org/officeDocument/2006/relationships/image" Target="../media/tb9_04.sv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6" Type="http://schemas.openxmlformats.org/officeDocument/2006/relationships/image" Target="../media/image11.png"/><Relationship Id="rId7" Type="http://schemas.openxmlformats.org/officeDocument/2006/relationships/image" Target="../media/tb9_05.sv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6" Type="http://schemas.openxmlformats.org/officeDocument/2006/relationships/image" Target="../media/image12.png"/><Relationship Id="rId7" Type="http://schemas.openxmlformats.org/officeDocument/2006/relationships/image" Target="../media/tb9_06.sv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3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6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36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6" Type="http://schemas.openxmlformats.org/officeDocument/2006/relationships/image" Target="../media/image13.png"/><Relationship Id="rId7" Type="http://schemas.openxmlformats.org/officeDocument/2006/relationships/image" Target="../media/tb9_07.sv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6" Type="http://schemas.openxmlformats.org/officeDocument/2006/relationships/image" Target="../media/image14.png"/><Relationship Id="rId7" Type="http://schemas.openxmlformats.org/officeDocument/2006/relationships/image" Target="../media/tb9_08.sv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39.png"/><Relationship Id="rId5" Type="http://schemas.openxmlformats.org/officeDocument/2006/relationships/image" Target="../media/diag_010_eco_uc.sv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0.png"/><Relationship Id="rId5" Type="http://schemas.openxmlformats.org/officeDocument/2006/relationships/image" Target="../media/diag_011_eco_cl.sv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1.png"/><Relationship Id="rId5" Type="http://schemas.openxmlformats.org/officeDocument/2006/relationships/image" Target="../media/diag_012_eco_at.sv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2.png"/><Relationship Id="rId5" Type="http://schemas.openxmlformats.org/officeDocument/2006/relationships/image" Target="../media/diag_013_eco_sq.sv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6" Type="http://schemas.openxmlformats.org/officeDocument/2006/relationships/image" Target="../media/image15.png"/><Relationship Id="rId7" Type="http://schemas.openxmlformats.org/officeDocument/2006/relationships/image" Target="../media/tb9_09.sv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6" Type="http://schemas.openxmlformats.org/officeDocument/2006/relationships/image" Target="../media/image16.png"/><Relationship Id="rId7" Type="http://schemas.openxmlformats.org/officeDocument/2006/relationships/image" Target="../media/tb9_10.sv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5.png"/><Relationship Id="rId5" Type="http://schemas.openxmlformats.org/officeDocument/2006/relationships/image" Target="../media/diag_016_park_at.sv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6.png"/><Relationship Id="rId5" Type="http://schemas.openxmlformats.org/officeDocument/2006/relationships/image" Target="../media/diag_017_park_sq.sv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6" Type="http://schemas.openxmlformats.org/officeDocument/2006/relationships/image" Target="../media/image17.png"/><Relationship Id="rId7" Type="http://schemas.openxmlformats.org/officeDocument/2006/relationships/image" Target="../media/tb9_11.sv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6" Type="http://schemas.openxmlformats.org/officeDocument/2006/relationships/image" Target="../media/image18.png"/><Relationship Id="rId7" Type="http://schemas.openxmlformats.org/officeDocument/2006/relationships/image" Target="../media/tb9_12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650000"/>
            <a:ext cx="720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800" b="1" i="0">
                <a:solidFill>
                  <a:srgbClr val="B8CCE8"/>
                </a:solidFill>
                <a:latin typeface="Calibri"/>
              </a:rPr>
              <a:t>Aula 9</a:t>
            </a:r>
          </a:p>
          <a:p>
            <a:pPr>
              <a:spcAft>
                <a:spcPts val="10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Revisão Integradora UML — os 4 diagramas juntos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Técnico em Desenvolvimento de Sistemas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Turma 103513  ·  15/10/2026  ·  07:30–11:30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07:30 - 07:35  Abertura e agenda do dia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07:35 - 08:30  Novo assunto: os 4 diagramas juntos - o TechBurger de ponta a ponta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08:30 - 08:45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08:45 - 09:05  Mapa do draw.io e exemplo guiado: resgatar combo grátis (TechBurger)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09:05 - 10:05  Atividade 1 em grupo: EcoBike nos 4 diagramas + correção coletiva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10:05 - 10:15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10:15 - 10:45  Atividade 2 individual: matriz de rastreabilidade + encontre as incoerências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10:45 - 11:20  Atividade 3 em duplas: revisão geral das Aulas 1 a 9 (ParkFácil)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11:20 - 11:30  Fechamento do bloco de UML e encerramento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NOVO ASSUNTO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Os 4 diagramas trabalhando juntos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Um sistema, quatro vistas - e todas precisam contar a mesma história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Antes de começar: vamos pensar juntos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Nas Aulas 4 a 8 vocês desenharam o TechBurger em 4 diagramas diferentes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 se a atividade disser [mais de 10 itens?] e a sequência disser opt [mais de 5 itens]?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 se a sequência chamar validarEndereco() e a classe Entrega só tiver validarRaio()?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Qual dos dois está certo? Quem vai programar segue qual?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Hoje: como fazer os 4 diagramas conversarem - e como conferir se conversam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Um sistema, várias vistas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Uma casa tem planta baixa, projeto elétrico e hidráulico: vistas da MESMA casa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 a tomada do projeto elétrico cai no meio de uma porta da planta baixa, alguém errou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 UML é igual: cada diagrama mostra um lado do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Nenhum diagrama sozinho conta a história inteira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Juntos, e coerentes, viram a especificação que a equipe usa para programar e testar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Os 4 diagramas e como eles se ligam</a:t>
            </a:r>
          </a:p>
        </p:txBody>
      </p:sp>
      <p:pic>
        <p:nvPicPr>
          <p:cNvPr id="12" name="Picture 11" descr="os4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072694" y="2900000"/>
            <a:ext cx="10054612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Cada diagrama responde uma pergunta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Casos de uso: O QUE o sistema oferece, e PARA QUEM?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Classes: QUAIS DADOS existem, e COMO se ligam?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Atividades: qual o PASSO A PASSO, e QUEM faz cada passo?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Sequência: QUEM CHAMA QUEM, e em que ORDEM?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Por trás de todos: as regras de negócio (Aula 1) e os requisitos (Aulas 2 e 3)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Estrutural x comportamental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Estrutural: o que o sistema 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Diagrama de classes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Fotografia do sistema parado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Um diagrama para o sistema todo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Muda pouco com o tempo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Comportamental: o que ele FAZ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Casos de uso, atividades, sequência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Filme do sistema em ação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Um diagrama por processo ou cenário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Um novo a cada funcionalidade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Em que ordem trabalhar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Ler o texto do cliente e listar as regras de negócio (Aula 1)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Escrever os requisitos e os critérios de aceite (Aulas 2 e 3)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Desenhar os casos de uso: quem usa e para quê (Aula 4)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Desenhar as classes, com cardinalidade (Aulas 5 e 6)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Para os casos de uso principais: atividades (Aula 7) e sequência (Aula 8)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Conferir a coerência entre todos - e voltar para corrigir o que for preciso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É um vai e volta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Ninguém acerta o diagrama de classes de primeira: a sequência mostra o método que faltou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atividade revela uma decisão que não estava nas regras: volte e pergunte ao cliente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 caso de uso sem fluxo definido costuma esconder regras não ditas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diagrama novo é uma revisão dos anteriores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Por isso se diz que a modelagem é ITERATIVA: desenha, confere, corrige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Do texto ao modelo: a técnica dos grifos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SUBSTANTIVOS: candidatos a classes, atributos e atores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VERBOS: candidatos a casos de uso, ações e métodos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 / SENÃO / QUANDO: decisões (atividades) e alt ou opt (sequência)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PARA CADA / ATÉ / REPETE: laço (atividades) e loop (sequência)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AO MESMO TEMPO / ENQUANTO: bifurcação e união, par ou mensagem assíncrona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NÚMEROS: cardinalidades e guardas (R$ 15,00, 5 km, 10 itens)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Os grifos no texto do TechBurger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“pedidos do APP só confirmam com VALOR TOTAL de R$ 15,00 ou mais” → Pedido.canal, /valorTotal e uma decisão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“ASSIM QUE o PAGAMENTO é CONFIRMADO, o pedido vai para a COZINHA” → «include» Confirmar Pagamento e alt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“PIX pelo app tem 5% de DESCONTO” → «extend» Aplicar Desconto PIX; aplicarDesconto()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“ENTREGA só ATÉ 5 KM” → Pedido 1 —— 0..1 Entrega; validarRaio(); [endereço a até 5 km?]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“MAIS DE 10 ITENS exigem confirmação do GERENTE” → ator Gerente; [mais de 10 itens?] e opt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rápido: para onde vai?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“Cliente” (a pessoa que usa o app)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“cada pedido pode ter uma entrega”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“se o pagamento for recusado, cancela o pedido”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“para cada item do carrinho, confere o estoque”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“o sistema calcula o valor total do pedido”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“a cozinha prepara enquanto o sistema credita os pontos”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Respostas - para onde vai?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Ator (casos de uso), raia (atividades) e primeiro participante (sequência)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Cardinalidade: Pedido 1 —— 0..1 Entrega (classes)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Decisão com guardas (atividades) e alt (sequência)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Laço (atividades) e loop (sequência)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Ação na raia do Sistema e método calcularValorTotal() de Pedido (mensagem na sequência)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Bifurcação e união (atividades); par ou mensagem assíncrona (sequência)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EXEMPLO RESOLVIDO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TechBurger de ponta a ponta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O mesmo sistema nos 4 diagramas - e uma regra atravessando todos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fio condutor: a regra do pagamento em 7 artefatos</a:t>
            </a:r>
          </a:p>
        </p:txBody>
      </p:sp>
      <p:pic>
        <p:nvPicPr>
          <p:cNvPr id="12" name="Picture 11" descr="fio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00000" y="4005311"/>
            <a:ext cx="16400000" cy="433937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Lendo o fio condutor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regra nasce no texto do cliente (Aula 1) e vira RF e critério de aceite (Aulas 2 e 3)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No caso de uso vira «include»: todo Fazer Pedido pelo App passa por Confirmar Pagamento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Nas classes vira Pedido 1 —— 0..1 Pagamento, o status e o método confirmar() de Pagamento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 atividade vira a decisão [pagamento confirmado?]; na sequência, o alt [resultado = aprovado]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 um artefato mandar o pedido à cozinha ANTES de confirmar, o modelo está INCOERENTE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TechBurger: casos de uso (Aula 4)</a:t>
            </a:r>
          </a:p>
        </p:txBody>
      </p:sp>
      <p:pic>
        <p:nvPicPr>
          <p:cNvPr id="12" name="Picture 11" descr="tb_cu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616177" y="2900000"/>
            <a:ext cx="10967645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Lendo os casos de uso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Atores: Cliente, Atendente de Balcão e Gerente (tipos de Funcionário), Cozinha e Sistema de Pagamento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Fazer Pedido pelo App «include» Confirmar Pagamento: todo pedido pelo app passa pela confirmação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Aplicar Desconto PIX «extend» Confirmar Pagamento: só quando o cliente paga com PIX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Sugerir Item Substituto e Recusar Pedido de Cliente Bloqueado «extend» Fazer Pedido pelo App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TechBurger: classes com cardinalidade (Aulas 5 e 6)</a:t>
            </a:r>
          </a:p>
        </p:txBody>
      </p:sp>
      <p:pic>
        <p:nvPicPr>
          <p:cNvPr id="12" name="Picture 11" descr="tb_cl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585165" y="2900000"/>
            <a:ext cx="9029669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Lendo as classes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1 —— 0..1 Pagamento: o pedido nasce antes de o pagamento ser confirmado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1 —— 0..1 Entrega: pedido de retirada no balcão não tem Entrega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/valorTotal é derivado: a soma dos ItemPedido, calculada por calcularValorTotal()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Em laranja: adicionarItem(), validar(), cancelar() e calcularPontos() vieram da sequência da Aula 8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Atendente e Gerente herdam de Funcionario: herança não tem números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TechBurger: atividades “Fazer pedido pelo app” (Aula 7) - parte 1</a:t>
            </a:r>
          </a:p>
        </p:txBody>
      </p:sp>
      <p:pic>
        <p:nvPicPr>
          <p:cNvPr id="12" name="Picture 11" descr="tb_at1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50904" y="2900000"/>
            <a:ext cx="8898191" cy="6549999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TechBurger: atividades “Fazer pedido pelo app” (Aula 7) - parte 2</a:t>
            </a:r>
          </a:p>
        </p:txBody>
      </p:sp>
      <p:pic>
        <p:nvPicPr>
          <p:cNvPr id="12" name="Picture 11" descr="tb_at2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871234" y="2900000"/>
            <a:ext cx="10457531" cy="6549999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TechBurger: sequência “Pedido pelo app com PIX” (Aula 8) - parte 1</a:t>
            </a:r>
          </a:p>
        </p:txBody>
      </p:sp>
      <p:pic>
        <p:nvPicPr>
          <p:cNvPr id="12" name="Picture 11" descr="tb_sq1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202859" y="2900000"/>
            <a:ext cx="13794281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Conferindo atividades x sequência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No diagrama de atividades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Raias: Cliente, Sistema, Cozinha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Decisão [pagamento confirmado?]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Decisão [mais de 10 itens?]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Bifurcação: Cozinha prepara e Sistema credita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No diagrama de sequência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Ator Cliente + :App e objetos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alt [resultado = aprovado]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opt [mais de 10 itens]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13: enviarPedido() assíncrona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Nem toda diferença é incoerência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atividade tem 6 decisões; a sequência só passa por 2 (o cenário é entrega, PIX, estoque ok)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sequência mostra UM cenário; a atividade mostra TODOS os caminhos: é esperado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atividade tem ações humanas (“Prepara o pedido”); a sequência, só as chamadas do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Incoerência é quando um diagrama diz uma coisa DIFERENTE do outro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Mostrar MENOS não é incoerência; mostrar DIFERENTE é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Regras de coerência: os NOMES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ator do caso de uso é a raia da atividade e o 1º participante da sequência - mesmo nome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Todo participante :X é uma classe X (exceção: :App ou :Sistema, que fazem o papel da tela)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Toda mensagem recebida por :X é um método da classe X - com a mesma grafia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Todo atributo usado numa guarda existe na classe ([valor total ≥ R$ 15,00?] usa /valorTotal)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cardinalidades batem com as regras (0..1 = no máximo um pagamento por pedido)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Regras de coerência: o COMPORTAMENTO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decisão da atividade vira alt ou opt na sequência (se o cenário passa por ela)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Laço vira loop; bifurcação e união viram par ou mensagem assíncrona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«include» = passos que SEMPRE aparecem no fluxo; «extend» = trecho opcional (opt)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ORDEM das regras é a mesma: validar antes de cobrar, cobrar antes de entregar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Nenhuma regra de negócio pode sumir no caminho de um diagrama para outro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Tabela de equivalências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Num diagrama...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Ator (casos de uso)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Substantivo do texto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Caso de uso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Regra com número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Decisão (atividades)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«extend» (casos de uso)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...aparece no outro como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Raia e 1º participante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Classe ou atributo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Fluxo e cenários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Cardinalidade ou guarda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alt ou opt (sequência)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opt ou caminho opcional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Matriz de rastreabilidade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Uma tabela com uma linha por REGRA e uma coluna por artefato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Em cada célula: ONDE a regra aparece naquele diagrama, com o nome exato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Célula vazia = lacuna: a regra sumiu ali (ou não se aplica - e é preciso dizer por quê)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o que o mercado usa para provar que todo requisito foi modelado e testado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 Atividade 2 de hoje vocês vão montar a matriz da EcoBike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Exemplo: a regra do pagamento na matriz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Regra: o pedido só vai para a cozinha com o pagamento confirmado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RF: “bloquear o envio à cozinha até o pagamento ser confirmado”  ·  Caso de uso: Confirmar Pagamento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Classes: Pedido 1 —— 0..1 Pagamento; Pagamento.status e confirmar()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Atividades: decisão [pagamento confirmado?]  ·  Sequência: alt [resultado = aprovado] antes de 13: enviarPedido()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Erros de coerência mais comuns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mesmo papel com nomes diferentes: Atendente de Balcão num diagrama, Caixa no outro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Mensagem que não é método da classe: validarEndereco() x validarRaio()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Participante na sequência que não existe no diagrama de classes (:Cardapio)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Cardinalidade que contradiz a regra: Pedido 1 —— 1 Entrega, se retirada não tem entrega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Guarda invertida, ou usando um atributo que não existe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Ordem diferente: a atividade valida antes de cobrar, a sequência cobra antes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rápido: coerente ou incoerente?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Caso de uso com o ator Gerente; na atividade, a raia se chama Supervisor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A sequência envia validarRaio() à :Entrega; a classe Entrega tem + validarRaio()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A atividade tem 6 decisões; a sequência “pedido aprovado” tem só 1 alt e 1 opt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Pedido 1 —— 0..1 Pagamento; a sequência cria DOIS :Pagamento para o mesmo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A atividade confere o estoque antes de cobrar; a sequência cobra e depois confere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Respostas - coerente ou incoerente?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Incoerente: o mesmo papel precisa ter o mesmo nome nos dois diagramas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Coerente: a mensagem é um método da classe de quem recebe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Coerente: a sequência mostra UM cenário; os outros caminhos ficam na atividade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Incoerente: a cardinalidade diz no máximo 1 pagamento por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Incoerente: a ordem das regras precisa ser a mesma nos dois diagramas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mesmo nível de detalhe em todos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Atividade com 20 ações e sequência com 3 mensagens: algo ficou de fora (ou sobrou)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Classes: só as que aparecem nos casos de uso e nas regras - sem inventar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Atividades e sequência: as regras e as integrações importantes, não cada clique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 diagrama por processo ou cenário, com o mesmo nome em todos os diagramas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Trabalhando em equipe no mesmo modelo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 arquivo .drawio, uma página por diagrama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Combinem os nomes ANTES: atores, classes e métodos numa lista na primeira página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Dividam os diagramas, mas façam revisão cruzada: quem fez a sequência revisa as classes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Usem a matriz de rastreabilidade como checklist final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assim que vai funcionar no Projeto Integrador (Aulas 16 a 19)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EXEMPLO GUIADO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Resgatar combo grátis: uma regra nova nos 4 diagramas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Vamos construir juntos, ao vivo, no draw.io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Mapa do draw.io: os 4 diagramas numa aula só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Tudo sai do painel da esquerda: a paleta UML (clique em “UML”) e a paleta Geral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Ao parar o mouse sobre um ícone, o draw.io mostra o nome dele em inglês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Casos de uso e classes no TOPO da paleta UML; atividades no meio; sequência no FIM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 arquivo por grupo, uma página por diagrama (botão “+” embaixo)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cola completa está no slide 46 e na seção 6.1 da Apostila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Mapa do draw.io: as partes da tela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8605" y="2900000"/>
            <a:ext cx="10662790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Casos de uso e classes: o topo da paleta UML</a:t>
            </a:r>
          </a:p>
        </p:txBody>
      </p:sp>
      <p:pic>
        <p:nvPicPr>
          <p:cNvPr id="12" name="Picture 11" descr="uml_paleta_uc_class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9362" y="2900000"/>
            <a:ext cx="12821276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Atividades: o meio da paleta UML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6027" y="2900000"/>
            <a:ext cx="9187945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Atividades: a raia e o nó final de fluxo (fora da paleta UML)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000" y="3761084"/>
            <a:ext cx="16400000" cy="4827832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Sequência: o fim da paleta UML</a:t>
            </a:r>
          </a:p>
        </p:txBody>
      </p:sp>
      <p:pic>
        <p:nvPicPr>
          <p:cNvPr id="12" name="Picture 11" descr="seq_paleta_um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3557" y="2900000"/>
            <a:ext cx="12132885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Cola do draw.io: os 4 diagramas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Casos de uso: UML › “Actor” e “Use Case”; fronteira = Geral › “Rectangle”; «include»/«extend» = “Dependency”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Classes: UML › “Class”; associação com cardinalidade = UML › “Relation 2”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Classes: agregação/composição = “Aggregation 1”/“Composition 1”; herança = “Generalization”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Atividades: UML › “Start”, “Activity”, “Condition”, “Fork/Join”, “End”; raias = Geral › “Vertical Container”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Sequência: UML › “Actor Lifeline”, “Lifeline”, “Activation Bar”, “Message”, “Return”, “Frame”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Rótulos e guardas: duplo clique na forma ou na seta  ·  Ctrl+D duplica  ·  Ctrl+Z desfaz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Setas: passe o mouse sobre a forma e arraste uma das setas azuis até a outra forma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 regra nova do cliente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cliente vai poder resgatar o combo grátis pelo app, no carrinho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Só resgata quem tem 100 pontos ou mais; o resgate zera os pontos (Regra 2, Aula 1)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NOVA da gerente Fernanda: só 1 combo grátis por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combo entra no pedido com preço R$ 0,00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Pergunta para a turma: o que muda em cada um dos 4 diagramas?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Passo a passo (1): casos de uso e classes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Casos de uso: Resgatar Combo Grátis JÁ existe (Aula 4), ligado ao ator Cliente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Classes: a regra nova vira método do Pedido: + temComboGratis(): Booleano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Classes: a regra dos 100 pontos vira método do Cliente: + podeResgatar(): Booleano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Classes: resgatarCombo() já existia (Aula 5) e zera os pontos; Pedido ganha + adicionarComboGratis()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Reparem: uma regra nova obrigou a mexer no diagrama de classes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Passo a passo (2): atividades e sequência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Abram “Aula 9 - Exemplo Guiado (ponto de partida).drawio”: raias e participantes prontos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Atividades: Pede o combo grátis no carrinho → [o pedido já tem um combo grátis?]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[não] → [tem 100 pontos ou mais?] → [sim] → Zera os pontos → Adiciona o combo (R$ 0,00)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Sequência: 1: pedirComboGratis(), 2: temComboGratis() no :Pedido e 3: podeResgatar() no :Cliente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alt [temCombo = falso e pode = verdadeiro]: 4: resgatarCombo() e 5: adicionarComboGratis()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[senão]: o app devolve o motivoRecusa ao cliente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Resultado: atividades “Resgatar combo grátis”</a:t>
            </a:r>
          </a:p>
        </p:txBody>
      </p:sp>
      <p:pic>
        <p:nvPicPr>
          <p:cNvPr id="12" name="Picture 11" descr="eg_at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25000" y="2900000"/>
            <a:ext cx="6550000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Resultado: sequência “Resgatar combo grátis”</a:t>
            </a:r>
          </a:p>
        </p:txBody>
      </p:sp>
      <p:pic>
        <p:nvPicPr>
          <p:cNvPr id="12" name="Picture 11" descr="eg_sq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136265" y="2900000"/>
            <a:ext cx="11927469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do exemplo guiado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regra aparece nos 4? (caso de uso existente, métodos novos, 2 decisões, alt)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nomes batem? Cliente é ator, raia e participante; :Pedido e :Cliente são classes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temComboGratis(), podeResgatar(), resgatarCombo() e adicionarComboGratis() estão nas classes?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duas decisões da atividade viraram UM alt com as duas condições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ordem é a mesma: primeiro conferir, depois zerar os pontos e adicionar o combo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ATIVIDADE PRÁTICA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Os 4 diagramas da EcoBike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50 minutos, em grupo, no draw.io (12 minutos por diagrama)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 prática 1 - o que fazer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Grupos de 3 a 4: modelem a EcoBike nos 4 diagramas, no MESMO arquivo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Partam do “Aula 9 - Atividade 1 EcoBike (ponto de partida).drawio”: 4 páginas prontas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Cronômetro: 12 minutos por diagrama - casos de uso, classes, atividades, sequência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Antes de começar (2 min): façam os grifos no texto e combinem os NOMES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Ao final, conferência de coerência com o checklist: é ela que mais vale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cenário EcoBike (parte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EcoBike é uma loja que vende bicicletas e faz manutenção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cliente pode comprar uma bicicleta ou agendar uma manutenção (revisão, peças, marchas)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 manutenção, um mecânico avalia a bicicleta e gera um orçamento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cliente precisa APROVAR o orçamento antes de o serviço começar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 o cliente recusar o orçamento, a ordem de serviço é encerrada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cenário EcoBike (parte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Concluído o serviço, o cliente é notificado para retirar a bicicleta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pagamento é feito na retirada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gerente acompanha o estoque de peças e de bicicletas à venda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ordem de serviço é de UMA bicicleta e é atendida por UM mecânico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Uma ordem gera no máximo um orçamento e no máximo um pagamento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Cronograma da atividade (50 min)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0 a 2 min: grifos no texto e lista de nomes (atores, classes) na página 1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2 a 14 min: casos de uso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14 a 26 min: classes, com cardinalidade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26 a 38 min: atividades, do agendamento até a retirada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38 a 50 min: sequência do mesmo fluxo + conferência de coerência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No draw.io, para a atividade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Arquivo › Abrir: o ponto de partida já tem as 4 páginas nomeadas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Casos de uso: UML › “Actor” e “Use Case”; a fronteira “EcoBike” já está pronta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Classes: UML › “Class” e “Relation 2” (cardinalidade nas duas pontas)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Atividades: Geral › “Vertical Container” (raias); UML › “Start”, “Activity”, “Condition”, “End”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Sequência: UML › “Actor Lifeline”, “Lifeline”, “Message”, “Return”, “Frame”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Esqueceu onde fica? Cola do draw.io (slide 46) e seção 6.1 da Apostila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Pistas para o grupo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Substantivos que viram classes: cliente, bicicleta, ordem de serviço, orçamento, mecânico, pagamento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“precisa APROVAR antes” = uma decisão (atividades) e um passo obrigatório (sequência)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“UMA bicicleta”, “UM mecânico”, “no máximo um”: as cardinalidades estão no texto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 é ator (a pessoa) e também classe (os dados dela)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Casos de uso começam com verbo: Agendar Manutenção, Aprovar Orçamento...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da atividade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4 diagramas, uma página cada, dentro do tempo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mesmos nomes em todos: ator = raia = participante; classe = participante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Cardinalidades justificadas pelo texto (UMA bicicleta, no máximo um orçamento)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Decisão [cliente aprova o orçamento?] com as duas saídas na atividade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Mensagens da sequência na mesma ordem das ações da atividade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Dicas para o grupo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 lê o texto e controla o tempo; os outros desenham - troquem a cada diagrama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Acabou o tempo? Passem para o próximo: incompleto e coerente vale mais que metade perfeita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Deixem na página 1 a lista de nomes combinados e usem SEMPRE ela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Nos 2 minutos finais, leiam a atividade e a sequência lado a lado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CORREÇÃO COLETIVA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Resposta-modelo: EcoBike nos 4 diagramas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Comparem com o que cada grupo produziu - o que mais importa é a coerência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Resposta-modelo - casos de uso</a:t>
            </a:r>
          </a:p>
        </p:txBody>
      </p:sp>
      <p:pic>
        <p:nvPicPr>
          <p:cNvPr id="12" name="Picture 11" descr="eco_uc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45165" y="2900000"/>
            <a:ext cx="9509670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Resposta-modelo - classes</a:t>
            </a:r>
          </a:p>
        </p:txBody>
      </p:sp>
      <p:pic>
        <p:nvPicPr>
          <p:cNvPr id="12" name="Picture 11" descr="eco_cl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05223" y="2900000"/>
            <a:ext cx="10789554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Resposta-modelo - atividades</a:t>
            </a:r>
          </a:p>
        </p:txBody>
      </p:sp>
      <p:pic>
        <p:nvPicPr>
          <p:cNvPr id="12" name="Picture 11" descr="eco_at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56157" y="2900000"/>
            <a:ext cx="5687685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Resposta-modelo - sequência</a:t>
            </a:r>
          </a:p>
        </p:txBody>
      </p:sp>
      <p:pic>
        <p:nvPicPr>
          <p:cNvPr id="12" name="Picture 11" descr="eco_sq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57515" y="2900000"/>
            <a:ext cx="8284970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Lendo a resposta-modelo: a coerência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 e Mecânico: atores (casos de uso), raias (atividades) e participantes (sequência)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Aprovar Orçamento = decisão [cliente aprova o orçamento?] = 6: aprovarOrcamento()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OrdemServico 1 —— 0..1 Orcamento: “no máximo um orçamento”, direto do texto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Notificar e pagar aparecem nos 3 comportamentais, na mesma ordem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Gerenciar Estoque (Gerente) só está nos casos de uso: não faz parte do fluxo de manutenção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Diferenças plausíveis entre grupos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Gerar Orçamento como «include» de Avaliar Bicicleta: aceitável, se justificado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decisão na raia do Cliente em vez do Sistema: aceitável (o sistema só registra)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Participantes :OrdemServico e :Orcamento na sequência: ótima melhoria, se estiverem nas classes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Métodos nas classes (aprovar(), gerarOrcamento()): melhoria bem-vinda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NÃO aceitar: nomes diferentes para o mesmo papel, cardinalidade sem justificativa, decisão sem guarda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ATIVIDADE PRÁTICA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Matriz de rastreabilidade da EcoBike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20 minutos, individual (15 de trabalho + 5 de correção)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 prática 2 - o que fazer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Sozinho(a): monte a matriz de rastreabilidade de 4 regras da EcoBike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Uma linha por regra; colunas: RF, caso de uso, classes, atividades, sequência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Use o modelo do seu grupo e a resposta-modelo da correção (slides 63 a 66)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Célula vazia = lacuna: diga se a regra SUMIU ali ou se não se aplica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No fim, responda: qual regra tem uma lacuna na sequência? Como corrigir?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As 4 regras da EcoBike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R1 - O serviço só começa depois que o cliente aprova o orçamento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R2 - Orçamento recusado encerra a ordem de serviço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R3 - Concluído o serviço, o cliente é notificado para retirar a bicicleta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R4 - O pagamento é feito na retirada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Exemplo pronto do formato (TechBurger)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Regra: pagamento via PIX pelo app tem 5% de desconto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RF: “aplicar 5% de desconto no pagamento via PIX pelo app”  ·  Caso de uso: Aplicar Desconto PIX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Classes: Pagamento.forma; aplicarDesconto(): Real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Atividades: ação “Aplica 5% de desconto (PIX)”  ·  Sequência: 8: aplicarDesconto() → valorComDesconto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da atividade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4 linhas preenchidas, com o NOME exato do elemento em cada diagrama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Toda célula vazia tem explicação: lacuna ou “não se aplica”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lacuna da R2 na sequência foi encontrada - e a correção foi proposta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RF começam com “O sistema deve...”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 - matriz (R1 e R2)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R1: RF “registrar a aprovação antes de liberar o serviço” · Aprovar Orçamento · Orcamento.status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R1: decisão [cliente aprova o orçamento?] · 6: aprovarOrcamento() e 7: autorizarServico()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R2: RF “encerrar a ordem se o orçamento for recusado” · Aprovar Orçamento · OrdemServico.status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R2: [não] → Encerra a ordem de serviço · Sequência: LACUNA - só o cenário aprovado foi desenhado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Correção: alt [aprovado] / [recusado] em volta das mensagens 6 e 7, com encerrarOrdem()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 - matriz (R3 e R4)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R3: RF “notificar o cliente quando o serviço for concluído” · Retirar Bicicleta · OrdemServico.status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R3: Notifica que a bicicleta está pronta · 9: notificarBicicletaPronta()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R4: RF “registrar o pagamento na retirada” · Efetuar Pagamento · OrdemServico 1 —— 0..1 Pagamento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R4: Efetua o pagamento · 10: efetuarPagamento(valor)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matriz achou o que o olho não viu: a sequência cobria só o cenário feliz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ENCONTRE AS INCOERÊNCIAS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Classes x sequência: 6 incoerências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Em duplas: 6 minutos para achar, explicar e corrigir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Encontre as incoerências - o que fazer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O próximo slide tem as regras, um diagrama de classes e uma sequência do TechBurger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Há 6 incoerências: entre os diagramas, ou entre um diagrama e a regra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Marquem cada uma e digam QUAL regra de coerência foi violada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Escrevam como ficaria a correção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Sem consultar a Apostila nos primeiros 5 minutos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Encontre as 6 incoerências (em duplas)</a:t>
            </a:r>
          </a:p>
        </p:txBody>
      </p:sp>
      <p:pic>
        <p:nvPicPr>
          <p:cNvPr id="12" name="Picture 11" descr="ei1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372129" y="2900000"/>
            <a:ext cx="9455742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As 6 incoerências marcadas</a:t>
            </a:r>
          </a:p>
        </p:txBody>
      </p:sp>
      <p:pic>
        <p:nvPicPr>
          <p:cNvPr id="12" name="Picture 11" descr="ei2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96207" y="2900000"/>
            <a:ext cx="9607586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Incoerências e correções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1..* contradiz a regra (no máximo um pagamento por pedido): Pedido 1 —— 0..1 Pagamento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Ator “Comprador”: nos outros diagramas é Cliente - usar o mesmo nome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aplicarCupom() não é método de Pagamento: 2: aplicarDesconto()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Guarda invertida: o pedido só é confirmado com pagamento aprovado - alt [resultado = aprovado]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:NotaFiscal não existe no diagrama de classes: criar a classe ou tirar o participante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A guarda do opt usa forma, que falta em Pagamento: acrescentar - forma: String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ATIVIDADE PRÁTICA 3 - REVISÃO GERAL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Do texto ao modelo: ParkFácil, das Aulas 1 a 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35 minutos, em duplas, no caderno e no draw.io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mais uma revisão?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Atividade 1 treinou os 4 diagramas; esta treina o caminho INTEIRO, desde o texto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Regras → requisitos → critério de aceite → casos de uso → classes → comportamento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Domínio novo: um estacionamento, que nunca apareceu no curso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o formato das avaliações e do Projeto Integrador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Cenário ParkFácil (parte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ParkFácil é o estacionamento de um shopping e quer um aplicativo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 entrada, a cancela lê a placa do veículo e registra a hora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primeiros 15 minutos são gratuitos (tolerância)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Depois: R$ 8,00 pela 1ª hora e R$ 3,00 por hora adicional, com teto de R$ 40,00 por dia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Mensalistas não pagam por uso; cada mensalista pode cadastrar até 2 veículos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Cenário ParkFácil (parte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pagamento é feito no app (cartão ou PIX), num sistema de pagamento externo, antes de sair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Depois de pagar, o motorista tem 15 minutos para sair; passou disso, paga a diferença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operador do estacionamento pode liberar a cancela manualmente em caso de problema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app mostra as vagas livres em até 2 segundos e funciona em Android e iOS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Tarefas - partes A, B e C (Aulas 1 a 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A: 3 regras de negócio como Condição / Ação / Exceção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B: 3 requisitos funcionais e 2 não funcionais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C: 1 critério de aceite (Dado / Quando / Então) para a tolerância de 15 minutos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Tarefas - partes D, E e F (Aulas 4 a 8)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D: atores e pelo menos 4 casos de uso, com 1 «include» ou «extend»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E: 4 classes com 2 atributos e 1 método cada, e os relacionamentos COM cardinalidade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F: UM diagrama de comportamento, à escolha: atividades “Sair do estacionamento”...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... OU sequência “Pagar estadia pelo app” (não pago, mais de 15 min)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Tempo: 8 min para A-C, 12 min para D-E, 10 min para F; os últimos 5 são da correção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No draw.io, para a atividade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a D podem ser feitas no caderno; E e F vão no draw.io (Arquivo › Novo, uma página cada)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E: UML › “Class” e “Relation 2” - a cardinalidade sai do texto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 atividades: raias com Geral › “Vertical Container”; UML › “Start”, “Activity”, “Condition”, “End”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 sequência: UML › “Actor Lifeline”, “Lifeline”, “Message”, “Return”, “Frame”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Esqueceu onde fica? Cola do draw.io (slide 46) e seção 6.1 da Apostila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da atividade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tolerância de 15 minutos aparece em A, C e F?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“até 2 veículos” virou cardinalidade em E?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ações ou mensagens de F usam os métodos das classes de E?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Operador e Sistema de Pagamento aparecem como atores em D?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nomes são os mesmos de uma parte para outra?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CORREÇÃO COLETIVA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Resposta-modelo: ParkFácil de ponta a ponta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Comparem parte por parte - o importante é a coerência entre as partes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 - parte A: regras de negócio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Tolerância: Condição - até 15 min no pátio · Ação - saída sem cobrança · Exceção - nenhuma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Tarifa: Condição - mais de 15 min · Ação - R$ 8,00 + R$ 3,00 por hora adicional · Exceção - teto R$ 40,00/dia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Mensalista: Condição - veículo de mensalista ativo · Ação - sai sem pagar · Exceção - mensalidade vencida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Também aceitável: 15 minutos para sair depois de pagar; senão, paga a diferença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 - partes B e 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RF: registrar a entrada pela placa · calcular o valor · pagar pelo app · liberar a saída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RNF: mostrar as vagas livres em até 2 s (desempenho) · Android e iOS (portabilidade)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C: Dado um veículo que entrou há 12 minutos, Quando o motorista pede para sair,...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... Então o sistema libera a saída sem cobrança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 - parte D: casos de uso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Atores: Motorista, Operador e Sistema de Pagamento (ator externo)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Motorista: Consultar Vagas, Consultar Valor, Pagar Estadia, Sair do Estacionamento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Operador: Liberar Cancela Manualmente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«include»: Pagar Estadia inclui Calcular Valor (sempre acontece)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«extend»: Pagar Diferença estende Sair do Estacionamento (só se passou dos 15 min)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 - parte E: classes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Veiculo: - placa, - modelo; + estaNoPatio(): Booleano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Estadia: - entrada, - saida, - /valor; + calcularValor(): Real, + registrarPagamento(valor)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Pagamento: - forma, - valor, - dataHora; + confirmar()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Mensalista: - nome, - validade; + estaAtivo(): Booleano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 - parte E: relacionamentos e cardinalidade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Veiculo 1 —— 0..* Estadia: o veículo volta muitas vezes; cada estadia é de um veículo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Estadia 1 —— 0..* Pagamento: tolerância e mensalista não pagam; a diferença é outro pagamento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Mensalista 0..1 —— 1..2 Veiculo: “até 2 veículos”; nem todo veículo é de mensalista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Todos os números saíram do texto - nenhum foi inventado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 - parte F: atividades “Sair do estacionamento”</a:t>
            </a:r>
          </a:p>
        </p:txBody>
      </p:sp>
      <p:pic>
        <p:nvPicPr>
          <p:cNvPr id="12" name="Picture 11" descr="park_at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330942" y="2900000"/>
            <a:ext cx="5538116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 - parte F: sequência “Pagar estadia pelo app”</a:t>
            </a:r>
          </a:p>
        </p:txBody>
      </p:sp>
      <p:pic>
        <p:nvPicPr>
          <p:cNvPr id="12" name="Picture 11" descr="park_sq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884544" y="2900000"/>
            <a:ext cx="8430912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fio condutor da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tolerância de 15 min aparece como regra (A), critério de aceite (C) e decisão (F)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“até 2 veículos” virou a cardinalidade 1..2 (E)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calcularValor() é método de Estadia (E), ação na atividade e mensagem 2 na sequência (F)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Sistema de Pagamento é ator (D) e participante (F)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Simples e coerente vale mais que grande e contraditório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Erros comuns ao integrar os diagramas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Desenhar cada diagrama do zero, sem olhar os outros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Mudar um diagrama e esquecer de atualizar os outros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Inventar classes e métodos que o texto não pede - e esquecer os que ele pede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Deixar a regra de negócio só na cabeça: ela precisa estar nos modelos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Gastar todo o tempo no primeiro diagrama e não fazer os outros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Boas práticas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Comecem pelas regras e combinem os nomes antes de desenhar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 arquivo, uma página por diagrama, os mesmos nomes em todos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cada diagrama novo, revisem os anteriores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Usem a matriz de rastreabilidade como checklist final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Prefiram simples e coerente a grande e contraditório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Fechamento do bloco de UML (Aulas 3 a 9)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Aula 3: modelagem e UML  ·  Aula 4: casos de uso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Aulas 5 e 6: classes e cardinalidade  ·  Aula 7: atividades  ·  Aula 8: sequência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Hoje: os 4 juntos, coerentes e rastreáveis até as regras de negócio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Vocês já conseguem modelar um sistema novo do zero, contra o relógio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Isso vai ser usado no Projeto Integrador (Aulas 16 a 19)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Glossário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Vista - um jeito de olhar o sistema; cada diagrama UML é uma vista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Coerência - todos os diagramas contam a mesma história, com os mesmos nomes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Rastreabilidade - conseguir seguir uma regra do texto até cada diagrama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Matriz de rastreabilidade - tabela regra x artefato; célula vazia = lacuna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Técnica dos grifos - marcar substantivos, verbos, “se” e números no texto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Modelagem iterativa - desenhar, conferir e corrigir em ciclos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Por que um sistema precisa de mais de um tipo de diagrama?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Qual a pergunta que cada um dos 4 diagramas responde?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Cite 3 regras de coerência entre o diagrama de classes e o de sequência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Como um «extend» do caso de uso costuma aparecer na sequência?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O que é uma matriz de rastreabilidade? Para que serve uma célula vazia?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A sequência mostra menos caminhos que a atividade. Isso é incoerência? Por quê?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7.  Na técnica dos grifos, o que viram os substantivos, os verbos e os “se”?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relâmpago para casa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Quais são os 4 diagramas UML do curso? Qual deles é estrutural?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O ator do caso de uso aparece como o quê na atividade? E na sequência?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aplicarCupom() chega em :Pagamento, que só tem aplicarDesconto(). O que está errado?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O que significa uma célula vazia na matriz de rastreabilidade?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Por onde se começa a modelar: pelas classes ou pelas regras de negócio?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4 diagramas são vistas do MESMO sistema e precisam contar a mesma história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Técnica dos grifos: do texto do cliente aos elementos de cada diagrama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Regras de coerência: nomes, métodos, cardinalidades, guardas e ordem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Matriz de rastreabilidade: cada regra seguida em todos os diagramas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EcoBike e ParkFácil: modelagem completa, do zero, contra o relógio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Próxima aula (16/10): Fundamentos de UX - como a pessoa vai USAR tudo isso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60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TechBurger: atividades “Fazer pedido pelo app” (Aula 7) - parte 3</a:t>
            </a:r>
          </a:p>
        </p:txBody>
      </p:sp>
      <p:pic>
        <p:nvPicPr>
          <p:cNvPr id="12" name="Picture 11" descr="tb_at3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065770" y="2900000"/>
            <a:ext cx="12068459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TechBurger: sequência “Pedido pelo app com PIX” (Aula 8) - parte 2</a:t>
            </a:r>
          </a:p>
        </p:txBody>
      </p:sp>
      <p:pic>
        <p:nvPicPr>
          <p:cNvPr id="12" name="Picture 11" descr="tb_sq2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835277" y="2900000"/>
            <a:ext cx="14529446" cy="655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755</Words>
  <Application>Microsoft Office PowerPoint</Application>
  <PresentationFormat>Personalizar</PresentationFormat>
  <Paragraphs>94</Paragraphs>
  <Slides>20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20</vt:i4>
      </vt:variant>
    </vt:vector>
  </HeadingPairs>
  <TitlesOfParts>
    <vt:vector size="25" baseType="lpstr">
      <vt:lpstr>Unbounded 1 Ultra-Bold</vt:lpstr>
      <vt:lpstr>Calibri</vt:lpstr>
      <vt:lpstr>Arial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Natanael Santos De Jesus</cp:lastModifiedBy>
  <cp:revision>14</cp:revision>
  <dcterms:created xsi:type="dcterms:W3CDTF">2006-08-16T00:00:00Z</dcterms:created>
  <dcterms:modified xsi:type="dcterms:W3CDTF">2026-08-30T15:39:53Z</dcterms:modified>
  <dc:identifier>DAGGnDa8uXQ</dc:identifier>
</cp:coreProperties>
</file>