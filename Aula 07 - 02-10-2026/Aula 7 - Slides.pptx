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299" r:id="rId20"/>
    <p:sldId id="300" r:id="rId21"/>
    <p:sldId id="301" r:id="rId22"/>
    <p:sldId id="302" r:id="rId23"/>
    <p:sldId id="303" r:id="rId24"/>
    <p:sldId id="304" r:id="rId25"/>
    <p:sldId id="305" r:id="rId26"/>
    <p:sldId id="306" r:id="rId27"/>
    <p:sldId id="307" r:id="rId28"/>
    <p:sldId id="308" r:id="rId29"/>
    <p:sldId id="309" r:id="rId30"/>
    <p:sldId id="310" r:id="rId31"/>
    <p:sldId id="311" r:id="rId32"/>
    <p:sldId id="312" r:id="rId33"/>
    <p:sldId id="313" r:id="rId34"/>
    <p:sldId id="314" r:id="rId35"/>
    <p:sldId id="315" r:id="rId36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7</a:t>
            </a:r>
          </a:p>
          <a:p>
            <a:pPr>
              <a:spcAft>
                <a:spcPts val="1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UML — Diagrama de Atividades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02/10/2026  ·  07:30–11:30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07:30 – 07:40  Abertura e revisão da Aula 6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07:40 – 08:20  Elementos do diagrama de atividades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08:20 – 08:45  Exemplo guiado simples no quadro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08:45 – 09:00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09:00 – 09:20  Apresentação do fluxo TechBurger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09:20 – 10:50  Prática: diagrama de atividades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10:50 – 11:30  Correção coletiva e encerramento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60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3700" b="1" i="0">
                <a:solidFill>
                  <a:srgbClr val="1F497D"/>
                </a:solidFill>
                <a:latin typeface="Calibri"/>
              </a:rPr>
              <a:t>Um diagrama de classes mostra a ESTRUTURA dos dados.
Como mostramos o PROCESSO — o passo a passo de um pedido?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590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Vamos discutir antes de começar…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NOVO TIPO DE DIAGRAMA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Diagrama de Atividades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De estrutura (classes) para comportamento (processo)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Elementos do diagrama de atividades (1/2)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Nó inicial — círculo preenchido: onde o fluxo começa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Nó final — círculo com borda: onde o fluxo termina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Ação/atividade — retângulo de cantos arredondados: um passo do processo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Elementos do diagrama de atividades (2/2)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Decisão — losango: o fluxo se ramifica conforme uma condição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Junção — losango que reúne fluxos alternativos de volta a um único caminho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Raia (swimlane) — coluna/faixa que indica QUEM é responsável por cada ação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Regra de ouro das decisões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Toda decisão (losango) precisa ter TODAS as saídas rotuladas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“item em estoque?” → sim / não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Sem rótulo, o diagrama fica ambíguo — não dá para saber o que corresponde a qual caminho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Exemplo guiado no quadro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Fluxo simples: “ligar o computador”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Início → ação (apertar o botão) → decisão (“ligou?”) → ação alternativa (checar cabo de energia) → fim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Toda decisão precisa ter as DUAS saídas rotuladas (sim/não)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Exemplo: fluxograma “ligar o computador”</a:t>
            </a:r>
          </a:p>
        </p:txBody>
      </p:sp>
      <p:pic>
        <p:nvPicPr>
          <p:cNvPr id="12" name="Picture 11" descr="exemplo_ligar_computad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4000" y="3050000"/>
            <a:ext cx="7140000" cy="510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a ordem das ações importa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 fluxo de hoje SÓ cobra o cliente depois de garantir que o pedido pode ser atendido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Por isso: valor mínimo → estoque → endereço de entrega vêm ANTES da forma de pagamento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Cobrar antes de checar estoque/entrega é uma falha de regra de negócio (o cliente pagaria por algo que pode não poder ser entregue)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ESTUDO DE CASO GUIA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TechBurger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Fazer pedido pelo app com pagamento PIX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Cenário a modelar: pedido pelo app com PIX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Raias: Cliente, Sistema, Cozinha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Decisão 1: valor total ≥ R$ 15,00?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Decisão 2: item em estoque?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Decisão 3: retirada ou entrega?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Fluxo completo (parte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1. Cliente monta o carrinho de compras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2. Sistema valida se o valor total é ≥ R$ 15,00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3. Sistema valida se os itens estão em estoque (senão, sugere substituto)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4. Sistema valida se é retirada ou entrega (se entrega, raio de 5 km)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Fluxo completo (parte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5. Cliente escolhe a forma de pagamento (PIX)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6. Sistema aplica 5% de desconto por ser pagamento via PIX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7. Cliente confirma o pagamento; sistema aciona o Sistema de Pagamento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8. Sistema envia o pedido à Cozinha, que prepara e finaliza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9. Sistema credita os pontos de fidelidade ao cliente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Em grupo, desenhem o diagrama de atividades completo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3 raias: Cliente, Sistema, Cozinha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Nó inicial e nó final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Pelo menos 2 decisões com saídas rotuladas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90 minutos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Nó inicial e nó final presentes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3 decisões com todas as saídas rotuladas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ação está na raia certa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Sequência lógica coerente com o negócio (estoque/entrega antes do pagamento)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CORREÇÃO COLETIVA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Resposta-modelo: fluxo completo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TechBurger — projetar e comparar com o que cada grupo produziu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Resposta-modelo — Diagrama de Atividades (TechBurger)</a:t>
            </a:r>
          </a:p>
        </p:txBody>
      </p:sp>
      <p:pic>
        <p:nvPicPr>
          <p:cNvPr id="12" name="Picture 11" descr="techburger_atividad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2678" y="3050000"/>
            <a:ext cx="3582644" cy="5100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Glossário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Diagrama de Atividades — diagrama UML comportamental que mostra o fluxo de um processo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Raia (swimlane) — divisão do diagrama por responsável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Decisão — ponto do fluxo onde o caminho se ramifica conforme uma condição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Fluxo alternativo — caminho seguido quando uma condição não é atendida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1. Qual a diferença entre nó inicial e nó final?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2. Por que toda decisão precisa ter as saídas rotuladas?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3. Para que servem as raias (swimlanes)?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4. Cite as 3 decisões do fluxo do TechBurger modelado hoje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Elementos do diagrama de atividades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Como representar decisões e raias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Modelagem do fluxo completo do TechBurger, na ordem certa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(09/10): Diagrama de Sequência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5"/>
          <p:cNvSpPr txBox="1"/>
          <p:nvPr/>
        </p:nvSpPr>
        <p:spPr>
          <a:xfrm>
            <a:off x="10078328" y="5200000"/>
            <a:ext cx="7629482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 b="0" i="0">
                <a:solidFill>
                  <a:srgbClr val="FFFFFF"/>
                </a:solidFill>
                <a:latin typeface="Calibri"/>
              </a:rPr>
              <a:t>Até a próxima aula!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