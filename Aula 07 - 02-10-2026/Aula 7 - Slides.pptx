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ula7_elem_18_1.svg" ContentType="image/svg+xml"/>
  <Override PartName="/ppt/media/aula7_elem_19_1.svg" ContentType="image/svg+xml"/>
  <Override PartName="/ppt/media/aula7_elem_20_1.svg" ContentType="image/svg+xml"/>
  <Override PartName="/ppt/media/aula7_elem_21_1.svg" ContentType="image/svg+xml"/>
  <Override PartName="/ppt/media/aula7_elem_22_1.svg" ContentType="image/svg+xml"/>
  <Override PartName="/ppt/media/aula7_elem_23_1.svg" ContentType="image/svg+xml"/>
  <Override PartName="/ppt/media/aula7_elem_24_1.svg" ContentType="image/svg+xml"/>
  <Override PartName="/ppt/media/aula7_elem_24_2.svg" ContentType="image/svg+xml"/>
  <Override PartName="/ppt/media/aula7_elem_25_1.svg" ContentType="image/svg+xml"/>
  <Override PartName="/ppt/media/aula7_elem_26_1.svg" ContentType="image/svg+xml"/>
  <Override PartName="/ppt/media/aula7_elem_27_1.svg" ContentType="image/svg+xml"/>
  <Override PartName="/ppt/media/aula7_elem_28_1.svg" ContentType="image/svg+xml"/>
  <Override PartName="/ppt/media/aula7_elem_29_1.svg" ContentType="image/svg+xml"/>
  <Override PartName="/ppt/media/aula7_elem_29_2.svg" ContentType="image/svg+xml"/>
  <Override PartName="/ppt/media/aula7_elem_38_1.svg" ContentType="image/svg+xml"/>
  <Override PartName="/ppt/media/aula7_elem_39_1.svg" ContentType="image/svg+xml"/>
  <Override PartName="/ppt/media/diag01_atividades_elementos.svg" ContentType="image/svg+xml"/>
  <Override PartName="/ppt/media/diag02_exemplo_ligar_computador.svg" ContentType="image/svg+xml"/>
  <Override PartName="/ppt/media/diag03_atividades_fork_join.svg" ContentType="image/svg+xml"/>
  <Override PartName="/ppt/media/diag04_techburger_atividades_parte1.svg" ContentType="image/svg+xml"/>
  <Override PartName="/ppt/media/diag05_fitlife_reserva_atividades.svg" ContentType="image/svg+xml"/>
  <Override PartName="/ppt/media/diag06_encontre_erro_atividades.svg" ContentType="image/svg+xml"/>
  <Override PartName="/ppt/media/diag07_encontre_erro_atividades_marcado.svg" ContentType="image/svg+xml"/>
  <Override PartName="/ppt/media/diag08_petfeliz_agendamento_parte1.svg" ContentType="image/svg+xml"/>
  <Override PartName="/ppt/media/diag09_petfeliz_agendamento_parte2.svg" ContentType="image/svg+xml"/>
  <Override PartName="/ppt/media/diag10_techburger_atividades_parte2.svg" ContentType="image/svg+xml"/>
  <Override PartName="/ppt/media/diag11_techburger_atividades_parte3.svg" ContentType="image/svg+xml"/>
  <Override PartName="/ppt/media/diag12_techburger_fidelidade_parte1.svg" ContentType="image/svg+xml"/>
  <Override PartName="/ppt/media/diag13_techburger_fidelidade_parte2.svg" ContentType="image/svg+xml"/>
  <Override PartName="/ppt/media/diag14_biblioteca_emprestimo_parte1.svg" ContentType="image/svg+xml"/>
  <Override PartName="/ppt/media/diag15_biblioteca_emprestimo_parte2.svg" ContentType="image/svg+xml"/>
  <Override PartName="/ppt/media/diag16_atividades_laco_login_parte1.svg" ContentType="image/svg+xml"/>
  <Override PartName="/ppt/media/diag17_atividades_laco_login_part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688" r:id="rId116"/>
    <p:sldId id="689" r:id="rId117"/>
    <p:sldId id="690" r:id="rId118"/>
    <p:sldId id="691" r:id="rId119"/>
    <p:sldId id="692" r:id="rId120"/>
    <p:sldId id="693" r:id="rId121"/>
    <p:sldId id="694" r:id="rId122"/>
    <p:sldId id="695" r:id="rId123"/>
    <p:sldId id="696" r:id="rId124"/>
    <p:sldId id="697" r:id="rId103"/>
    <p:sldId id="698" r:id="rId102"/>
    <p:sldId id="699" r:id="rId101"/>
    <p:sldId id="700" r:id="rId100"/>
    <p:sldId id="701" r:id="rId85"/>
    <p:sldId id="702" r:id="rId84"/>
    <p:sldId id="703" r:id="rId83"/>
    <p:sldId id="704" r:id="rId54"/>
    <p:sldId id="705" r:id="rId53"/>
    <p:sldId id="706" r:id="rId52"/>
    <p:sldId id="707" r:id="rId51"/>
    <p:sldId id="708" r:id="rId50"/>
    <p:sldId id="709" r:id="rId49"/>
    <p:sldId id="710" r:id="rId48"/>
    <p:sldId id="711" r:id="rId47"/>
    <p:sldId id="712" r:id="rId46"/>
    <p:sldId id="713" r:id="rId45"/>
    <p:sldId id="714" r:id="rId44"/>
    <p:sldId id="715" r:id="rId43"/>
    <p:sldId id="716" r:id="rId42"/>
    <p:sldId id="717" r:id="rId41"/>
    <p:sldId id="718" r:id="rId40"/>
    <p:sldId id="719" r:id="rId39"/>
    <p:sldId id="720" r:id="rId38"/>
    <p:sldId id="721" r:id="rId37"/>
    <p:sldId id="722" r:id="rId36"/>
    <p:sldId id="801" r:id="rId112"/>
    <p:sldId id="723" r:id="rId35"/>
    <p:sldId id="724" r:id="rId34"/>
    <p:sldId id="725" r:id="rId33"/>
    <p:sldId id="726" r:id="rId32"/>
    <p:sldId id="727" r:id="rId31"/>
    <p:sldId id="728" r:id="rId30"/>
    <p:sldId id="729" r:id="rId24"/>
    <p:sldId id="730" r:id="rId23"/>
    <p:sldId id="731" r:id="rId22"/>
    <p:sldId id="732" r:id="rId21"/>
    <p:sldId id="733" r:id="rId20"/>
    <p:sldId id="734" r:id="rId19"/>
    <p:sldId id="735" r:id="rId18"/>
    <p:sldId id="736" r:id="rId17"/>
    <p:sldId id="737" r:id="rId16"/>
    <p:sldId id="738" r:id="rId15"/>
    <p:sldId id="739" r:id="rId14"/>
    <p:sldId id="740" r:id="rId13"/>
    <p:sldId id="800" r:id="rId113"/>
    <p:sldId id="741" r:id="rId12"/>
    <p:sldId id="742" r:id="rId11"/>
    <p:sldId id="743" r:id="rId10"/>
    <p:sldId id="744" r:id="rId172"/>
    <p:sldId id="802" r:id="rId111"/>
    <p:sldId id="803" r:id="rId125"/>
    <p:sldId id="804" r:id="rId126"/>
    <p:sldId id="805" r:id="rId127"/>
    <p:sldId id="806" r:id="rId128"/>
    <p:sldId id="807" r:id="rId129"/>
    <p:sldId id="808" r:id="rId130"/>
    <p:sldId id="809" r:id="rId131"/>
    <p:sldId id="745" r:id="rId173"/>
    <p:sldId id="746" r:id="rId174"/>
    <p:sldId id="799" r:id="rId114"/>
    <p:sldId id="747" r:id="rId175"/>
    <p:sldId id="748" r:id="rId9"/>
    <p:sldId id="749" r:id="rId8"/>
    <p:sldId id="810" r:id="rId132"/>
    <p:sldId id="750" r:id="rId178"/>
    <p:sldId id="751" r:id="rId179"/>
    <p:sldId id="752" r:id="rId180"/>
    <p:sldId id="753" r:id="rId181"/>
    <p:sldId id="754" r:id="rId7"/>
    <p:sldId id="755" r:id="rId6"/>
    <p:sldId id="756" r:id="rId5"/>
    <p:sldId id="757" r:id="rId185"/>
    <p:sldId id="758" r:id="rId186"/>
    <p:sldId id="798" r:id="rId115"/>
    <p:sldId id="759" r:id="rId187"/>
    <p:sldId id="760" r:id="rId188"/>
    <p:sldId id="761" r:id="rId189"/>
    <p:sldId id="762" r:id="rId190"/>
    <p:sldId id="763" r:id="rId191"/>
    <p:sldId id="811" r:id="rId133"/>
    <p:sldId id="764" r:id="rId192"/>
    <p:sldId id="765" r:id="rId193"/>
    <p:sldId id="766" r:id="rId194"/>
    <p:sldId id="767" r:id="rId195"/>
    <p:sldId id="768" r:id="rId196"/>
    <p:sldId id="769" r:id="rId197"/>
    <p:sldId id="770" r:id="rId198"/>
    <p:sldId id="771" r:id="rId199"/>
    <p:sldId id="772" r:id="rId200"/>
    <p:sldId id="773" r:id="rId201"/>
    <p:sldId id="774" r:id="rId202"/>
    <p:sldId id="775" r:id="rId203"/>
    <p:sldId id="776" r:id="rId204"/>
    <p:sldId id="777" r:id="rId205"/>
    <p:sldId id="778" r:id="rId206"/>
    <p:sldId id="779" r:id="rId207"/>
    <p:sldId id="812" r:id="rId134"/>
    <p:sldId id="780" r:id="rId208"/>
    <p:sldId id="781" r:id="rId209"/>
    <p:sldId id="782" r:id="rId210"/>
    <p:sldId id="783" r:id="rId211"/>
    <p:sldId id="784" r:id="rId212"/>
    <p:sldId id="785" r:id="rId213"/>
    <p:sldId id="786" r:id="rId214"/>
    <p:sldId id="787" r:id="rId215"/>
    <p:sldId id="788" r:id="rId216"/>
    <p:sldId id="789" r:id="rId217"/>
    <p:sldId id="790" r:id="rId218"/>
    <p:sldId id="791" r:id="rId219"/>
    <p:sldId id="792" r:id="rId220"/>
    <p:sldId id="793" r:id="rId221"/>
    <p:sldId id="794" r:id="rId222"/>
    <p:sldId id="795" r:id="rId223"/>
    <p:sldId id="796" r:id="rId224"/>
    <p:sldId id="797" r:id="rId225"/>
  </p:sldIdLst>
  <p:sldSz cx="18288000" cy="10287000"/>
  <p:notesSz cx="6858000" cy="9144000"/>
  <p:embeddedFontLst>
    <p:embeddedFont>
      <p:font typeface="Unbounded 1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>
        <p:scale>
          <a:sx n="60" d="100"/>
          <a:sy n="60" d="100"/>
        </p:scale>
        <p:origin x="398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" Target="slides/slide81.xml"/><Relationship Id="rId6" Type="http://schemas.openxmlformats.org/officeDocument/2006/relationships/slide" Target="slides/slide80.xml"/><Relationship Id="rId7" Type="http://schemas.openxmlformats.org/officeDocument/2006/relationships/slide" Target="slides/slide79.xml"/><Relationship Id="rId8" Type="http://schemas.openxmlformats.org/officeDocument/2006/relationships/slide" Target="slides/slide73.xml"/><Relationship Id="rId9" Type="http://schemas.openxmlformats.org/officeDocument/2006/relationships/slide" Target="slides/slide72.xml"/><Relationship Id="rId10" Type="http://schemas.openxmlformats.org/officeDocument/2006/relationships/slide" Target="slides/slide58.xml"/><Relationship Id="rId11" Type="http://schemas.openxmlformats.org/officeDocument/2006/relationships/slide" Target="slides/slide57.xml"/><Relationship Id="rId12" Type="http://schemas.openxmlformats.org/officeDocument/2006/relationships/slide" Target="slides/slide56.xml"/><Relationship Id="rId13" Type="http://schemas.openxmlformats.org/officeDocument/2006/relationships/slide" Target="slides/slide54.xml"/><Relationship Id="rId14" Type="http://schemas.openxmlformats.org/officeDocument/2006/relationships/slide" Target="slides/slide53.xml"/><Relationship Id="rId15" Type="http://schemas.openxmlformats.org/officeDocument/2006/relationships/slide" Target="slides/slide52.xml"/><Relationship Id="rId16" Type="http://schemas.openxmlformats.org/officeDocument/2006/relationships/slide" Target="slides/slide51.xml"/><Relationship Id="rId17" Type="http://schemas.openxmlformats.org/officeDocument/2006/relationships/slide" Target="slides/slide50.xml"/><Relationship Id="rId18" Type="http://schemas.openxmlformats.org/officeDocument/2006/relationships/slide" Target="slides/slide49.xml"/><Relationship Id="rId19" Type="http://schemas.openxmlformats.org/officeDocument/2006/relationships/slide" Target="slides/slide48.xml"/><Relationship Id="rId20" Type="http://schemas.openxmlformats.org/officeDocument/2006/relationships/slide" Target="slides/slide47.xml"/><Relationship Id="rId21" Type="http://schemas.openxmlformats.org/officeDocument/2006/relationships/slide" Target="slides/slide46.xml"/><Relationship Id="rId22" Type="http://schemas.openxmlformats.org/officeDocument/2006/relationships/slide" Target="slides/slide45.xml"/><Relationship Id="rId23" Type="http://schemas.openxmlformats.org/officeDocument/2006/relationships/slide" Target="slides/slide44.xml"/><Relationship Id="rId24" Type="http://schemas.openxmlformats.org/officeDocument/2006/relationships/slide" Target="slides/slide43.xml"/><Relationship Id="rId25" Type="http://schemas.openxmlformats.org/officeDocument/2006/relationships/font" Target="fonts/font1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42.xml"/><Relationship Id="rId31" Type="http://schemas.openxmlformats.org/officeDocument/2006/relationships/slide" Target="slides/slide41.xml"/><Relationship Id="rId32" Type="http://schemas.openxmlformats.org/officeDocument/2006/relationships/slide" Target="slides/slide40.xml"/><Relationship Id="rId33" Type="http://schemas.openxmlformats.org/officeDocument/2006/relationships/slide" Target="slides/slide39.xml"/><Relationship Id="rId34" Type="http://schemas.openxmlformats.org/officeDocument/2006/relationships/slide" Target="slides/slide38.xml"/><Relationship Id="rId35" Type="http://schemas.openxmlformats.org/officeDocument/2006/relationships/slide" Target="slides/slide37.xml"/><Relationship Id="rId36" Type="http://schemas.openxmlformats.org/officeDocument/2006/relationships/slide" Target="slides/slide35.xml"/><Relationship Id="rId37" Type="http://schemas.openxmlformats.org/officeDocument/2006/relationships/slide" Target="slides/slide34.xml"/><Relationship Id="rId38" Type="http://schemas.openxmlformats.org/officeDocument/2006/relationships/slide" Target="slides/slide33.xml"/><Relationship Id="rId39" Type="http://schemas.openxmlformats.org/officeDocument/2006/relationships/slide" Target="slides/slide32.xml"/><Relationship Id="rId40" Type="http://schemas.openxmlformats.org/officeDocument/2006/relationships/slide" Target="slides/slide31.xml"/><Relationship Id="rId41" Type="http://schemas.openxmlformats.org/officeDocument/2006/relationships/slide" Target="slides/slide30.xml"/><Relationship Id="rId42" Type="http://schemas.openxmlformats.org/officeDocument/2006/relationships/slide" Target="slides/slide29.xml"/><Relationship Id="rId43" Type="http://schemas.openxmlformats.org/officeDocument/2006/relationships/slide" Target="slides/slide28.xml"/><Relationship Id="rId44" Type="http://schemas.openxmlformats.org/officeDocument/2006/relationships/slide" Target="slides/slide27.xml"/><Relationship Id="rId45" Type="http://schemas.openxmlformats.org/officeDocument/2006/relationships/slide" Target="slides/slide26.xml"/><Relationship Id="rId46" Type="http://schemas.openxmlformats.org/officeDocument/2006/relationships/slide" Target="slides/slide25.xml"/><Relationship Id="rId47" Type="http://schemas.openxmlformats.org/officeDocument/2006/relationships/slide" Target="slides/slide24.xml"/><Relationship Id="rId48" Type="http://schemas.openxmlformats.org/officeDocument/2006/relationships/slide" Target="slides/slide23.xml"/><Relationship Id="rId49" Type="http://schemas.openxmlformats.org/officeDocument/2006/relationships/slide" Target="slides/slide22.xml"/><Relationship Id="rId50" Type="http://schemas.openxmlformats.org/officeDocument/2006/relationships/slide" Target="slides/slide21.xml"/><Relationship Id="rId51" Type="http://schemas.openxmlformats.org/officeDocument/2006/relationships/slide" Target="slides/slide20.xml"/><Relationship Id="rId52" Type="http://schemas.openxmlformats.org/officeDocument/2006/relationships/slide" Target="slides/slide19.xml"/><Relationship Id="rId53" Type="http://schemas.openxmlformats.org/officeDocument/2006/relationships/slide" Target="slides/slide18.xml"/><Relationship Id="rId54" Type="http://schemas.openxmlformats.org/officeDocument/2006/relationships/slide" Target="slides/slide17.xml"/><Relationship Id="rId83" Type="http://schemas.openxmlformats.org/officeDocument/2006/relationships/slide" Target="slides/slide16.xml"/><Relationship Id="rId84" Type="http://schemas.openxmlformats.org/officeDocument/2006/relationships/slide" Target="slides/slide15.xml"/><Relationship Id="rId85" Type="http://schemas.openxmlformats.org/officeDocument/2006/relationships/slide" Target="slides/slide14.xml"/><Relationship Id="rId100" Type="http://schemas.openxmlformats.org/officeDocument/2006/relationships/slide" Target="slides/slide13.xml"/><Relationship Id="rId101" Type="http://schemas.openxmlformats.org/officeDocument/2006/relationships/slide" Target="slides/slide12.xml"/><Relationship Id="rId102" Type="http://schemas.openxmlformats.org/officeDocument/2006/relationships/slide" Target="slides/slide11.xml"/><Relationship Id="rId103" Type="http://schemas.openxmlformats.org/officeDocument/2006/relationships/slide" Target="slides/slide10.xml"/><Relationship Id="rId111" Type="http://schemas.openxmlformats.org/officeDocument/2006/relationships/slide" Target="slides/slide60.xml"/><Relationship Id="rId112" Type="http://schemas.openxmlformats.org/officeDocument/2006/relationships/slide" Target="slides/slide36.xml"/><Relationship Id="rId113" Type="http://schemas.openxmlformats.org/officeDocument/2006/relationships/slide" Target="slides/slide55.xml"/><Relationship Id="rId114" Type="http://schemas.openxmlformats.org/officeDocument/2006/relationships/slide" Target="slides/slide70.xml"/><Relationship Id="rId115" Type="http://schemas.openxmlformats.org/officeDocument/2006/relationships/slide" Target="slides/slide84.xml"/><Relationship Id="rId116" Type="http://schemas.openxmlformats.org/officeDocument/2006/relationships/slide" Target="slides/slide1.xml"/><Relationship Id="rId117" Type="http://schemas.openxmlformats.org/officeDocument/2006/relationships/slide" Target="slides/slide2.xml"/><Relationship Id="rId118" Type="http://schemas.openxmlformats.org/officeDocument/2006/relationships/slide" Target="slides/slide3.xml"/><Relationship Id="rId119" Type="http://schemas.openxmlformats.org/officeDocument/2006/relationships/slide" Target="slides/slide4.xml"/><Relationship Id="rId120" Type="http://schemas.openxmlformats.org/officeDocument/2006/relationships/slide" Target="slides/slide5.xml"/><Relationship Id="rId121" Type="http://schemas.openxmlformats.org/officeDocument/2006/relationships/slide" Target="slides/slide6.xml"/><Relationship Id="rId122" Type="http://schemas.openxmlformats.org/officeDocument/2006/relationships/slide" Target="slides/slide7.xml"/><Relationship Id="rId123" Type="http://schemas.openxmlformats.org/officeDocument/2006/relationships/slide" Target="slides/slide8.xml"/><Relationship Id="rId124" Type="http://schemas.openxmlformats.org/officeDocument/2006/relationships/slide" Target="slides/slide9.xml"/><Relationship Id="rId125" Type="http://schemas.openxmlformats.org/officeDocument/2006/relationships/slide" Target="slides/slide61.xml"/><Relationship Id="rId126" Type="http://schemas.openxmlformats.org/officeDocument/2006/relationships/slide" Target="slides/slide62.xml"/><Relationship Id="rId127" Type="http://schemas.openxmlformats.org/officeDocument/2006/relationships/slide" Target="slides/slide63.xml"/><Relationship Id="rId128" Type="http://schemas.openxmlformats.org/officeDocument/2006/relationships/slide" Target="slides/slide64.xml"/><Relationship Id="rId129" Type="http://schemas.openxmlformats.org/officeDocument/2006/relationships/slide" Target="slides/slide65.xml"/><Relationship Id="rId130" Type="http://schemas.openxmlformats.org/officeDocument/2006/relationships/slide" Target="slides/slide66.xml"/><Relationship Id="rId131" Type="http://schemas.openxmlformats.org/officeDocument/2006/relationships/slide" Target="slides/slide67.xml"/><Relationship Id="rId132" Type="http://schemas.openxmlformats.org/officeDocument/2006/relationships/slide" Target="slides/slide74.xml"/><Relationship Id="rId133" Type="http://schemas.openxmlformats.org/officeDocument/2006/relationships/slide" Target="slides/slide90.xml"/><Relationship Id="rId134" Type="http://schemas.openxmlformats.org/officeDocument/2006/relationships/slide" Target="slides/slide107.xml"/><Relationship Id="rId172" Type="http://schemas.openxmlformats.org/officeDocument/2006/relationships/slide" Target="slides/slide59.xml"/><Relationship Id="rId173" Type="http://schemas.openxmlformats.org/officeDocument/2006/relationships/slide" Target="slides/slide68.xml"/><Relationship Id="rId174" Type="http://schemas.openxmlformats.org/officeDocument/2006/relationships/slide" Target="slides/slide69.xml"/><Relationship Id="rId175" Type="http://schemas.openxmlformats.org/officeDocument/2006/relationships/slide" Target="slides/slide71.xml"/><Relationship Id="rId178" Type="http://schemas.openxmlformats.org/officeDocument/2006/relationships/slide" Target="slides/slide75.xml"/><Relationship Id="rId179" Type="http://schemas.openxmlformats.org/officeDocument/2006/relationships/slide" Target="slides/slide76.xml"/><Relationship Id="rId180" Type="http://schemas.openxmlformats.org/officeDocument/2006/relationships/slide" Target="slides/slide77.xml"/><Relationship Id="rId181" Type="http://schemas.openxmlformats.org/officeDocument/2006/relationships/slide" Target="slides/slide78.xml"/><Relationship Id="rId185" Type="http://schemas.openxmlformats.org/officeDocument/2006/relationships/slide" Target="slides/slide82.xml"/><Relationship Id="rId186" Type="http://schemas.openxmlformats.org/officeDocument/2006/relationships/slide" Target="slides/slide83.xml"/><Relationship Id="rId187" Type="http://schemas.openxmlformats.org/officeDocument/2006/relationships/slide" Target="slides/slide85.xml"/><Relationship Id="rId188" Type="http://schemas.openxmlformats.org/officeDocument/2006/relationships/slide" Target="slides/slide86.xml"/><Relationship Id="rId189" Type="http://schemas.openxmlformats.org/officeDocument/2006/relationships/slide" Target="slides/slide87.xml"/><Relationship Id="rId190" Type="http://schemas.openxmlformats.org/officeDocument/2006/relationships/slide" Target="slides/slide88.xml"/><Relationship Id="rId191" Type="http://schemas.openxmlformats.org/officeDocument/2006/relationships/slide" Target="slides/slide89.xml"/><Relationship Id="rId192" Type="http://schemas.openxmlformats.org/officeDocument/2006/relationships/slide" Target="slides/slide91.xml"/><Relationship Id="rId193" Type="http://schemas.openxmlformats.org/officeDocument/2006/relationships/slide" Target="slides/slide92.xml"/><Relationship Id="rId194" Type="http://schemas.openxmlformats.org/officeDocument/2006/relationships/slide" Target="slides/slide93.xml"/><Relationship Id="rId195" Type="http://schemas.openxmlformats.org/officeDocument/2006/relationships/slide" Target="slides/slide94.xml"/><Relationship Id="rId196" Type="http://schemas.openxmlformats.org/officeDocument/2006/relationships/slide" Target="slides/slide95.xml"/><Relationship Id="rId197" Type="http://schemas.openxmlformats.org/officeDocument/2006/relationships/slide" Target="slides/slide96.xml"/><Relationship Id="rId198" Type="http://schemas.openxmlformats.org/officeDocument/2006/relationships/slide" Target="slides/slide97.xml"/><Relationship Id="rId199" Type="http://schemas.openxmlformats.org/officeDocument/2006/relationships/slide" Target="slides/slide98.xml"/><Relationship Id="rId200" Type="http://schemas.openxmlformats.org/officeDocument/2006/relationships/slide" Target="slides/slide99.xml"/><Relationship Id="rId201" Type="http://schemas.openxmlformats.org/officeDocument/2006/relationships/slide" Target="slides/slide100.xml"/><Relationship Id="rId202" Type="http://schemas.openxmlformats.org/officeDocument/2006/relationships/slide" Target="slides/slide101.xml"/><Relationship Id="rId203" Type="http://schemas.openxmlformats.org/officeDocument/2006/relationships/slide" Target="slides/slide102.xml"/><Relationship Id="rId204" Type="http://schemas.openxmlformats.org/officeDocument/2006/relationships/slide" Target="slides/slide103.xml"/><Relationship Id="rId205" Type="http://schemas.openxmlformats.org/officeDocument/2006/relationships/slide" Target="slides/slide104.xml"/><Relationship Id="rId206" Type="http://schemas.openxmlformats.org/officeDocument/2006/relationships/slide" Target="slides/slide105.xml"/><Relationship Id="rId207" Type="http://schemas.openxmlformats.org/officeDocument/2006/relationships/slide" Target="slides/slide106.xml"/><Relationship Id="rId208" Type="http://schemas.openxmlformats.org/officeDocument/2006/relationships/slide" Target="slides/slide108.xml"/><Relationship Id="rId209" Type="http://schemas.openxmlformats.org/officeDocument/2006/relationships/slide" Target="slides/slide109.xml"/><Relationship Id="rId210" Type="http://schemas.openxmlformats.org/officeDocument/2006/relationships/slide" Target="slides/slide110.xml"/><Relationship Id="rId211" Type="http://schemas.openxmlformats.org/officeDocument/2006/relationships/slide" Target="slides/slide111.xml"/><Relationship Id="rId212" Type="http://schemas.openxmlformats.org/officeDocument/2006/relationships/slide" Target="slides/slide112.xml"/><Relationship Id="rId213" Type="http://schemas.openxmlformats.org/officeDocument/2006/relationships/slide" Target="slides/slide113.xml"/><Relationship Id="rId214" Type="http://schemas.openxmlformats.org/officeDocument/2006/relationships/slide" Target="slides/slide114.xml"/><Relationship Id="rId215" Type="http://schemas.openxmlformats.org/officeDocument/2006/relationships/slide" Target="slides/slide115.xml"/><Relationship Id="rId216" Type="http://schemas.openxmlformats.org/officeDocument/2006/relationships/slide" Target="slides/slide116.xml"/><Relationship Id="rId217" Type="http://schemas.openxmlformats.org/officeDocument/2006/relationships/slide" Target="slides/slide117.xml"/><Relationship Id="rId218" Type="http://schemas.openxmlformats.org/officeDocument/2006/relationships/slide" Target="slides/slide118.xml"/><Relationship Id="rId219" Type="http://schemas.openxmlformats.org/officeDocument/2006/relationships/slide" Target="slides/slide119.xml"/><Relationship Id="rId220" Type="http://schemas.openxmlformats.org/officeDocument/2006/relationships/slide" Target="slides/slide120.xml"/><Relationship Id="rId221" Type="http://schemas.openxmlformats.org/officeDocument/2006/relationships/slide" Target="slides/slide121.xml"/><Relationship Id="rId222" Type="http://schemas.openxmlformats.org/officeDocument/2006/relationships/slide" Target="slides/slide122.xml"/><Relationship Id="rId223" Type="http://schemas.openxmlformats.org/officeDocument/2006/relationships/slide" Target="slides/slide123.xml"/><Relationship Id="rId224" Type="http://schemas.openxmlformats.org/officeDocument/2006/relationships/slide" Target="slides/slide124.xml"/><Relationship Id="rId225" Type="http://schemas.openxmlformats.org/officeDocument/2006/relationships/slide" Target="slides/slide1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7" Type="http://schemas.openxmlformats.org/officeDocument/2006/relationships/image" Target="../media/diag01_atividades_elementos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aula7_elem_18_1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aula7_elem_19_1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aula7_elem_20_1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aula7_elem_21_1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aula7_elem_22_1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aula7_elem_23_1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aula7_elem_24_1.svg"/><Relationship Id="rId6" Type="http://schemas.openxmlformats.org/officeDocument/2006/relationships/image" Target="../media/image35.png"/><Relationship Id="rId7" Type="http://schemas.openxmlformats.org/officeDocument/2006/relationships/image" Target="../media/aula7_elem_24_2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5" Type="http://schemas.openxmlformats.org/officeDocument/2006/relationships/image" Target="../media/aula7_elem_25_1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aula7_elem_26_1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5" Type="http://schemas.openxmlformats.org/officeDocument/2006/relationships/image" Target="../media/aula7_elem_27_1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5" Type="http://schemas.openxmlformats.org/officeDocument/2006/relationships/image" Target="../media/aula7_elem_28_1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aula7_elem_29_1.svg"/><Relationship Id="rId6" Type="http://schemas.openxmlformats.org/officeDocument/2006/relationships/image" Target="../media/image41.png"/><Relationship Id="rId7" Type="http://schemas.openxmlformats.org/officeDocument/2006/relationships/image" Target="../media/aula7_elem_29_2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7" Type="http://schemas.openxmlformats.org/officeDocument/2006/relationships/image" Target="../media/diag02_exemplo_ligar_computador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diag16_atividades_laco_login_parte1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24.png"/><Relationship Id="rId7" Type="http://schemas.openxmlformats.org/officeDocument/2006/relationships/image" Target="../media/diag17_atividades_laco_login_parte2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5" Type="http://schemas.openxmlformats.org/officeDocument/2006/relationships/image" Target="../media/aula7_elem_38_1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3.png"/><Relationship Id="rId5" Type="http://schemas.openxmlformats.org/officeDocument/2006/relationships/image" Target="../media/aula7_elem_39_1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7" Type="http://schemas.openxmlformats.org/officeDocument/2006/relationships/image" Target="../media/diag03_atividades_fork_join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diag14_biblioteca_emprestimo_parte1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diag15_biblioteca_emprestimo_parte2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diag12_techburger_fidelidade_parte1.sv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diag13_techburger_fidelidade_parte2.sv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7" Type="http://schemas.openxmlformats.org/officeDocument/2006/relationships/image" Target="../media/image20.png"/><Relationship Id="rId8" Type="http://schemas.openxmlformats.org/officeDocument/2006/relationships/image" Target="../media/diag04_techburger_atividades_parte1.sv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7" Type="http://schemas.openxmlformats.org/officeDocument/2006/relationships/image" Target="../media/image19.png"/><Relationship Id="rId8" Type="http://schemas.openxmlformats.org/officeDocument/2006/relationships/image" Target="../media/diag10_techburger_atividades_parte2.sv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21.png"/><Relationship Id="rId7" Type="http://schemas.openxmlformats.org/officeDocument/2006/relationships/image" Target="../media/diag11_techburger_atividades_parte3.sv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7" Type="http://schemas.openxmlformats.org/officeDocument/2006/relationships/image" Target="../media/diag05_fitlife_reserva_atividades.sv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7" Type="http://schemas.openxmlformats.org/officeDocument/2006/relationships/image" Target="../media/diag06_encontre_erro_atividades.sv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7" Type="http://schemas.openxmlformats.org/officeDocument/2006/relationships/image" Target="../media/diag07_encontre_erro_atividades_marcado.sv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diag08_petfeliz_agendamento_parte1.sv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7" Type="http://schemas.openxmlformats.org/officeDocument/2006/relationships/image" Target="../media/image18.png"/><Relationship Id="rId8" Type="http://schemas.openxmlformats.org/officeDocument/2006/relationships/image" Target="../media/diag09_petfeliz_agendamento_parte2.sv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7</a:t>
            </a:r>
          </a:p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UML — Diagrama de Atividades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02/10/2026  ·  07:30–11:30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07:30 - 07:50  Abertura, revisão da Aula 6 (multiplicidade/cardinalidade) e quiz relâmpago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07:50 - 08:30  Novo assunto: Diagrama de Atividades - conceito e elementos (ação, decisão, junção, nós inicial e final)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08:30 - 08:45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08:45 - 09:10  Laços, paralelismo (fork/join), raias e a ligação com as Aulas 1 a 6; exemplo da Biblioteca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09:10 - 09:25  Mapa do draw.io e exemplo guiado: pontos de fidelidade do TechBurger, ao vivo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09:25 - 10:03  Atividade 1 em grupo: pedido pelo app com PIX (TechBurger) + correção coletiva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10:03 - 10:13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10:13 - 10:43  Atividade 2 individual: Academia FitLife + encontre o erro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10:43 - 11:18  Atividade 3 em duplas: revisão geral das Aulas 1 a 7 (PetFeliz)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11:18 - 11:30  Erros comuns, síntese e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REVISÃO RÁPIDA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Retomando a Aula 6: Multiplicidade/Cardinalidade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Uns 15 minutos para reativar a memória antes de mudar de estrutura para comportamento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na Aula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Multiplicidade (cardinalidade): QUANTAS instâncias de uma classe se relacionam com QUANTAS de outra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Escrita nas DUAS pontas da linha, perto de cada classe - e lida nos dois sentidos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Associação, agregação e composição recebem cardinalidade; herança NUNCA recebe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Faixas concretas (ex.: 0..3) vêm de regras de negócio - Associado 1 —— 0..3 Emprestimo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Fechamos o Diagrama de Classes do TechBurger e da Academia FitLife com todos os números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4 notações - relembrando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1 - exatamente um (obrigatório e único)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0..1 - zero ou um (opcional, no máximo um)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0..* (ou *) - zero ou muitos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1..* - um ou muitos (pelo menos um é obrigatório)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notação é um par mínimo..máximo: sempre perguntem “qual o mínimo? qual o máximo?”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TechBurger com cardinalidade - relembrando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1 —— * Pedido (possui)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 1 —— * ItemPedido (composição)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ItemPedido * —— 1 Produto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 1 —— 0..1 Pagamento  e  Pedido 1 —— 0..1 Entrega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Funcionario &lt;|-- Atendente / Gerente (herança, sem números)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Tudo isso descreve a ESTRUTURA: o que o sistema guarda e como os dados se ligam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estamos na UML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Diagramas estruturais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Mostram o que o sistema É e o que GUARDA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Aulas 5 e 6: Diagrama de Classes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Pergunta: “quais dados e como se ligam?”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Diagramas comportamentais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Mostram o que o sistema FAZ e em que ORDEM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Aula 4: Casos de Uso - Aula 7 (hoje): Atividades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Pergunta: “qual o passo a passo?”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- revisão da Aula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que significa a notação 0..1?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A seta de herança recebe cardinalidade?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Em “Cliente 1 —— * Pedido”, o que o “1” está dizendo?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De onde vem o “0..3” em “Associado 1 —— 0..3 Emprestimo”?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Em um relacionamento 1 —— *, qual tabela recebe a chave estrangeira?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Qual a diferença entre “*” e “1..*”?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quiz da Aula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Zero ou um: a relação é opcional, e nunca passa de um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Não: herança é classificação (“é um tipo de”), não quantidade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Que cada Pedido pertence a exatamente um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Da regra de negócio da Aula 1: no máximo 3 livros emprestados por associado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 tabela do lado “muitos” (ex.: Pedido recebe clienteId)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“*” aceita zero; “1..*” exige pelo menos 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NOVO ASSUNTO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Diagrama de Atividades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De estrutura (classes) para comportamento (o passo a passo de um processo)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vamos pensar juntos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diagrama de classes diz que existem Pedido, Pagamento e Entrega. Mas em que ORDEM as coisas acontecem?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TechBurger cobra o cliente antes ou depois de conferir o estoque? Faz diferença?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faz cada passo: o cliente, o sistema ou a cozinha?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se o valor for menor que R$ 15,00 - o que acontece? Para onde o fluxo “volta”?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Anotem suas respostas: hoje vamos desenhar exatamente isso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 Diagrama de Atividades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COMPORTAMENTAL da UML que mostra o FLUXO de um processo, passo a passo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Mostra a ordem das ações, os pontos de decisão, o que pode acontecer em paralelo e quem executa cada passo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Pode descrever um processo de negócio inteiro, um caso de uso ou até um algoritmo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diagrama UML mais parecido com um fluxograma - e o mais fácil de ler por quem não é da 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Para que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Detalhar o fluxo de um caso de uso: o “Fazer Pedido pelo App” da Aula 4 vira um passo a passo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Mostrar ONDE cada regra de negócio é verificada dentro do processo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Validar o processo com o cliente antes de programar (lembram: corrigir modelo é mais barato que corrigir código)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Encontrar caminhos esquecidos: “e se o pagamento for recusado?”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Servir de guia para os testes: cada caminho do diagrama é um cenário a testar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aparece no mercado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Mapeamento de processos em empresas (o primo “de negócio” dele é o BPMN)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Fluxos de aprovação: compras, férias, reembolso, abertura de conta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Fluxos de telas e de uso de apps (cadastro, checkout, recuperação de senha)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Documentação de integrações: o que acontece quando o pagamento responde “aprovado” ou “recusado”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Automação industrial: a sequência de etapas de uma linha de produção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Diagrama de atividades x fluxograma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Fluxograma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Notação livre, varia de lugar para lugar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Normalmente não mostra QUEM faz cada passo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Não tem notação padrão para paralelismo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 de atividades (UML)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Notação padronizada pela OMG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Raias mostram o responsável por cada ação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Bifurcação/união representam passos em paralelo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Casos de uso x atividades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Casos de Uso (Aula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Mostra O QUE o sistema oferece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Visão de “menu”: atores e funcionalidades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Cliente —— Fazer Pedido pelo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Atividades (hoje)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Mostra COMO um caso de uso acontece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Visão de “receita”: passo a passo e decisões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monta carrinho → valida valor → 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elementos do diagrama de atividades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0000" y="3126658"/>
            <a:ext cx="16488000" cy="57853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Nó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Círculo preto preenchido: marca ONDE o fluxo começa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Normalmente há um único nó inicial por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Dele sai uma seta para a primeira ação - nunca chega nenhuma seta nele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nó inicial, o leitor não sabe por onde começar a ler o processo</a:t>
            </a:r>
          </a:p>
        </p:txBody>
      </p:sp>
      <p:pic>
        <p:nvPicPr>
          <p:cNvPr id="13" name="Elemento 1" descr="Diagrama: Nó inicial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3629264"/>
            <a:ext cx="7200000" cy="49914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Retângulo de cantos arredondados: UM passo do processo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algo que alguém (ou o sistema) FAZ: “Monta o carrinho”, “Aplica 5% de desconto”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ação tem uma seta de entrada e (normalmente) uma de saída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ação por caixa: se o texto tem “e” juntando duas coisas diferentes, provavelmente são duas ações</a:t>
            </a:r>
          </a:p>
        </p:txBody>
      </p:sp>
      <p:pic>
        <p:nvPicPr>
          <p:cNvPr id="13" name="Elemento 1" descr="Diagrama: Ação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3047675"/>
            <a:ext cx="7200000" cy="61546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nomear uma 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Verbo + complemento, do ponto de vista de quem executa: “Valida o endereço”, “Prepara o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Nunca só um substantivo: “Pagamento” é um objeto, não uma ação - use “Confirma o pagamento”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Nem clique de tela: “Clica no botão OK” é detalhe de interface; prefira “Confirma o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Mesmo cuidado dos casos de uso da Aula 4 - lá era “Fazer Pedido”, aqui são os passos dentro dele</a:t>
            </a:r>
          </a:p>
        </p:txBody>
      </p:sp>
      <p:pic>
        <p:nvPicPr>
          <p:cNvPr id="13" name="Elemento 1" descr="Diagrama: Como nomear uma ação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3504646"/>
            <a:ext cx="7200000" cy="52407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Fluxo de controle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seta que liga os elementos e indica a ORDEM em que acontecem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Lê-se sempre na direção da ponta da seta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Pode subir, descer, voltar: é assim que se desenha uma repetição (laço)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Setas que saem de uma decisão levam um rótulo entre colchetes: a condição de guarda</a:t>
            </a:r>
          </a:p>
        </p:txBody>
      </p:sp>
      <p:pic>
        <p:nvPicPr>
          <p:cNvPr id="13" name="Elemento 1" descr="Diagrama: Fluxo de controle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3198486"/>
            <a:ext cx="7199999" cy="58530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Nó final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Círculo com um ponto preto dentro (um “alvo”): encerra a atividade INTEIRA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 o fluxo chega aqui, tudo para - inclusive caminhos paralelos que ainda estejam rodando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Pode haver mais de um: ex.: “pedido concluído” e “pedido cancelado” são finais diferentes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 caminho do diagrama precisa terminar em algum nó final - nada fica “pendurado”</a:t>
            </a:r>
          </a:p>
        </p:txBody>
      </p:sp>
      <p:pic>
        <p:nvPicPr>
          <p:cNvPr id="13" name="Elemento 1" descr="Diagrama: Nó final da atividade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2965323"/>
            <a:ext cx="7200000" cy="63193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Nó final de fluxo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Círculo com um X dentro: encerra só AQUELE caminho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outros caminhos paralelos continuam normalmente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o sistema envia uma pesquisa de satisfação - esse ramo termina ali, mas o preparo do pedido segue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usado quase sempre junto com paralelismo (bifurcação), que veremos depois do intervalo</a:t>
            </a:r>
          </a:p>
        </p:txBody>
      </p:sp>
      <p:pic>
        <p:nvPicPr>
          <p:cNvPr id="13" name="Elemento 1" descr="Diagrama: Nó final de fluxo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3222263"/>
            <a:ext cx="7200000" cy="58054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Final da atividade x final de fluxo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Nó final da atividade (alvo)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Encerra TUDO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pagamento recusado → pedido cancelado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mais comum nos diagramas do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Nó final de fluxo 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Encerra só um caminho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“Envia pesquisa de satisfação” termina ali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Os outros ramos paralelos continuam</a:t>
            </a:r>
          </a:p>
        </p:txBody>
      </p:sp>
      <p:pic>
        <p:nvPicPr>
          <p:cNvPr id="16" name="Elemento 1" descr="Diagrama: Nó final da atividade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8007" y="5300000"/>
            <a:ext cx="5123986" cy="2900000"/>
          </a:xfrm>
          <a:prstGeom prst="rect">
            <a:avLst/>
          </a:prstGeom>
        </p:spPr>
      </p:pic>
      <p:pic>
        <p:nvPicPr>
          <p:cNvPr id="17" name="Elemento 2" descr="Diagrama: Nó final de fluxo (Aula 7 - Elementos um a um.drawio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63712" y="5300000"/>
            <a:ext cx="5072575" cy="290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Decisão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Losango com UMA entrada e DUAS OU MAIS saídas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fluxo segue por UM único caminho, conforme uma condição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“Valor total ≥ R$ 15,00?” → [sim] segue / [não] volta ao carrinho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aqui que as regras de negócio da Aula 1 aparecem dentro do processo</a:t>
            </a:r>
          </a:p>
        </p:txBody>
      </p:sp>
      <p:pic>
        <p:nvPicPr>
          <p:cNvPr id="13" name="Elemento 1" descr="Diagrama: Decisão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3827287"/>
            <a:ext cx="7200000" cy="459542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Condições de guarda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seta que sai de uma decisão leva uma condição entre colchetes: [sim], [não], [entrega], [retirada]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guarda diz QUANDO aquele caminho é seguido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Pode ser uma frase curta ou uma comparação: [valor ≥ R$ 15,00], [valor &lt; R$ 15,00]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guarda, o diagrama fica ambíguo: ninguém sabe qual saída corresponde a qual situação</a:t>
            </a:r>
          </a:p>
        </p:txBody>
      </p:sp>
      <p:pic>
        <p:nvPicPr>
          <p:cNvPr id="13" name="Elemento 1" descr="Diagrama: Condições de guarda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4016525"/>
            <a:ext cx="7200000" cy="42169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 de ouro das guardas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TODAS as saídas de uma decisão precisam de guarda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guardas devem ser COMPLETAS: cobrir todas as possibilidades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EXCLUSIVAS: nunca duas guardas verdadeiras ao mesmo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Errado: [valor &gt; 15] e [valor &lt; 15] - e se o valor for exatamente R$ 15,00?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Certo: [valor ≥ R$ 15,00] e [valor &lt; R$ 15,00]</a:t>
            </a:r>
          </a:p>
        </p:txBody>
      </p:sp>
      <p:pic>
        <p:nvPicPr>
          <p:cNvPr id="13" name="Elemento 1" descr="Diagrama: Regra de ouro das guardas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5333" y="5750000"/>
            <a:ext cx="9149333" cy="365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Junção (merge)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Também é um losango, mas ao contrário: VÁRIAS entradas e UMA saída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Reúne caminhos ALTERNATIVOS (que vieram de uma decisão) de volta a um caminho só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prazo de 30 dias [professor] ou 14 dias [demais] → os dois seguem para “Registra o empréstimo”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Também é o ponto de retorno de um laço: o fluxo “volta” para a junção e repete os passos</a:t>
            </a:r>
          </a:p>
        </p:txBody>
      </p:sp>
      <p:pic>
        <p:nvPicPr>
          <p:cNvPr id="13" name="Elemento 1" descr="Diagrama: Junção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3063123"/>
            <a:ext cx="7199999" cy="612375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Decisão x junção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Decisão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1 entrada → várias saídas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Saídas com guarda [ ]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Divide: o fluxo escolhe UM caminho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Junção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Várias entradas → 1 saída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Sem guardas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Reúne: caminhos alternativos voltam a ser um</a:t>
            </a:r>
          </a:p>
        </p:txBody>
      </p:sp>
      <p:pic>
        <p:nvPicPr>
          <p:cNvPr id="16" name="Elemento 1" descr="Diagrama: Decisão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5990" y="5300000"/>
            <a:ext cx="3268020" cy="2900000"/>
          </a:xfrm>
          <a:prstGeom prst="rect">
            <a:avLst/>
          </a:prstGeom>
        </p:spPr>
      </p:pic>
      <p:pic>
        <p:nvPicPr>
          <p:cNvPr id="17" name="Elemento 2" descr="Diagrama: Junção (Aula 7 - Elementos um a um.drawio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76396" y="5300000"/>
            <a:ext cx="3047208" cy="290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rápido: qual elemento?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Onde o fluxo começa?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Um passo do processo, como “Aplica 5% de desconto”?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O ponto em que o caminho se divide conforme uma condição?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O ponto que reúne caminhos alternativos de volta a um só?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O símbolo que encerra a atividade inteira?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O texto entre colchetes na saída de uma decisão?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qual elemento?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Nó inicial (círculo preenchido)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Ação (retângulo de cantos arredondados)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Decisão (losango com 1 entrada e várias saídas)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Junção (losango com várias entradas e 1 saída)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Nó final da atividade (o “alvo”)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Condição de guarda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simples: “ligar o computador”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9000" y="3174799"/>
            <a:ext cx="9170000" cy="600040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exemplo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Começa no nó inicial e segue para a ação “Pressiona o botão liga/desliga”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Decisão: “O computador ligou?” - duas saídas, as duas rotuladas: [sim] e [não]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[sim] → usa normalmente; [não] → verifica o cabo de energia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caminho termina no seu próprio nó final - é permitido ter mais de um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Ainda sem raias: quando só uma pessoa age, as raias podem ser omitidas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Laços: repetindo 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Às vezes um passo precisa se repetir até uma condição ser atendida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UML não existe símbolo especial de “laço”: usamos uma decisão + uma seta que VOLTA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seta de volta chega em uma junção posicionada ANTES dos passos que se repetem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senha errada → tenta de novo, até 3 tentativas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 laço precisa de uma saída: senão o processo nunca termina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de laço: login no app do TechBurger (parte 1)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54743" y="2900000"/>
            <a:ext cx="14178514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de laço: login no app do TechBurger (parte 2)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6742" y="2900000"/>
            <a:ext cx="10774516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laço do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digita e-mail e senha; o sistema valida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[senha correta] → exibe o cardápio e termina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[senha incorreta] → nova decisão: ainda há tentativas?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[tentativas &lt; 3] → a seta volta para a junção e o cliente digita de novo (o laço)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[3 tentativas] → o sistema bloqueia o acesso por 15 minutos: é a saída do laço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Paralelismo: a bifurcação (fork)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Barra preta grossa com UMA entrada e VÁRIAS saídas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Todos os caminhos de saída acontecem AO MESMO TEMPO (ou em qualquer ordem, sem esperar um pelo outro)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depois do pagamento, a cozinha prepara o pedido ENQUANTO o sistema credita os pontos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Diferente da decisão: na bifurcação não se escolhe um caminho - seguem-se TODOS</a:t>
            </a:r>
          </a:p>
        </p:txBody>
      </p:sp>
      <p:pic>
        <p:nvPicPr>
          <p:cNvPr id="13" name="Elemento 1" descr="Diagrama: Bifurcação (fork)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3947458"/>
            <a:ext cx="7200000" cy="435508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Paralelismo: a união (join)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Barra preta com VÁRIAS entradas e UMA saída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Sincroniza: o fluxo só continua quando TODOS os caminhos que chegam nela terminaram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só notifica “pedido pronto” depois que o preparo E os pontos estiverem concluídos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bifurcação precisa ser fechada por uma união (ou cada ramo termina em um nó final de fluxo)</a:t>
            </a:r>
          </a:p>
        </p:txBody>
      </p:sp>
      <p:pic>
        <p:nvPicPr>
          <p:cNvPr id="13" name="Elemento 1" descr="Diagrama: União (join) (Aula 7 - Elementos um a um.drawi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0000" y="3794915"/>
            <a:ext cx="7200000" cy="466016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de paralelismo: depois do pagamento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1614" y="2926376"/>
            <a:ext cx="11164772" cy="649724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paralelismo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barra de cima (bifurcação) abre 3 caminhos ao mesmo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Cozinha prepara o pedido  ·  Sistema credita os pontos  ·  Sistema envia pesquisa de satisfação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pesquisa termina num nó final de FLUXO (X): só aquele ramo acaba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barra de baixo (união) espera o preparo E os pontos; só então notifica 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Reparem: a união espera só os ramos que chegam nela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Decisão x bifurcação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Decisão (losango)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Segue UM caminho entre vários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Precisa de guardas [ ]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Fechada por uma junção (losango)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Bifurcação (barra)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Segue TODOS os caminhos juntos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Não tem guardas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Fechada por uma união (barra)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rápido: decisão ou bifurcação?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“Se o pagamento for aprovado, envia à cozinha; senão, cancela o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“Enquanto a cozinha prepara, o sistema credita os pontos”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“Só notifica o cliente quando o preparo e os pontos estiverem concluídos”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“O pedido é de retirada ou de entrega?”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“Após o cadastro, envia e-mail de boas-vindas e SMS de confirmação”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decisão ou bifurcação?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Decisão - o fluxo segue um de dois caminhos, com guardas [aprovado]/[recusado]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Bifurcação (fork) - os dois passos acontecem em paralelo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União (join) - espera os dois caminhos paralelos terminarem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Decisão - [retirada]/[entrega]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Bifurcação - e-mail e SMS saem ao mesmo tempo, sem condição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Raias (swimlanes)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Faixas verticais (ou horizontais), cada uma com o nome de um responsável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ação é desenhada DENTRO da raia de quem a executa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seta que cruza de uma raia para outra mostra uma “passagem de bastão”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Cliente monta o carrinho → Sistema valida o valor → Cozinha prepara 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Deixam claro de quem é cada responsabilidade - e revelam passos sem dono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escolher as raias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Comecem pelos ATORES do caso de uso (Aula 4): Cliente, Atendente, Gerente...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Incluam uma raia para o próprio Sistema: tudo o que é automático fica nela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Setores ou áreas também podem ser raias: Cozinha, Financeiro, Estoque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Sistemas externos (ex.: Sistema de Pagamento) podem ganhar raia se fizerem ações importantes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Poucas raias bem escolhidas: 2 a 4 costumam bastar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 ação vai na raia de quem EXECUTA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Pergunta-chave: quem REALIZA este passo? (não quem se beneficia dele)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“Aplica 5% de desconto” → Sistema (é automático), não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“Prepara o pedido” → Cozinha, não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“Sugere item substituto” → Sistema (é o app que sugere), mesmo que a falta seja no estoque da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Ação na raia errada é um dos erros mais comuns - vamos caçá-los no “encontre o erro”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Das regras de negócio às decisões (Aula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Quase toda regra de negócio vira uma DECISÃO (ou uma ação) no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do valor mínimo (R$ 15,00) → decisão [valor total ≥ R$ 15,00?]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do raio de 5 km → decisão [endereço a até 5 km?]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do item em falta → decisão [em estoque?] + ação “Sugere item substituto”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do PIX → ação “Aplica 5% de desconto”; regra dos 10 itens → decisão + confirmação do gerente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Do caso de uso ao diagrama de atividades (Aula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caso de uso importante pode ganhar seu próprio diagrama de atividades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atores do caso de uso viram as raias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«include» vira um trecho que SEMPRE aparece no fluxo (ex.: confirmar o pagamento)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«extend» vira um caminho que só aparece em uma condição (ex.: aplicar desconto PIX)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isso hoje modelamos o fluxo de “Fazer Pedido pelo App”, que já conhecemos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Atividades e classes (Aulas 5 e 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ações do diagrama de atividades costumam corresponder a MÉTODOS das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“Aplica 5% de desconto” → Pagamento.aplicarDesconto()  ·  “Credita os pontos” → Cliente.acumularPontos()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decisões consultam ATRIBUTOS: [valor total ≥ 15] usa Pedido./valorTotal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uma ação não tem classe nenhuma “dona” dela, talvez esteja faltando algo no diagrama de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diagramas conversam entre si: é o mesmo sistema visto de ângulos diferentes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a passo para construir um diagrama de atividades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Escolham UM processo (ou caso de uso) e deem um nome a ele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Definam as raias: quem participa?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Listem as ações em ordem, como uma receita (verbo + complemento)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Marquem onde há regras de negócio: ali entram as decisões, com guardas completas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Vejam o que pode acontecer em paralelo (bifurcação/união) e o que se repete (laço)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Coloquem nó inicial, nós finais e confiram: todo caminho termina?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Leiam em voz alta, do início ao fim, cada caminho possível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nível de detalhe certo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Detalhado demais: “Clica no campo”, “Digita a letra”, “Aperta Enter” - vira manual de tela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Genérico demais: “Faz o pedido” → “Entrega o pedido” - não mostra regra nenhuma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ponto certo: cada regra de negócio relevante aparece como uma decisão ou 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Dica: se o diagrama não cabe numa página, provavelmente são dois processos diferentes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Biblioteca “Ler Mais”: emprestar um livro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Raias: Associado, Bibliotecário e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associado pede o livro; o bibliotecário registra no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(Aula 1): quem já tem 3 livros emprestados não pode pegar um quarto → empréstimo recusado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(Aula 1): professores têm prazo de 30 dias; os demais, 14 dias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sistema registra o empréstimo e a data de devolução; o bibliotecário entrega o livro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Biblioteca: diagrama de atividades “Emprestar livro” (parte 1)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23383" y="2900000"/>
            <a:ext cx="1484123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Biblioteca: diagrama de atividades “Emprestar livro” (parte 2)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48608" y="2900000"/>
            <a:ext cx="979078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diagrama da Biblioteca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1 [já possui 3 livros?]: [sim] → o bibliotecário informa a recusa e o fluxo termina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2 [é professor?]: [sim] → prazo de 30 dias; [não] → prazo de 14 dias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junção reúne os dois prazos: dali em diante o fluxo é o mesmo para todos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setas cruzam as raias: Associado → Bibliotecário → Sistema → Bibliotecário → Associado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Comparem com a Aula 6: o “0..3” do diagrama de classes aparece aqui como uma decisão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Mini-exercício: devolver um livro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(Aula 1): devolução com atraso gera multa de R$ 1,00 por dia...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... exceto livros reservados para leitura escolar, que nunca geram multa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Pensem, em duplas (3 minutos): quais DECISÕES esse fluxo tem? Em que ordem?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Quais raias participam? O que acontece depois que a multa é paga?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devolver um livro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Associado devolve o livro → Bibliotecário registra a devolução no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Sistema decide [devolvido com atraso?] - [não] → segue direto para encerrar o empréstimo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[sim] → nova decisão [livro de leitura escolar?] - [sim] → sem multa, segue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[não] → Sistema calcula a multa (R$ 1,00 × dias de atraso) → Associado paga a multa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Uma junção reúne os 3 caminhos → Sistema encerra o empréstimo → nó final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Pontos de fidelidade do TechBurger - ao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Vamos construir juntos, no draw.io, antes das atividades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Mapa do draw.io: as partes da tela</a:t>
            </a:r>
          </a:p>
        </p:txBody>
      </p:sp>
      <p:pic>
        <p:nvPicPr>
          <p:cNvPr id="12" name="Picture 11" descr="drawio_tela_ge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637" y="2903092"/>
            <a:ext cx="10652725" cy="6543817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mapa da tela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Pesquisa de formas: digite o nome (em inglês) e aperte Enter - ex.: "flow final"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Paleta UML: clique no nome "UML" para abrir; dela saem quase todas as formas de hoje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Menu Arquivo: Salvar como (.drawio) e Exportar como › PNG para entregar a imagem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Área de desenho: arraste as formas da esquerda e solte aqui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Painel da direita: com uma forma selecionada, mostra Estilo, Texto e Organizar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Páginas: as abas de baixo; o "+" cria outra página no mesmo arquivo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ficam as formas: a paleta UML</a:t>
            </a:r>
          </a:p>
        </p:txBody>
      </p:sp>
      <p:pic>
        <p:nvPicPr>
          <p:cNvPr id="12" name="Picture 11" descr="drawio_paleta_u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364" y="2903092"/>
            <a:ext cx="9179272" cy="654381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Fora da paleta UML: a raia e o nó final de fluxo</a:t>
            </a:r>
          </a:p>
        </p:txBody>
      </p:sp>
      <p:pic>
        <p:nvPicPr>
          <p:cNvPr id="12" name="Picture 11" descr="drawio_raia_e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761084"/>
            <a:ext cx="16400000" cy="482783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Ligando as formas com setas</a:t>
            </a:r>
          </a:p>
        </p:txBody>
      </p:sp>
      <p:pic>
        <p:nvPicPr>
          <p:cNvPr id="12" name="Picture 11" descr="drawio_conec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265" y="2903092"/>
            <a:ext cx="10311469" cy="6543817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Setas e guardas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Passe o mouse sobre a forma: aparecem 4 setas azuis; arraste uma até a próxima forma e solte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Os "x" azuis são pontos de conexão: soltar a seta sobre eles a deixa presa à forma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Guarda: dê duplo clique na seta que sai da decisão e digite [sim], [não], [valor ≥ R$ 15,00]...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Seta presa acompanha a forma quando você a move; seta "solta" fica para trás - confira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Para mudar o caminho da seta, arraste o ponto azul que aparece no meio dela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Cola do draw.io: onde fica cada elemento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Nó inicial → UML › "Start" (bolinha preta com seta)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Ação → UML › "Activity" (retângulo arredondado) - duplo clique para escrever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e junção → UML › "Condition" (losango) - o mesmo losango serve para os dois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Bifurcação e união → UML › "Fork/Join" (barra preta) - estique pelas alças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Nó final da atividade → UML › "End" (o "alvo")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Nó final de fluxo → pesquise "flow final" (círculo com X)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Raia → Geral › "Vertical Container" - uma por responsável, lado a lado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Atalhos e cuidados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Duplo clique edita o texto  ·  Ctrl+D duplica  ·  Ctrl+Z desfaz  ·  Delete apaga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Start, Activity e Condition já vêm com uma seta pendurada: ligue a ponta dela na próxima forma (ou apague)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Solte a forma DENTRO da raia: a raia fica destacada e passa a levar a forma junto quando é movida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formas vêm amarelas com borda vermelha: a cor não muda o significado, pode deixar assim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 o fluxo crescer, estique a raia para baixo pelas alças (quadradinhos azuis)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Salvem sempre: Arquivo › Salvar como → "Atividade1_Grupo3.drawio", por exemplo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a passo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Abram o draw.io e cliquem em “UML” na barra de formas à esquerda (cola no slide 66)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Criem 2 raias com Geral › “Vertical Container”, lado a lado: Cliente e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Coloquem o nó inicial e a ação “Finaliza a compra (pagamento confirmado)” na raia do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Na raia do Sistema: “Calcula os pontos (1 a cada R$ 10,00)” e “Soma os pontos ao saldo”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Adicionem a decisão [saldo ≥ 100 pontos?] com as duas guardas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[sim] → “Concede combo grátis na próxima compra” → “Zera a pontuação” → junção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Terminem com “Exibe o saldo atualizado” e “Visualiza o saldo no app” → nó final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Resultado: acumular pontos de fidelidade (parte 1)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44727" y="2903092"/>
            <a:ext cx="13198546" cy="6543817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Resultado: acumular pontos de fidelidade (parte 2)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0009" y="2903092"/>
            <a:ext cx="8147981" cy="6543817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 nó inicial e todo caminho chega a um nó final?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ação tem verbo + complemento e está na raia de quem executa?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decisão tem as duas saídas com guarda, completas e exclusivas ([sim] / [não] na decisão “saldo ≥ 100 pontos?”)?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junção reúne os caminhos antes do passo comum?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da Aula 1 (100 pontos → combo grátis e pontuação zerada) aparece inteira?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Diagrama de Atividades: pedido pelo app com PIX (TechBurger)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30 minutos, em grupo, no draw.io ou no papel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1 -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grupos de 3 a 4: desenhem o diagrama de atividades do caso de uso “Fazer Pedido pelo App”, pagando com PIX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Usem 3 raias: Cliente, Sistema e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Usem o texto dos próximos slides (e a seção 7 da Apostila) como “entrevista” com a gerente Fernanda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Exigido: nó inicial, nós finais, pelo menos 4 decisões com guardas e 1 bifurcação/união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Ao final, um representante apresenta o diagrama à turma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 draw.io, para a atividade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Raias: Geral › "Vertical Container" - três lado a lado: Cliente, Sistema e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Início e fins: UML › "Start" e "End" (pagamento não confirmado também termina em "End")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Ações: UML › "Activity"  ·  decisões e a junção do carrinho: UML › "Condition"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Preparo e pontos ao mesmo tempo: UML › "Fork/Join" - uma barra abre, outra fecha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Guardas: duplo clique em cada seta que sai de um losango → [sim] / [não]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Laço: puxem a seta de volta até a junção que fica ANTES de "Monta o carrinho"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Esqueceu onde fica? Cola do draw.io no slide 66 e seção 6.1 da Apostila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fluxo contado pela gerente (parte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monta o carrinho no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o valor total for menor que R$ 15,00, o app avisa e o cliente volta ao carrinho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algum item estiver em falta, o sistema sugere um substituto e o cliente revê o carrinho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escolhe retirada ou entrega; para entrega, o endereço precisa estar a até 5 km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Fora do raio de 5 km, o sistema informa que o pedido só pode ser retirado no balcão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fluxo contado pela gerente (parte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escolhe pagar via PIX e o sistema aplica 5% de desconto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sistema envia a cobrança ao Sistema de Pagamento; se o pagamento não for confirmado, o pedido é cancelado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Pedidos com mais de 10 itens aguardam a confirmação de um gerente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 o pagamento confirmado, o pedido vai para a cozinha, que prepara e finaliza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Enquanto a cozinha trabalha, o sistema credita os pontos de fidelidade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 tudo pronto, o sistema notifica o cliente, que retira ou recebe o pedido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Pistas para 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Contem as decisões escondidas no texto: valor mínimo, estoque, tipo do pedido, raio de 5 km, pagamento, 10 itens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Duas delas “voltam” para o carrinho: usem uma junção logo antes de “Monta o carrinho”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preparo na cozinha e o crédito de pontos acontecem ao MESMO TEMPO: isso pede bifurcação e união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Pagamento não confirmado encerra tudo: nó final da atividade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Ordem importa: cobrar só DEPOIS de conferir valor, estoque e entrega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Nó inicial e nós finais presentes; nenhum caminho “pendurado”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3 raias usadas, com cada ação na raia de quem executa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Pelo menos 4 decisões, todas as saídas com guardas completas e exclusivas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Laço de volta ao carrinho passando por uma junção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Bifurcação e união envolvendo Cozinha e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Ações com verbo + complemento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Dicas para 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Primeiro listem as ações em ordem no papel; só depois desenhem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Dividam as tarefas: um lê o texto, outro desenha, outro confere o checklist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cada decisão perguntem: “e se NÃO?” - o caminho do “não” precisa ir para algum lugar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Leiam o diagrama em voz alta seguindo cada caminho possível antes de apresentar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para os grupos apresentarem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Qual regra de negócio foi mais difícil de encaixar no fluxo?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Onde o grupo colocou a verificação dos 10 itens: antes ou depois do pagamento? Justifique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acontece no diagrama de vocês se o pagamento for recusado?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 ações o grupo colocou em paralelo? Poderia haver outras?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CORREÇÃO COLETIVA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Resposta-modelo: pedido pelo app com PIX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Projetar e comparar com o que cada grupo produziu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(parte 1): do carrinho à escolha do PIX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4904" y="2900000"/>
            <a:ext cx="889819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(parte 2): do desconto ao envio para a Cozinha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5234" y="2900000"/>
            <a:ext cx="1045753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(parte 3): preparo em paralelo e entrega do pedido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09770" y="2900000"/>
            <a:ext cx="12068459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 resposta-modelo (parte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junção logo depois do nó inicial recebe os dois “voltar ao carrinho”: valor baixo e item em falta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[valor total ≥ R$ 15,00?] e [todos os itens em estoque?] são verificados ANTES de qualquer cobrança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Tipo do pedido: [retirada] segue direto; [entrega] passa pela decisão do raio de 5 km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Fora do raio: o sistema informa que só pode retirar no balcão, e o fluxo segue como retirada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segunda junção reúne os 3 caminhos antes de o cliente escolher o PIX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 resposta-modelo (partes 2 e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Desconto de 5% (PIX) → cobrança enviada ao Sistema de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[pagamento confirmado?]: [não] → cancela o pedido e termina (nó final)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[mais de 10 itens?]: [sim] → aguarda o gerente; uma junção reúne os dois caminhos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Bifurcação: Cozinha prepara e finaliza  ·  Sistema credita os pontos - em paralelo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União: só depois dos dois, o sistema notifica e o cliente retira ou recebe o pedido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Diferenças plausíveis entre grupos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Checar os 10 itens antes do pagamento também é aceitável, se o grupo justificar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Unir “Tipo do pedido?” e “Até 5 km?” numa decisão com 3 saídas é aceitável se as guardas forem claras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raia extra para Gerente ou Sistema de Pagamento é uma boa melhoria, não um erro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NÃO pode: cobrar antes de validar valor/estoque/entrega, decisão sem guarda, ação na raia errada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Diagrama de Atividades: reservar vaga em aula (Academia FitLife)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15 minutos, individual, no draw.io ou no papel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2 -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Sozinho(a): desenhe o diagrama de atividades do processo “Reservar vaga em aula coletiva” da FitLife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 3 raias: Aluno, Sistema e Instrutor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Exigido: nó inicial, nós finais, pelo menos 2 decisões com guardas e 1 bifurcação/união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Reaproveite o que já sabe da FitLife (Aulas 5 e 6): Aluno, Aula, Reserva, /pagamentosEmDia, /vagasDisponiveis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Ao terminar, compare com um colega antes da correção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 draw.io, para a atividade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Raias: Geral › "Vertical Container" - três lado a lado: Aluno, Sistema e Instrutor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Início: UML › "Start"  ·  ações: UML › "Activity"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[mensalidade em dia?] e [há vagas?]: UML › "Condition", com as guardas escritas nas setas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dois caminhos [não] terminam cada um no seu "End" (UML)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Confirmação e lista de presença ao mesmo tempo: duas barras "Fork/Join" (UML)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Salve como "Atividade2_SeuNome.drawio"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Esqueceu onde fica? Cola do draw.io no slide 66 e seção 6.1 da Apostila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processo de reserva na FitLife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aluno escolhe uma aula na grade do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sistema confere se a mensalidade está em dia; se não estiver, mostra um aviso de pagamento pendente e encerra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Depois confere se ainda há vagas; se a aula estiver lotada, inclui o aluno na lista de espera e encerra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Havendo vaga, o sistema cria a Reserva e atualiza as vagas disponíveis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Ao mesmo tempo, envia a confirmação ao aluno e o instrutor recebe a lista de presença atualizada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 as duas coisas feitas, o aluno comparece à aula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3 raias usadas, com cada ação na raia certa (quem EXECUTA)?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Duas decisões ([mensalidade em dia?] e [há vagas?]) com as duas saídas rotuladas?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caminhos “não” terminam em nós finais (ou seguem para algum lugar)?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Bifurcação abrindo a confirmação e a lista de presença, e união fechando as duas?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Ações com verbo + complemento?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- reservar vaga em aula (FitLife)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862" y="2900000"/>
            <a:ext cx="7748274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 resposta - FitLife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[mensalidade em dia?] vem ANTES de [há vagas?]: não faz sentido segurar vaga de quem não pode reservar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duas saídas [não] terminam em nós finais diferentes: aviso de pagamento e lista de espera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Reparem: a decisão usa o atributo derivado /pagamentosEmDia da Aula 5, e a reserva cria um objeto Reserva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bifurcação envia a confirmação e atualiza a lista do instrutor em paralelo; a união sincroniza os dois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então o aluno comparece à aula: o nó final da atividade fica na raia do Aluno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Diferenças plausíveis - FitLife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Inverter a ordem das duas decisões é aceitável, se a pessoa explicar o motivo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decisão extra do aluno (“Aceita a lista de espera?”) é uma boa melhoria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Terminar logo após a união (sem “Comparece à aula”) também é aceitável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NÃO pode: decisão sem guarda, bifurcação sem união, ação do Sistema na raia do Aluno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ENCONTRE O 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Um diagrama de atividades com 6 erros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Em duplas: 6 minutos para achar, explicar e corrigir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 erro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Analisem o diagrama do próximo slide: ele tem 6 erros propositais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Marquem onde está cada erro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Expliquem POR QUE é um erro (qual regra da aula foi violada)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como ficaria a correção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Sem consultar a Apostila nos primeiros 5 minutos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6 erros (em duplas)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8454" y="2900000"/>
            <a:ext cx="7411090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6 erros marcados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8454" y="2900000"/>
            <a:ext cx="7411090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encontrados e correções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Falta o nó inicial: o fluxo começa “do nada”, sem ponto de entrada - incluir o círculo preenchido antes da junção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Guardas incompletas: [&gt; 15] e [&lt; 15] não cobrem R$ 15,00 - usar [≥ R$ 15,00] e [&lt; R$ 15,00]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Decisão “Item em estoque?” sem guardas nas saídas - rotular [sim] e [não]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“Pagamento” não é ação (é substantivo) - trocar por “Escolhe pagar via PIX”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“Prepara o pedido” está na raia do Cliente - mover para a raia da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Caminhos paralelos fechados com losango (junção) - usar a barra de união (join)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 3 - REVISÃO GERAL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Do texto ao modelo: PetFeliz, das Aulas 1 a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35 minutos, em duplas, no caderno e no draw.io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uma revisão agora?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Já temos 7 aulas: regra de negócio, requisitos, critérios de aceite, UML, casos de uso, classes, cardinalidade e atividades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prática profissional, tudo isso é feito EM SEQUÊNCIA, sobre o mesmo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vamos aplicar tudo em um domínio que ainda não vimos: o pet shop PetFeliz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um ótimo treino para o Projeto Integrador (Aulas 16 a 19) e para a avaliação final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Cenário PetFeliz (parte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PetFeliz é um pet shop de bairro que quer um aplicativo para agendar banho e tosa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se cadastra com nome, telefone e e-mail e cadastra um ou mais pets (nome, espécie e porte)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agendamento é de exatamente um pet, para um serviço (banho, tosa ou banho e tosa), em uma data e horário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agendamento é atendido por um tosador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é possível agendar com pelo menos 2 horas de antecedência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Cenário PetFeliz (parte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Pets de porte grande pagam uma taxa adicional de R$ 20,00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faltar a 2 agendamentos seguidos sem avisar só pode agendar de novo pagando antecipadamente pelo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pagamento pode ser feito pelo app (cartão ou PIX) ou na loja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app precisa abrir a agenda em até 3 segundos e funcionar em Android e iOS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Ao terminar o serviço, o tosador marca o agendamento como concluído e o cliente é notificado para buscar o pet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Tarefas - partes A, B e C (Aulas 1 a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(Aula 1): identifiquem 3 regras de negócio e escrevam cada uma como Condição / Ação / Exceção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 (Aula 2): escrevam 3 requisitos funcionais e 2 requisitos não funcionais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 (Aula 3): escrevam 1 critério de aceite (Dado / Quando / Então) para a regra das 2 horas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 (Aula 3): classifiquem os diagramas de casos de uso, classes e atividades em estruturais ou comportamentais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Tarefas - partes D, E e F (Aulas 4 a 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 (Aula 4): listem os atores e pelo menos 4 casos de uso, com 1 «include» ou «extend»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(Aulas 5 e 6): 4 classes com 2 atributos e 1 método cada, e os relacionamentos COM cardinalidade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 (Aula 7): desenhem o diagrama de atividades “Agendar banho e tosa”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F: raias Cliente, Sistema e Tosador; pelo menos 3 decisões, com guardas; nó inicial e final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Sugestão de tempo: 5 min para A-C, 10 min para D-E, 15 min para F; os últimos minutos são da correção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 draw.io, para a atividade 3 (parte 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partes A a E podem ser feitas no caderno; a parte F vai no draw.io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Raias: Geral › "Vertical Container" - Cliente, Sistema e Tosador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Pelo menos 3 decisões: UML › "Condition", com guarda em TODAS as setas de saída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Início e fim: UML › "Start" e "End"  ·  ações: UML › "Activity"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Salvem como "Atividade3_Dupla.drawio" (com o nome dos dois)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Esqueceu onde fica? Cola do draw.io no slide 66 e seção 6.1 da Apostila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regra tem condição e ação claras (e exceção, quando existir)?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RF dizem O QUE o sistema faz; os RNF dizem COMO ele se comporta (tempo, plataforma)?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casos de uso começam com verbo e os atores ficam fora da fronteira?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associação tem cardinalidade nas duas pontas, justificada pelo texto?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regras das partes A e B aparecem como decisões no diagrama da parte F?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CORREÇÃO COLETIVA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Resposta-modelo: PetFeliz de ponta a ponta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Comparem parte por parte - o importante é a coerência entre as partes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A: regras de negócio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Antecedência: Condição - horário a menos de 2 h do agora · Ação - recusar o agendamento · Exceção - nenhuma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Porte grande: Condição - pet de porte grande · Ação - acrescentar R$ 20,00 ao valor · Exceção - nenhuma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Faltas: Condição - 2 faltas seguidas sem aviso · Ação - exigir pagamento antecipado pelo app · Exceção - faltas avisadas não contam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Outras aceitáveis: notificação ao concluir o serviço (disparador de ação)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partes B e C: requisitos e critério de aceite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RF: cadastrar cliente e pets · agendar escolhendo pet, serviço, data e horário · recusar agendamento com menos de 2 h · notificar o cliente ao concluir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RNF: abrir a agenda em até 3 segundos (desempenho) · funcionar em Android e iOS (portabilidade)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 que o cliente escolhe um horário que começa daqui a 1 hora, Quando ele tenta confirmar o agendamento, Então o sistema recusa e informa a antecedência mínima de 2 horas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Estruturais: classes · Comportamentais: casos de uso e atividades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D: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Atores: Cliente, Tosador e Sistema de Pagamento (ator externo)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Cliente: Cadastrar Pet, Agendar Banho e Tosa, Cancelar Agendamento, Pagar pelo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Tosador: Consultar Agenda, Concluir Atendimento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«extend»: Pagar Antecipadamente estende Agendar Banho e Tosa (só para quem tem 2 faltas seguidas)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«include»: Agendar Banho e Tosa inclui Verificar Disponibilidade (sempre acontece)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E: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Cliente: - nome, - telefone, - email; + cadastrarPet()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Pet: - nome, - especie, - porte; + ehPorteGrande(): Booleano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Agendamento: - dataHora, - servico, - status, - /valorTotal; + concluir()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Tosador: - nome, - especialidade; + consultarAgenda()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Opcional: Pagamento: - forma, - valor; + confirmar()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E: relacionamentos e cardinalidade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1 —— 1..* Pet (o texto diz “um ou mais pets”)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Pet 1 —— 0..* Agendamento (cada agendamento é de exatamente um pet)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Agendamento 0..* —— 1 Tosador (cada agendamento é atendido por um tosador)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Agendamento 1 —— 0..1 Pagamento (pode ser pago depois, na loja)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herança neste cenário - nenhuma classe “é um tipo de” outra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F (1): da escolha do horário ao registro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6273" y="2900000"/>
            <a:ext cx="855545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F (2): do tosador à busca do pet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36162" y="2900000"/>
            <a:ext cx="11215676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fio condutor da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das 2 horas aparece 4 vezes: regra (A), requisito (B), critério de aceite (C) e decisão no diagrama (F)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das 2 faltas vira um «extend» (D) e uma decisão (F)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porte do pet é atributo de Pet (E) e decisão no fluxo (F)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atores dos casos de uso (D) viraram as raias do diagrama de atividades (F)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Modelar é isso: o mesmo sistema, visto de ângulos diferentes, sempre coerente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ao modelar atividades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Esquecer o nó inicial ou deixar caminhos sem chegar a um nó final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sem guardas, ou guardas que não cobrem todos os casos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Ação sem verbo (“Pagamento”) ou em nível de clique (“Clica em OK”)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Ação na raia de quem se beneficia, e não de quem executa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Confundir decisão (losango) com bifurcação (barra), ou fechar paralelo com losango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Ordem errada que viola regra de negócio: cobrar antes de validar estoque e entrega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Boas práticas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diagrama por processo (ou caso de uso), com um nome claro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Fluxo principal de cima para baixo; caminhos alternativos para os lados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Guardas curtas e objetivas, sempre entre colchetes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Raias na ordem em que “recebem o bastão” (ex.: Cliente, Sistema, Cozinha)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Revisar em voz alta com alguém do negócio: “é assim mesmo que funciona?”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Resumo visual: os elementos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Nó inicial (●) → Ações (retângulos arredondados) ligadas por setas → Nó final (alvo)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(◇ com guardas) divide  ·  Junção (◇) reúne caminhos alternativos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Bifurcação (barra) abre caminhos paralelos  ·  União (barra) espera todos terminarem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Nó final de fluxo (⊗) encerra só um ramo  ·  Raias mostram quem executa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atividades - diagrama comportamental que mostra o fluxo de um processo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Ação - um passo do processo (verbo + complemento)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Nó inicial / nó final da atividade / nó final de fluxo - início, fim de tudo, fim de um ramo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/ junção - dividir por condição / reunir caminhos alternativos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Condição de guarda - condição entre colchetes na saída de uma decisão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Bifurcação (fork) / união (join) - abrir / sincronizar caminhos paralelos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Raia (swimlane) - faixa que indica o responsável pelas ações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Qual a diferença entre um diagrama estrutural e um comportamental? Dê um exemplo de cada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Qual a diferença entre nó final da atividade e nó final de fluxo?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Por que as guardas de uma decisão precisam ser completas e exclusivas?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Qual a diferença entre decisão e bifurcação? E entre junção e união?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Como se representa um laço no diagrama de atividades?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Em que raia vai a ação “Aplica 5% de desconto”?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Como uma regra de negócio da Aula 1 aparece no diagrama de atividades?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8.  Qual a relação entre as ações do diagrama de atividades e os métodos das classes?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para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Qual símbolo marca o início do fluxo?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Quantas saídas uma junção tem?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O que acontece quando o fluxo chega a um nó final de fluxo (⊗)?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Qual elemento espera TODOS os caminhos paralelos terminarem?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Cite uma regra de negócio do TechBurger que virou decisão no diagrama de hoje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atividades: o comportamento, o passo a passo de um processo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Elementos: nós inicial e finais, ações, fluxos, decisão/junção, bifurcação/união e raias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Laços, paralelismo e a ligação com regras (Aula 1), casos de uso (Aula 4) e classes (Aulas 5 e 6)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Praticamos três vezes: TechBurger (grupo), FitLife (individual) e PetFeliz (revisão geral)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Análise crítica: encontramos e corrigimos 6 erros em um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(09/10): Diagrama de Sequência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755</Words>
  <Application>Microsoft Office PowerPoint</Application>
  <PresentationFormat>Personalizar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Unbounded 1 Ultra-Bold</vt:lpstr>
      <vt:lpstr>Calibri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14</cp:revision>
  <dcterms:created xsi:type="dcterms:W3CDTF">2006-08-16T00:00:00Z</dcterms:created>
  <dcterms:modified xsi:type="dcterms:W3CDTF">2026-08-30T15:39:53Z</dcterms:modified>
  <dc:identifier>DAGGnDa8uXQ</dc:identifier>
</cp:coreProperties>
</file>