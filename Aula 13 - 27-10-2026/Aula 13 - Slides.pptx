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_001_empresa.svg" ContentType="image/svg+xml"/>
  <Override PartName="/ppt/media/diag_002_ciclo_full.svg" ContentType="image/svg+xml"/>
  <Override PartName="/ppt/media/diag_003_ciclo_backlog.svg" ContentType="image/svg+xml"/>
  <Override PartName="/ppt/media/diag_004_ciclo_planning.svg" ContentType="image/svg+xml"/>
  <Override PartName="/ppt/media/diag_005_ciclo_daily.svg" ContentType="image/svg+xml"/>
  <Override PartName="/ppt/media/diag_006_ciclo_review.svg" ContentType="image/svg+xml"/>
  <Override PartName="/ppt/media/diag_007_ciclo_retro.svg" ContentType="image/svg+xml"/>
  <Override PartName="/ppt/media/diag_008_ciclo_incremento.svg" ContentType="image/svg+xml"/>
  <Override PartName="/ppt/media/diag_009_kanban.svg" ContentType="image/svg+xml"/>
  <Override PartName="/ppt/media/diag_010_roadmap.svg" ContentType="image/svg+xml"/>
  <Override PartName="/ppt/media/diag_011_squads.svg" ContentType="image/svg+xml"/>
  <Override PartName="/ppt/media/diag_012_rastro.svg" ContentType="image/svg+xml"/>
  <Override PartName="/ppt/media/diag_013_fluxo_full.svg" ContentType="image/svg+xml"/>
  <Override PartName="/ppt/media/diag_014_fluxo_repo.svg" ContentType="image/svg+xml"/>
  <Override PartName="/ppt/media/diag_015_fluxo_issue.svg" ContentType="image/svg+xml"/>
  <Override PartName="/ppt/media/diag_016_fluxo_fork.svg" ContentType="image/svg+xml"/>
  <Override PartName="/ppt/media/diag_017_fluxo_branch.svg" ContentType="image/svg+xml"/>
  <Override PartName="/ppt/media/diag_018_fluxo_commit.svg" ContentType="image/svg+xml"/>
  <Override PartName="/ppt/media/diag_019_fluxo_pr.svg" ContentType="image/svg+xml"/>
  <Override PartName="/ppt/media/diag_020_fluxo_review.svg" ContentType="image/svg+xml"/>
  <Override PartName="/ppt/media/diag_021_fluxo_merge.svg" ContentType="image/svg+xml"/>
  <Override PartName="/ppt/media/diag_022_repo.svg" ContentType="image/svg+xml"/>
  <Override PartName="/ppt/media/diag_023_passo0.svg" ContentType="image/svg+xml"/>
  <Override PartName="/ppt/media/diag_024_passo2.svg" ContentType="image/svg+xml"/>
  <Override PartName="/ppt/media/diag_025_passo3.svg" ContentType="image/svg+xml"/>
  <Override PartName="/ppt/media/diag_026_passo4.svg" ContentType="image/svg+xml"/>
  <Override PartName="/ppt/media/diag_027_passo5.svg" ContentType="image/svg+xml"/>
  <Override PartName="/ppt/media/diag_028_passo6.svg" ContentType="image/svg+xml"/>
  <Override PartName="/ppt/media/diag_029_passo7.svg" ContentType="image/svg+xml"/>
  <Override PartName="/ppt/media/diag_030_enc.svg" ContentType="image/svg+xml"/>
  <Override PartName="/ppt/media/diag_031_encm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927" r:id="rId96"/>
    <p:sldId id="928" r:id="rId84"/>
    <p:sldId id="929" r:id="rId83"/>
    <p:sldId id="930" r:id="rId78"/>
    <p:sldId id="931" r:id="rId77"/>
    <p:sldId id="932" r:id="rId76"/>
    <p:sldId id="933" r:id="rId75"/>
    <p:sldId id="934" r:id="rId74"/>
    <p:sldId id="935" r:id="rId73"/>
    <p:sldId id="936" r:id="rId67"/>
    <p:sldId id="937" r:id="rId66"/>
    <p:sldId id="938" r:id="rId65"/>
    <p:sldId id="939" r:id="rId64"/>
    <p:sldId id="940" r:id="rId63"/>
    <p:sldId id="941" r:id="rId62"/>
    <p:sldId id="942" r:id="rId61"/>
    <p:sldId id="943" r:id="rId60"/>
    <p:sldId id="944" r:id="rId59"/>
    <p:sldId id="945" r:id="rId58"/>
    <p:sldId id="946" r:id="rId57"/>
    <p:sldId id="947" r:id="rId56"/>
    <p:sldId id="948" r:id="rId55"/>
    <p:sldId id="949" r:id="rId54"/>
    <p:sldId id="950" r:id="rId119"/>
    <p:sldId id="951" r:id="rId120"/>
    <p:sldId id="952" r:id="rId121"/>
    <p:sldId id="953" r:id="rId122"/>
    <p:sldId id="954" r:id="rId123"/>
    <p:sldId id="955" r:id="rId124"/>
    <p:sldId id="956" r:id="rId125"/>
    <p:sldId id="957" r:id="rId126"/>
    <p:sldId id="958" r:id="rId127"/>
    <p:sldId id="959" r:id="rId128"/>
    <p:sldId id="960" r:id="rId129"/>
    <p:sldId id="961" r:id="rId130"/>
    <p:sldId id="962" r:id="rId131"/>
    <p:sldId id="963" r:id="rId132"/>
    <p:sldId id="964" r:id="rId133"/>
    <p:sldId id="965" r:id="rId134"/>
    <p:sldId id="966" r:id="rId53"/>
    <p:sldId id="967" r:id="rId52"/>
    <p:sldId id="968" r:id="rId137"/>
    <p:sldId id="969" r:id="rId138"/>
    <p:sldId id="970" r:id="rId139"/>
    <p:sldId id="971" r:id="rId140"/>
    <p:sldId id="972" r:id="rId141"/>
    <p:sldId id="973" r:id="rId51"/>
    <p:sldId id="974" r:id="rId50"/>
    <p:sldId id="975" r:id="rId49"/>
    <p:sldId id="976" r:id="rId48"/>
    <p:sldId id="977" r:id="rId47"/>
    <p:sldId id="978" r:id="rId46"/>
    <p:sldId id="979" r:id="rId45"/>
    <p:sldId id="980" r:id="rId44"/>
    <p:sldId id="981" r:id="rId43"/>
    <p:sldId id="982" r:id="rId42"/>
    <p:sldId id="983" r:id="rId41"/>
    <p:sldId id="984" r:id="rId40"/>
    <p:sldId id="985" r:id="rId39"/>
    <p:sldId id="986" r:id="rId38"/>
    <p:sldId id="987" r:id="rId37"/>
    <p:sldId id="988" r:id="rId36"/>
    <p:sldId id="989" r:id="rId35"/>
    <p:sldId id="990" r:id="rId34"/>
    <p:sldId id="991" r:id="rId33"/>
    <p:sldId id="992" r:id="rId32"/>
    <p:sldId id="993" r:id="rId31"/>
    <p:sldId id="994" r:id="rId30"/>
    <p:sldId id="995" r:id="rId24"/>
    <p:sldId id="996" r:id="rId23"/>
    <p:sldId id="997" r:id="rId22"/>
    <p:sldId id="998" r:id="rId21"/>
    <p:sldId id="999" r:id="rId20"/>
    <p:sldId id="1000" r:id="rId19"/>
    <p:sldId id="1001" r:id="rId18"/>
    <p:sldId id="1002" r:id="rId17"/>
    <p:sldId id="1003" r:id="rId172"/>
    <p:sldId id="1004" r:id="rId173"/>
    <p:sldId id="1005" r:id="rId174"/>
    <p:sldId id="1006" r:id="rId175"/>
    <p:sldId id="1007" r:id="rId16"/>
    <p:sldId id="1008" r:id="rId15"/>
    <p:sldId id="1009" r:id="rId178"/>
    <p:sldId id="1010" r:id="rId179"/>
    <p:sldId id="1011" r:id="rId180"/>
    <p:sldId id="1012" r:id="rId181"/>
    <p:sldId id="1013" r:id="rId14"/>
    <p:sldId id="1014" r:id="rId13"/>
    <p:sldId id="1015" r:id="rId12"/>
    <p:sldId id="1016" r:id="rId185"/>
    <p:sldId id="1017" r:id="rId186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2" Type="http://schemas.openxmlformats.org/officeDocument/2006/relationships/slide" Target="slides/slide175.xml"/><Relationship Id="rId13" Type="http://schemas.openxmlformats.org/officeDocument/2006/relationships/slide" Target="slides/slide174.xml"/><Relationship Id="rId14" Type="http://schemas.openxmlformats.org/officeDocument/2006/relationships/slide" Target="slides/slide173.xml"/><Relationship Id="rId15" Type="http://schemas.openxmlformats.org/officeDocument/2006/relationships/slide" Target="slides/slide168.xml"/><Relationship Id="rId16" Type="http://schemas.openxmlformats.org/officeDocument/2006/relationships/slide" Target="slides/slide167.xml"/><Relationship Id="rId17" Type="http://schemas.openxmlformats.org/officeDocument/2006/relationships/slide" Target="slides/slide162.xml"/><Relationship Id="rId18" Type="http://schemas.openxmlformats.org/officeDocument/2006/relationships/slide" Target="slides/slide161.xml"/><Relationship Id="rId19" Type="http://schemas.openxmlformats.org/officeDocument/2006/relationships/slide" Target="slides/slide160.xml"/><Relationship Id="rId20" Type="http://schemas.openxmlformats.org/officeDocument/2006/relationships/slide" Target="slides/slide159.xml"/><Relationship Id="rId21" Type="http://schemas.openxmlformats.org/officeDocument/2006/relationships/slide" Target="slides/slide158.xml"/><Relationship Id="rId22" Type="http://schemas.openxmlformats.org/officeDocument/2006/relationships/slide" Target="slides/slide157.xml"/><Relationship Id="rId23" Type="http://schemas.openxmlformats.org/officeDocument/2006/relationships/slide" Target="slides/slide156.xml"/><Relationship Id="rId24" Type="http://schemas.openxmlformats.org/officeDocument/2006/relationships/slide" Target="slides/slide155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54.xml"/><Relationship Id="rId31" Type="http://schemas.openxmlformats.org/officeDocument/2006/relationships/slide" Target="slides/slide153.xml"/><Relationship Id="rId32" Type="http://schemas.openxmlformats.org/officeDocument/2006/relationships/slide" Target="slides/slide152.xml"/><Relationship Id="rId33" Type="http://schemas.openxmlformats.org/officeDocument/2006/relationships/slide" Target="slides/slide151.xml"/><Relationship Id="rId34" Type="http://schemas.openxmlformats.org/officeDocument/2006/relationships/slide" Target="slides/slide150.xml"/><Relationship Id="rId35" Type="http://schemas.openxmlformats.org/officeDocument/2006/relationships/slide" Target="slides/slide149.xml"/><Relationship Id="rId36" Type="http://schemas.openxmlformats.org/officeDocument/2006/relationships/slide" Target="slides/slide148.xml"/><Relationship Id="rId37" Type="http://schemas.openxmlformats.org/officeDocument/2006/relationships/slide" Target="slides/slide147.xml"/><Relationship Id="rId38" Type="http://schemas.openxmlformats.org/officeDocument/2006/relationships/slide" Target="slides/slide146.xml"/><Relationship Id="rId39" Type="http://schemas.openxmlformats.org/officeDocument/2006/relationships/slide" Target="slides/slide145.xml"/><Relationship Id="rId40" Type="http://schemas.openxmlformats.org/officeDocument/2006/relationships/slide" Target="slides/slide144.xml"/><Relationship Id="rId41" Type="http://schemas.openxmlformats.org/officeDocument/2006/relationships/slide" Target="slides/slide143.xml"/><Relationship Id="rId42" Type="http://schemas.openxmlformats.org/officeDocument/2006/relationships/slide" Target="slides/slide142.xml"/><Relationship Id="rId43" Type="http://schemas.openxmlformats.org/officeDocument/2006/relationships/slide" Target="slides/slide141.xml"/><Relationship Id="rId44" Type="http://schemas.openxmlformats.org/officeDocument/2006/relationships/slide" Target="slides/slide140.xml"/><Relationship Id="rId45" Type="http://schemas.openxmlformats.org/officeDocument/2006/relationships/slide" Target="slides/slide139.xml"/><Relationship Id="rId46" Type="http://schemas.openxmlformats.org/officeDocument/2006/relationships/slide" Target="slides/slide138.xml"/><Relationship Id="rId47" Type="http://schemas.openxmlformats.org/officeDocument/2006/relationships/slide" Target="slides/slide137.xml"/><Relationship Id="rId48" Type="http://schemas.openxmlformats.org/officeDocument/2006/relationships/slide" Target="slides/slide136.xml"/><Relationship Id="rId49" Type="http://schemas.openxmlformats.org/officeDocument/2006/relationships/slide" Target="slides/slide135.xml"/><Relationship Id="rId50" Type="http://schemas.openxmlformats.org/officeDocument/2006/relationships/slide" Target="slides/slide134.xml"/><Relationship Id="rId51" Type="http://schemas.openxmlformats.org/officeDocument/2006/relationships/slide" Target="slides/slide133.xml"/><Relationship Id="rId52" Type="http://schemas.openxmlformats.org/officeDocument/2006/relationships/slide" Target="slides/slide127.xml"/><Relationship Id="rId53" Type="http://schemas.openxmlformats.org/officeDocument/2006/relationships/slide" Target="slides/slide126.xml"/><Relationship Id="rId54" Type="http://schemas.openxmlformats.org/officeDocument/2006/relationships/slide" Target="slides/slide109.xml"/><Relationship Id="rId55" Type="http://schemas.openxmlformats.org/officeDocument/2006/relationships/slide" Target="slides/slide108.xml"/><Relationship Id="rId56" Type="http://schemas.openxmlformats.org/officeDocument/2006/relationships/slide" Target="slides/slide107.xml"/><Relationship Id="rId57" Type="http://schemas.openxmlformats.org/officeDocument/2006/relationships/slide" Target="slides/slide106.xml"/><Relationship Id="rId58" Type="http://schemas.openxmlformats.org/officeDocument/2006/relationships/slide" Target="slides/slide105.xml"/><Relationship Id="rId59" Type="http://schemas.openxmlformats.org/officeDocument/2006/relationships/slide" Target="slides/slide104.xml"/><Relationship Id="rId60" Type="http://schemas.openxmlformats.org/officeDocument/2006/relationships/slide" Target="slides/slide103.xml"/><Relationship Id="rId61" Type="http://schemas.openxmlformats.org/officeDocument/2006/relationships/slide" Target="slides/slide102.xml"/><Relationship Id="rId62" Type="http://schemas.openxmlformats.org/officeDocument/2006/relationships/slide" Target="slides/slide101.xml"/><Relationship Id="rId63" Type="http://schemas.openxmlformats.org/officeDocument/2006/relationships/slide" Target="slides/slide100.xml"/><Relationship Id="rId64" Type="http://schemas.openxmlformats.org/officeDocument/2006/relationships/slide" Target="slides/slide99.xml"/><Relationship Id="rId65" Type="http://schemas.openxmlformats.org/officeDocument/2006/relationships/slide" Target="slides/slide98.xml"/><Relationship Id="rId66" Type="http://schemas.openxmlformats.org/officeDocument/2006/relationships/slide" Target="slides/slide97.xml"/><Relationship Id="rId67" Type="http://schemas.openxmlformats.org/officeDocument/2006/relationships/slide" Target="slides/slide96.xml"/><Relationship Id="rId73" Type="http://schemas.openxmlformats.org/officeDocument/2006/relationships/slide" Target="slides/slide95.xml"/><Relationship Id="rId74" Type="http://schemas.openxmlformats.org/officeDocument/2006/relationships/slide" Target="slides/slide94.xml"/><Relationship Id="rId75" Type="http://schemas.openxmlformats.org/officeDocument/2006/relationships/slide" Target="slides/slide93.xml"/><Relationship Id="rId76" Type="http://schemas.openxmlformats.org/officeDocument/2006/relationships/slide" Target="slides/slide92.xml"/><Relationship Id="rId77" Type="http://schemas.openxmlformats.org/officeDocument/2006/relationships/slide" Target="slides/slide91.xml"/><Relationship Id="rId78" Type="http://schemas.openxmlformats.org/officeDocument/2006/relationships/slide" Target="slides/slide90.xml"/><Relationship Id="rId83" Type="http://schemas.openxmlformats.org/officeDocument/2006/relationships/slide" Target="slides/slide89.xml"/><Relationship Id="rId84" Type="http://schemas.openxmlformats.org/officeDocument/2006/relationships/slide" Target="slides/slide88.xml"/><Relationship Id="rId96" Type="http://schemas.openxmlformats.org/officeDocument/2006/relationships/slide" Target="slides/slide87.xml"/><Relationship Id="rId119" Type="http://schemas.openxmlformats.org/officeDocument/2006/relationships/slide" Target="slides/slide110.xml"/><Relationship Id="rId120" Type="http://schemas.openxmlformats.org/officeDocument/2006/relationships/slide" Target="slides/slide111.xml"/><Relationship Id="rId121" Type="http://schemas.openxmlformats.org/officeDocument/2006/relationships/slide" Target="slides/slide112.xml"/><Relationship Id="rId122" Type="http://schemas.openxmlformats.org/officeDocument/2006/relationships/slide" Target="slides/slide113.xml"/><Relationship Id="rId123" Type="http://schemas.openxmlformats.org/officeDocument/2006/relationships/slide" Target="slides/slide114.xml"/><Relationship Id="rId124" Type="http://schemas.openxmlformats.org/officeDocument/2006/relationships/slide" Target="slides/slide115.xml"/><Relationship Id="rId125" Type="http://schemas.openxmlformats.org/officeDocument/2006/relationships/slide" Target="slides/slide116.xml"/><Relationship Id="rId126" Type="http://schemas.openxmlformats.org/officeDocument/2006/relationships/slide" Target="slides/slide117.xml"/><Relationship Id="rId127" Type="http://schemas.openxmlformats.org/officeDocument/2006/relationships/slide" Target="slides/slide118.xml"/><Relationship Id="rId128" Type="http://schemas.openxmlformats.org/officeDocument/2006/relationships/slide" Target="slides/slide119.xml"/><Relationship Id="rId129" Type="http://schemas.openxmlformats.org/officeDocument/2006/relationships/slide" Target="slides/slide120.xml"/><Relationship Id="rId130" Type="http://schemas.openxmlformats.org/officeDocument/2006/relationships/slide" Target="slides/slide121.xml"/><Relationship Id="rId131" Type="http://schemas.openxmlformats.org/officeDocument/2006/relationships/slide" Target="slides/slide122.xml"/><Relationship Id="rId132" Type="http://schemas.openxmlformats.org/officeDocument/2006/relationships/slide" Target="slides/slide123.xml"/><Relationship Id="rId133" Type="http://schemas.openxmlformats.org/officeDocument/2006/relationships/slide" Target="slides/slide124.xml"/><Relationship Id="rId134" Type="http://schemas.openxmlformats.org/officeDocument/2006/relationships/slide" Target="slides/slide125.xml"/><Relationship Id="rId137" Type="http://schemas.openxmlformats.org/officeDocument/2006/relationships/slide" Target="slides/slide128.xml"/><Relationship Id="rId138" Type="http://schemas.openxmlformats.org/officeDocument/2006/relationships/slide" Target="slides/slide129.xml"/><Relationship Id="rId139" Type="http://schemas.openxmlformats.org/officeDocument/2006/relationships/slide" Target="slides/slide130.xml"/><Relationship Id="rId140" Type="http://schemas.openxmlformats.org/officeDocument/2006/relationships/slide" Target="slides/slide131.xml"/><Relationship Id="rId141" Type="http://schemas.openxmlformats.org/officeDocument/2006/relationships/slide" Target="slides/slide132.xml"/><Relationship Id="rId172" Type="http://schemas.openxmlformats.org/officeDocument/2006/relationships/slide" Target="slides/slide163.xml"/><Relationship Id="rId173" Type="http://schemas.openxmlformats.org/officeDocument/2006/relationships/slide" Target="slides/slide164.xml"/><Relationship Id="rId174" Type="http://schemas.openxmlformats.org/officeDocument/2006/relationships/slide" Target="slides/slide165.xml"/><Relationship Id="rId175" Type="http://schemas.openxmlformats.org/officeDocument/2006/relationships/slide" Target="slides/slide166.xml"/><Relationship Id="rId178" Type="http://schemas.openxmlformats.org/officeDocument/2006/relationships/slide" Target="slides/slide169.xml"/><Relationship Id="rId179" Type="http://schemas.openxmlformats.org/officeDocument/2006/relationships/slide" Target="slides/slide170.xml"/><Relationship Id="rId180" Type="http://schemas.openxmlformats.org/officeDocument/2006/relationships/slide" Target="slides/slide171.xml"/><Relationship Id="rId181" Type="http://schemas.openxmlformats.org/officeDocument/2006/relationships/slide" Target="slides/slide172.xml"/><Relationship Id="rId185" Type="http://schemas.openxmlformats.org/officeDocument/2006/relationships/slide" Target="slides/slide176.xml"/><Relationship Id="rId186" Type="http://schemas.openxmlformats.org/officeDocument/2006/relationships/slide" Target="slides/slide1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diag_001_empresa.sv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diag_002_ciclo_full.sv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diag_003_ciclo_backlog.sv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diag_004_ciclo_planning.sv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diag_005_ciclo_daily.sv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diag_006_ciclo_review.sv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diag_007_ciclo_retro.sv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diag_008_ciclo_incremento.sv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diag_009_kanban.sv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diag_010_roadmap.sv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diag_011_squads.sv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diag_012_rastro.sv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diag_013_fluxo_full.sv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diag_014_fluxo_repo.sv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5.png"/><Relationship Id="rId5" Type="http://schemas.openxmlformats.org/officeDocument/2006/relationships/image" Target="../media/diag_015_fluxo_issue.sv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6.png"/><Relationship Id="rId5" Type="http://schemas.openxmlformats.org/officeDocument/2006/relationships/image" Target="../media/diag_016_fluxo_fork.sv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diag_017_fluxo_branch.sv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5" Type="http://schemas.openxmlformats.org/officeDocument/2006/relationships/image" Target="../media/diag_018_fluxo_commit.sv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9.png"/><Relationship Id="rId5" Type="http://schemas.openxmlformats.org/officeDocument/2006/relationships/image" Target="../media/diag_019_fluxo_pr.sv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0.png"/><Relationship Id="rId5" Type="http://schemas.openxmlformats.org/officeDocument/2006/relationships/image" Target="../media/diag_020_fluxo_review.sv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5" Type="http://schemas.openxmlformats.org/officeDocument/2006/relationships/image" Target="../media/diag_021_fluxo_merge.sv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2.png"/><Relationship Id="rId5" Type="http://schemas.openxmlformats.org/officeDocument/2006/relationships/image" Target="../media/diag_022_repo.sv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3.png"/><Relationship Id="rId5" Type="http://schemas.openxmlformats.org/officeDocument/2006/relationships/image" Target="../media/diag_023_passo0.sv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diag_024_passo2.sv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6.png"/><Relationship Id="rId5" Type="http://schemas.openxmlformats.org/officeDocument/2006/relationships/image" Target="../media/diag_025_passo3.sv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7.png"/><Relationship Id="rId5" Type="http://schemas.openxmlformats.org/officeDocument/2006/relationships/image" Target="../media/diag_026_passo4.sv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8.png"/><Relationship Id="rId5" Type="http://schemas.openxmlformats.org/officeDocument/2006/relationships/image" Target="../media/diag_027_passo5.sv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9.png"/><Relationship Id="rId5" Type="http://schemas.openxmlformats.org/officeDocument/2006/relationships/image" Target="../media/diag_028_passo6.sv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0.png"/><Relationship Id="rId5" Type="http://schemas.openxmlformats.org/officeDocument/2006/relationships/image" Target="../media/diag_029_passo7.sv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1.png"/><Relationship Id="rId5" Type="http://schemas.openxmlformats.org/officeDocument/2006/relationships/image" Target="../media/diag_030_enc.sv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2.png"/><Relationship Id="rId5" Type="http://schemas.openxmlformats.org/officeDocument/2006/relationships/image" Target="../media/diag_031_encm.sv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13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Kickoff do Projeto: o App TechBurger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27/10/2026  ·  07:30–11:30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07:30 - 07:45  Abertura: bem-vindos à AprendendoDev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07:45 - 08:30  Bloco 1: como uma empresa de software trabalha (Scrum e o quadro)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08:30 - 08:45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08:45 - 09:35  Bloco 2: o projeto - o app, as 8 sprints, os squads e a avaliação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09:35 - 10:10  Bloco 3: Git e GitHub - as peças de uma contribuição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10:10 - 10:20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10:20 - 11:30  Mão na massa: o primeiro pull request, encontre os problemas e encerramento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Bem-vindos à AprendendoDev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 partir de hoje, vocês são devs de uma empresa de software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Vocês modelaram o TechBurger durante 12 aulas. E se agora ele virasse um app de verdade?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Numa empresa, como 19 pessoas trabalham no MESMO sistema sem apagar o trabalho umas das outras?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decide o que é feito primeiro? Quem diz que uma tarefa está pronta?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diagramas que fizemos servem para quê depois que o código começa?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conhecer a empresa, o projeto, as regras do time e fazer a primeira contribuição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muda a partir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14 a 21: cada aula é uma SPRINT - um ciclo curto, com entrega no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Vocês são desenvolvedores (devs); o professor é o Product Owner e o Scrum Master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construir o app TechBurger do ZERO: requisitos, diagramas e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Tudo fica num repositório público no GitHub, com o nome de cada um nas contribuições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 portfólio real: dá para mostrar numa entrevista de estágio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empresa AprendendoDev</a:t>
            </a:r>
          </a:p>
        </p:txBody>
      </p:sp>
      <p:pic>
        <p:nvPicPr>
          <p:cNvPr id="12" name="Picture 11" descr="empresa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540" y="2900000"/>
            <a:ext cx="15960919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cliente: 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gerente Fernanda quer um app para os clientes pedirem lanches pelo celular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Ela conhece o negócio, não a tecnologia: fala de regras, não de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ela pede vira requisito; o que ela aprova vira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Nas sprints, o professor faz o papel dela nas entrevistas e nas demonstrações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não quer diagrama, quer o problema resolvido - o diagrama é para NÓS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BLOCO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Como uma empresa de software trabalha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Papéis, Scrum e o quadro de tarefas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um método de trabalho?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método: todo mundo mexe em tudo, ninguém sabe o que falta e o erro aparece no fim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Projeto “cascata”: tudo planejado no início e entregue só no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o cliente muda de ideia no meio do caminho, o trabalho se perde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Métodos ÁGEIS: entregar em pedaços pequenos, mostrar ao cliente e ajustar a cada ciclo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mais usado no mercado é o Scrum, com o quadro Kanban para acompanhar as tarefas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Cascata x ágil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Cascata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Planeja tudo no começo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Entrega uma vez, no fim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Mudança custa caro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 vê só no 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Ágil (Scrum)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Planeja o próximo ciclo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Entrega a cada sprint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Mudança é esperada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 vê sempre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3 papéis do Scrum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Product Owner (PO): decide O QUE será feito e em que ordem - é o dono do backlog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Scrum Master (SM): cuida do PROCESSO e remove os bloqueios do time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Time de desenvolvimento (devs): decide COMO fazer e entrega o resultado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AprendendoDev: professor = PO e SM; vocês = devs, em 5 squads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 Lead do squad (muda a cada sprint): faz a primeira revisão e mantém o quadro em dia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Quem faz o quê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Professor (PO e SM)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Ordena o backlog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Escreve e aceita histórias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Conduz planning, review e retro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Remove bloqueios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Vocês (devs)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Escolhem a tarefa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Modelam e programam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Revisam o código do colega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Mostram a entrega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ciclo de uma sprint</a:t>
            </a:r>
          </a:p>
        </p:txBody>
      </p:sp>
      <p:pic>
        <p:nvPicPr>
          <p:cNvPr id="12" name="Picture 11" descr="ciclo_full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029852"/>
            <a:ext cx="16400000" cy="4290295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Product Backlog: a lista de tudo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Lista ORDENADA de tudo o que o app precisa ter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Cada item é uma história de usuário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PO ordena por valor - o MoSCoW da Aula 2: Must primeiro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Ex.: “ver o cardápio” vem antes de “pedir de novo”</a:t>
            </a:r>
          </a:p>
        </p:txBody>
      </p:sp>
      <p:pic>
        <p:nvPicPr>
          <p:cNvPr id="13" name="Picture 11" descr="ciclo_backlog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304" y="5150000"/>
            <a:ext cx="16257392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Sprint Planning: o que entra na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 início da aula, cerca de 20 minutos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PO apresenta o objetivo da sprint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Cada dev escolhe UMA tarefa que caiba na aula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Comenta /eu-pego na Issue: o robô do time entrega a tarefa a ele</a:t>
            </a:r>
          </a:p>
        </p:txBody>
      </p:sp>
      <p:pic>
        <p:nvPicPr>
          <p:cNvPr id="13" name="Picture 11" descr="ciclo_planning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016" y="5150000"/>
            <a:ext cx="16245967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Daily: 10 minutos, 3 perguntas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eu fiz desde a última daily?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vou fazer agora?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Tem algo me bloqueando?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Em pé, rápido, por squad - problema grande se resolve DEPOIS</a:t>
            </a:r>
          </a:p>
        </p:txBody>
      </p:sp>
      <p:pic>
        <p:nvPicPr>
          <p:cNvPr id="13" name="Picture 11" descr="ciclo_daily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016" y="5150000"/>
            <a:ext cx="16245967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Sprint Review: mostrar o que ficou pronto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 fim da aula, cada squad MOSTRA funcionando - não conta, mostra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PO aceita ou devolve, com base no critério de aceite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não ficou pronto volta para o backlog</a:t>
            </a:r>
          </a:p>
        </p:txBody>
      </p:sp>
      <p:pic>
        <p:nvPicPr>
          <p:cNvPr id="13" name="Picture 11" descr="ciclo_revie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630000"/>
            <a:ext cx="16400000" cy="429029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Retrospectiva: melhorar o jeito de trabalhar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Últimos minutos da aula: o time olha para o PROCESSO, não para o código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que funcionou? O que atrapalhou? O que vamos mudar?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Uma melhoria por sprint, combinada por todos</a:t>
            </a:r>
          </a:p>
        </p:txBody>
      </p:sp>
      <p:pic>
        <p:nvPicPr>
          <p:cNvPr id="13" name="Picture 11" descr="ciclo_retr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630000"/>
            <a:ext cx="16400000" cy="4285774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Incremento: o app um pouco maior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É o resultado da sprint: tudo o que foi ACEITO na review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Junta-se ao que já existia - o app cresce a cada aula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Na Aula 21, os incrementos somados viram a versão 1.0</a:t>
            </a:r>
          </a:p>
        </p:txBody>
      </p:sp>
      <p:pic>
        <p:nvPicPr>
          <p:cNvPr id="13" name="Picture 11" descr="ciclo_increment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4630000"/>
            <a:ext cx="16400000" cy="4290295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Uma aula-sprint na AprendendoDev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Início: Sprint Planning - objetivo da sprint e escolha das tarefas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Meio: mão na massa, com uma daily de 10 minutos por squad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Fim: Sprint Review - cada squad mostra o que ficou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Últimos minutos: Retrospectiva - uma melhoria para a próxima sprint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horários de cada sprint estão na agenda da aula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História de usuário: o requisito na visão de quem 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Formato: Como [quem], quero [o quê], para [por quê]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Como cliente, quero ver o cardápio por categoria, para achar meu lanche mais rápido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requisito de usuário da Aula 1, escrito num cartão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história tem critério de aceite: Dado / Quando / Então (Aulas 2 e 3)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Boa história é pequena: cabe numa sprint e um dev consegue terminar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Uma história completa (Squad Carrinho)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História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Como cliente,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quero ser avisado do pedido mínimo,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para não perder tempo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 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Critério de aceite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Dado um carrinho com R$ 12,00,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Quando tento finalizar,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Então o app impede e mostra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“faltam R$ 3,00”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quadro Kanban do projeto</a:t>
            </a:r>
          </a:p>
        </p:txBody>
      </p:sp>
      <p:pic>
        <p:nvPicPr>
          <p:cNvPr id="12" name="Picture 11" descr="kanban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089048"/>
            <a:ext cx="16400000" cy="6171903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regras do quadro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trabalho é um cartão (Issue): se não está no quadro, não existe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dev tem no máximo 1 cartão em “Fazendo”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cartão anda sozinho: /eu-pego → Fazendo · PR aberto → Em revisão · merge →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“Em revisão” = pull request aberto, esperando o colega e o professor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“Pronto” só depois do merge e do critério de aceite conferido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Definição de Pronto (Definition of Done)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Faz o que o critério de aceite pede - testado no navegador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Segue o diagrama e os nomes do modelo (classes, telas, campos)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 pull request ligado à Issue e revisado por um colega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quebra o que já funcionava nem mexe em arquivo de outro squad sem combinar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Foi aceito pelo PO na Sprint Review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Iniciativa e autonomia no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Iniciativa: agir sem esperar mandarem - ver um problema e propor a solução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Autonomia: decidir e resolver DENTRO do combinado, e pedir ajuda na hora certa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Travou 15 minutos? Pesquise, pergunte ao squad e depois ao professor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Terminou antes? Revise o PR de um colega ou pegue o próximo cartão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Mudar o que é de outro squad sem combinar não é iniciativa: é atropelo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Iniciativa x autonomia na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Iniciativa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Avisar um bloqueio na daily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Propor melhoria na retro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Ajudar o colega travado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Abrir Issue para um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Autonomia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Ler a Issue antes de perguntar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Pesquisar na documentação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Testar antes de abrir o PR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Cumprir o prazo da sprint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1 -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pede → o PO escreve histórias → o backlog ordena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planning escolhe → a daily acompanha → a review aceita → a retro melhora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quadro mostra tudo isso, a qualquer momento, para 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Tudo o que vocês aprenderam nas Aulas 1 a 12 é o que alimenta o backlog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BLOCO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projeto: o app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que vamos construir, em quanto tempo e quem faz o quê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vamos construir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app web de pedidos do TechBurger: o cliente pede pelo celular ou pelo computador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Cardápio, carrinho, pagamento simulado, painel da cozinha e área do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8 regras de negócio do TechBurger funcionando de verdade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Feito com HTML, CSS e JavaScript puro: abre no navegador, sem instalar nada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ar no fim do projeto: aprendendodev.com.br/app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HTML, CSS e 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O que é cada 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HTML: a estrutura da tela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CSS: a aparência (cores, layout)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JavaScript: o comportamento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JSON: os dados (Aula 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Por que para nós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Roda em qualquer navegador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precisa instalar nada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É a base de toda a web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Publica de graça no GitHub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“Do zero” quer dizer o quê?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vamos copiar os diagramas das aulas: cada squad levanta, modela e constrói o SEU módulo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Sprints 1 a 3 - modelar: Canvas, requisitos, histórias, casos de uso, classes, wireframes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Sprints 4 a 7 - construir: telas, regras em JavaScript, integração e testes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8 - entregar a versão 1.0 e apresentar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Aulas 1 a 12 são a nossa “base de conhecimento”: consultem sempre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roadmap: 8 sprints até a versão 1.0</a:t>
            </a:r>
          </a:p>
        </p:txBody>
      </p:sp>
      <p:pic>
        <p:nvPicPr>
          <p:cNvPr id="12" name="Picture 11" descr="roadmap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574297"/>
            <a:ext cx="16400000" cy="520140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Fase 1 - Modelar (Sprints 1 a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1 (30/10) - Descoberta: Canvas do TechBurger, entrevista com a cliente, regras e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2 (05/11) - Análise: histórias com critério de aceite, casos de uso e backlog ordenado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3 (06/11) - Projeto: classes e cardinalidade, dados em JSON, persona e wireframes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Entrega de cada sprint: arquivos na pasta docs/ do repositório, por pull request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Fase 2 - Construir e entregar (Sprints 4 a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4 (12/11) - Fluxos e telas: atividades e sequência + telas em HTML e CSS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5 (13/11) - Funcionalidades: as regras de negócio em JavaScript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6 (17/11) - Integração: pagamento simulado, cozinha, status e dados (JSON)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7 (19/11) - Qualidade: testar os critérios de aceite, UX, acessibilidade, correções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8 (27/11, 2h) - Release 1.0: app no ar, demonstração e retrospectiva final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5 squads e seus módulos</a:t>
            </a:r>
          </a:p>
        </p:txBody>
      </p:sp>
      <p:pic>
        <p:nvPicPr>
          <p:cNvPr id="12" name="Picture 11" descr="squads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836719"/>
            <a:ext cx="16400000" cy="4676562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funcionam os squads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 squads de 3 ou 4 devs; cada squad é dono de UM módulo, do começo ao fim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modela o requisito é quem programa: o diagrama vira código na mão de quem o fez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squad tem os seus arquivos: menos conflito, mais autonomia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Tech Lead muda a cada sprint, para todos passarem pelo papel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módulos conversam: o Carrinho usa o Cardápio, a Cozinha recebe do Pagamento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8 regras do TechBurger, agora em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Regras 1 a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1. Mínimo R$ 15,00 → Carrinho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2. Fidelidade → Cliente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3. Cozinha só se pago → Pagamento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4. 5% no PIX → 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Regras 5 a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5. Entrega até 5 km → Cliente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6. Item em falta → Cardápio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7. Mais de 10 itens → Carrinho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8. 3 cancelamentos → Cliente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diagrama ao código: o rastro de uma regra</a:t>
            </a:r>
          </a:p>
        </p:txBody>
      </p:sp>
      <p:pic>
        <p:nvPicPr>
          <p:cNvPr id="12" name="Picture 11" descr="rastr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842491"/>
            <a:ext cx="16400000" cy="4665017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portal da empresa: aprendendodev.com.br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Boas-vindas, regras do time e o objetivo da sprint atual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squads e os devs (com o card que vocês vão criar hoje)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Começar: o formulário que monta o seu card (é o que faremos hoje)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“Minha tarefa”: o seu próximo passo na sprint, com os botões certos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Guias passo a passo: primeiro PR, draw.io, editor no navegador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publicado: aprendendodev.com.br/app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fica cada coisa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Portal (aprendendodev.com.br): para se orientar - o que fazer e como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Quadro (aba Projects do GitHub): as tarefas e quem está com cada uma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Repositório (github.com/aprendendodev/techburger): os diagramas e o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Apostila de cada aula: o conteúdo da sprint e o passo a passo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Dúvida? Primeiro o squad, depois o professor - e registrem na Issue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vocês serão avaliados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Entregas da sprint (40%): Issues concluídas e pull requests aceitos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Rastreabilidade (20%): cada PR diz qual história resolve e qual diagrama segue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Participação no Scrum (20%): planning, daily, review, retro e revisão do PR do colega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Demonstração final do squad (20%): Aula 21, o módulo funcionando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GitHub registra tudo: quem fez, quando fez e o que fez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 se eu faltar?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falta é uma sprint perdida - e 4 faltas no diário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sua tarefa volta para o backlog: o squad NÃO fica travado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Dá para entregar de casa até o início da sprint seguinte - o GitHub funciona de qualquer lugar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Avise o squad num comentário da Issue: comunicação também é avaliada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regras do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Respeito: a crítica é ao código, nunca à pessoa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um mexe no que é seu; para mexer no do outro, combine antes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Usou internet ou IA? Tudo bem - mas saiba explicar cada linha que entregou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Nenhum dado pessoal no repositório: ele é público (nada de CPF, matrícula, telefone)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Pediu ajuda? Ajudou alguém? Registre na Issue - isso conta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2 -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app, 5 módulos, 5 squads, 8 sprints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Primeiro modelar (1 a 3), depois construir (4 a 7), depois entregar (8)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regra de negócio tem dono, diagrama, código e teste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portal orienta, o quadro organiza, o repositório guarda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BLOCO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Git e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Como 19 pessoas trabalham no mesmo código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problema: trabalhar juntos no mesmo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“app_final.html”, “app_final2.html”, “app_final_AGORA_VAI.html”...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Dois devs trocam o mesmo arquivo pelo WhatsApp: um apaga o trabalho do outro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Quebrou? Ninguém sabe o que mudou, quem mudou nem como voltar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solução do mercado: controle de versão - o Git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Git x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Programa de controle de versão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Guarda o histórico de tudo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Roda no computador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Criado em 2005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Site que hospeda repositórios Git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Issues, PRs, quadro e revisão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Roda na internet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Publica sites (GitHub Pages)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caminho de uma contribuição</a:t>
            </a:r>
          </a:p>
        </p:txBody>
      </p:sp>
      <p:pic>
        <p:nvPicPr>
          <p:cNvPr id="12" name="Picture 11" descr="fluxo_full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489946"/>
            <a:ext cx="16399999" cy="5370108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peças, em 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ONDE fica: o repositório (da empresa) e o fork (a sua cópia)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fazer: a Issue (o cartão da tarefa)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COMO trabalhar: a branch (a sua linha de trabalho) e os commits (cada alteração salva)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COMO entregar: o pull request, o review e o merge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faremos tudo pelo navegador, sem instalar nada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Repositório: a pasta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Guarda os arquivos e TODO o histórico de alterações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nosso: github.com/aprendendodev/techburger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Público: qualquer pessoa vê; só o time aprova mudanças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versão oficial fica no ramo principal: o main</a:t>
            </a:r>
          </a:p>
        </p:txBody>
      </p:sp>
      <p:pic>
        <p:nvPicPr>
          <p:cNvPr id="13" name="Picture 11" descr="fluxo_rep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5010" y="5150000"/>
            <a:ext cx="12969979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Issue: o cartão da tarefa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Cada tarefa do backlog é uma Issue, com número: #12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Traz a história, o critério de aceite e o diagrama de referência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Tem responsável e etiquetas (squad, sprint)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É o cartão que anda no quadro Kanban</a:t>
            </a:r>
          </a:p>
        </p:txBody>
      </p:sp>
      <p:pic>
        <p:nvPicPr>
          <p:cNvPr id="13" name="Picture 11" descr="fluxo_issu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373" y="5150000"/>
            <a:ext cx="12979253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Fork: a sua cópia do repositório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Cópia do repositório da empresa na SUA conta: seu-usuario/techburger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Você mexe à vontade, sem risco de estragar o oficial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É feito uma vez só, com um botão (Fork)</a:t>
            </a:r>
          </a:p>
        </p:txBody>
      </p:sp>
      <p:pic>
        <p:nvPicPr>
          <p:cNvPr id="13" name="Picture 11" descr="fluxo_fork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6349" y="4630000"/>
            <a:ext cx="14567302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Branch: a sua linha de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 “ramo” separado para UMA tarefa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main continua intacto enquanto você trabalha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Nome que diz o que é: carrinho-pedido-minimo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Uma tarefa = uma branch = um pull request</a:t>
            </a:r>
          </a:p>
        </p:txBody>
      </p:sp>
      <p:pic>
        <p:nvPicPr>
          <p:cNvPr id="13" name="Picture 11" descr="fluxo_branch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373" y="5150000"/>
            <a:ext cx="12979253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Commit: cada alteração salva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Uma “foto” do projeto, com uma mensagem dizendo o que mudou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Mensagem boa: verbo + o quê - “Adiciona aviso de pedido mínimo”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Mensagem ruim: “ajustes”, “aaa”, “agora vai”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Commits pequenos: fica fácil achar e desfazer um erro</a:t>
            </a:r>
          </a:p>
        </p:txBody>
      </p:sp>
      <p:pic>
        <p:nvPicPr>
          <p:cNvPr id="13" name="Picture 11" descr="fluxo_commit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373" y="5150000"/>
            <a:ext cx="12979253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Pull request: pedir para juntar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Pede para levar o que você fez para o repositório da empresa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Diz QUAL Issue resolve (Closes #12) e qual diagrama seguiu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Mostra exatamente o que mudou, linha por linha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Na AprendendoDev, toda entrega é um pull request</a:t>
            </a:r>
          </a:p>
        </p:txBody>
      </p:sp>
      <p:pic>
        <p:nvPicPr>
          <p:cNvPr id="13" name="Picture 11" descr="fluxo_pr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373" y="5150000"/>
            <a:ext cx="12979253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Review: o colega e o professor conferem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Tech Lead do squad olha primeiro; o professor, depois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Pode aprovar, comentar ou pedir mudanças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Pedido de mudança não é bronca: é assim que as empresas garantem qualidade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Você ajusta na mesma branch e o PR se atualiza sozinho</a:t>
            </a:r>
          </a:p>
        </p:txBody>
      </p:sp>
      <p:pic>
        <p:nvPicPr>
          <p:cNvPr id="13" name="Picture 11" descr="fluxo_review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373" y="5150000"/>
            <a:ext cx="12979253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Merge: entrou no oficial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85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Com a aprovação, o professor faz o merge: o trabalho entra no main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Issue fecha sozinha (por causa do Closes #12)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cartão vai para “Pronto” no quadro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 site é atualizado com a sua contribuição</a:t>
            </a:r>
          </a:p>
        </p:txBody>
      </p:sp>
      <p:pic>
        <p:nvPicPr>
          <p:cNvPr id="13" name="Picture 11" descr="fluxo_mer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373" y="5150000"/>
            <a:ext cx="12979253" cy="4250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estrutura do repositório</a:t>
            </a:r>
          </a:p>
        </p:txBody>
      </p:sp>
      <p:pic>
        <p:nvPicPr>
          <p:cNvPr id="12" name="Picture 11" descr="repo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93431" y="2900000"/>
            <a:ext cx="12813138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Sem instalar nada: as ferramentas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Navegador + conta no GitHub: Issues, quadro, pull request e edição de arquivos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github.dev (aperte a tecla . no repositório): um editor de código dentro do navegador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draw.io (app.diagrams.net): os diagramas, salvos como .drawio na pasta docs/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casa, se quiser: Git e VS Code instalados (guia no portal)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Bloco 3 -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Issue (o quê) → fork e branch (onde) → commits (como) → PR (entrega) → review → merge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passo deixa rastro: dá para saber quem fez o quê, quando e por quê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mesmo fluxo usado nas empresas de software do mundo todo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Agora: cada um de vocês vai fazer o primeiro pull request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seu primeiro pull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Todos juntos, passo a passo: o seu card na equipe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vamos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dev cria o SEU card na pasta equipe/ do repositório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arquivo por pessoa (seu-usuario.md): ninguém mexe no arquivo do outro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página Começar do portal monta o card e tem os dois botões: 1 (fork) e 2 (card)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Depois do merge, o card aparece na página “Time” do portal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desenhos a seguir são ESQUEMAS das telas do GitHub: os botões têm os mesmos nomes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card: o que escrever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# Seu primeiro nome   (só o primeiro nome: o repositório é público)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- GitHub: @seu-usuario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- Squad: o seu squad (o professor anuncia hoje)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- Quero aprender neste projeto: uma frase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- Uma curiosidade sobre mim: uma frase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7: o ponto de partida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Entre no GitHub com a sua conta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repositório da EMPRESA: github.com/aprendendodev/techburger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Você ainda não pode alterar nada aqui: ele não é seu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Por isso o seu card vai entrar por pull request</a:t>
            </a:r>
          </a:p>
        </p:txBody>
      </p:sp>
      <p:pic>
        <p:nvPicPr>
          <p:cNvPr id="13" name="Picture 11" descr="passo0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7: montar o card no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Abra aprendendodev.com.br › Começar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Preencha: primeiro nome, usuário do GitHub, squad e as duas frases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Confira a prévia: embaixo aparecem os botões 1 e 2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Primeiro o 1 (fork); depois o 2 (card)</a:t>
            </a:r>
          </a:p>
        </p:txBody>
      </p:sp>
      <p:pic>
        <p:nvPicPr>
          <p:cNvPr id="13" name="Picture 11" descr="cap_come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513" y="2950000"/>
            <a:ext cx="6174974" cy="6400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7: fazer o fork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Clique em 1. Criar o meu fork e depois em Create fork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Pronto: agora existe seu-usuario/techburger, a SUA cópia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Uma vez só: serve para todas as tarefas do projeto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Nada aconteceu? Confirme o seu e-mail no GitHub e tente de novo</a:t>
            </a:r>
          </a:p>
        </p:txBody>
      </p:sp>
      <p:pic>
        <p:nvPicPr>
          <p:cNvPr id="13" name="Picture 11" descr="passo2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7: conferir o seu arquivo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Volte ao portal e clique em 2. Criar o meu card no GitHub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nome já vem preenchido: seu-usuario.md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Confira o caminho: techburger / equipe / seu-usuario.md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texto já vem; veio vazio? Digite o nome e cole (Ctrl+V)</a:t>
            </a:r>
          </a:p>
        </p:txBody>
      </p:sp>
      <p:pic>
        <p:nvPicPr>
          <p:cNvPr id="13" name="Picture 11" descr="passo3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7: salvar (commit)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Clique em Commit changes...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Mensagem: Adiciona card de @seu-usuario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Clique em Propose changes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GitHub cria uma branch no seu fork (patch-1)</a:t>
            </a:r>
          </a:p>
        </p:txBody>
      </p:sp>
      <p:pic>
        <p:nvPicPr>
          <p:cNvPr id="13" name="Picture 11" descr="passo4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7: comparar as mudanças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Comparing changes: o que vai do seu fork para a empresa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PARA: aprendendodev/techburger, main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DE: seu-usuario/techburger, patch-1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Confira: 1 arquivo novo, só o seu - e clique em Create pull request</a:t>
            </a:r>
          </a:p>
        </p:txBody>
      </p:sp>
      <p:pic>
        <p:nvPicPr>
          <p:cNvPr id="13" name="Picture 11" descr="passo5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6 de 7: descrever o pull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Título: Adiciona card de @seu-usuario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A descrição já vem com o modelo do time: preencha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Issue: “Parte de #1” - a #1 é de todos (Sprint 0)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Clique em Create pull request</a:t>
            </a:r>
          </a:p>
        </p:txBody>
      </p:sp>
      <p:pic>
        <p:nvPicPr>
          <p:cNvPr id="13" name="Picture 11" descr="passo6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7 de 7: aguardar a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PR aparece como Open, na aba Pull requests da empresa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O robô do time confere o card e comenta; o professor revisa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Pediu mudança? Edite o arquivo no SEU fork, na mesma branch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•  Depois do merge, o card aparece no portal</a:t>
            </a:r>
          </a:p>
        </p:txBody>
      </p:sp>
      <p:pic>
        <p:nvPicPr>
          <p:cNvPr id="13" name="Picture 11" descr="passo7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0000" y="2950000"/>
            <a:ext cx="7499999" cy="4868421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que acabamos de fazer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Cada clique, uma peça do fluxo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Cada clique, uma peça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O que você clicou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1. Criar o meu fork › Create fork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2. Criar o meu card no GitHub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Commit changes / Propose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Create pull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 peça do fluxo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Fork: a sua cópia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arquivo novo, já preenchido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Commit numa branch nova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Pull request para a empresa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“Parte de #1” x “Closes #12”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Hoje, a Issue #1 (Sprint 0) é de TODOS: cada PR é só uma parte dela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alguém escrevesse “Closes #1”, o primeiro merge fecharia a Issue de todo mundo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Nas sprints, cada Issue é de UM dev: aí o PR usa “Closes #número”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merge fecha a Issue e o cartão vai sozinho para “Pronto”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um arquivo por pessoa?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19 pessoas editassem o MESMO arquivo, os pull requests entrariam em conflito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Conflito: duas mudanças na mesma linha - o Git não sabe qual vale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isso, nas sprints, cada squad terá as suas pastas e os seus arquivos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do time: arquivo de outro squad, só combinando antes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 - como tudo se liga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Fork, branch e commit aconteceram no SEU espaço; o pull request levou para a empresa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review garante a qualidade; o merge torna oficial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Nas sprints será igual - só que o arquivo será um diagrama ou uma tela do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terminou hoje? Termine em casa até 30/10 (passo a passo na Apostila, seção 9)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 Issue e o PR do estagiário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6 problemas para achar, em duplas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estagiário abriu uma Issue e um pull request para o Squad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Em duplas, achem os 6 problemas: 3 na Issue e 3 no PR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Para cada um: o que está errado e qual regra do time ele quebra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Tempo: 8 minutos; depois, correção coletiva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problemas</a:t>
            </a:r>
          </a:p>
        </p:txBody>
      </p:sp>
      <p:pic>
        <p:nvPicPr>
          <p:cNvPr id="12" name="Picture 11" descr="enc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162500"/>
            <a:ext cx="16400000" cy="6025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problemas marcados</a:t>
            </a:r>
          </a:p>
        </p:txBody>
      </p:sp>
      <p:pic>
        <p:nvPicPr>
          <p:cNvPr id="12" name="Picture 11" descr="encm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000" y="3172797"/>
            <a:ext cx="16400000" cy="6004405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 (1 a 3: a Issue)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“Fazer o carrinho” não é história de usuário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Como cliente, quero ver o total do carrinho, para saber quanto vou pagar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Grande demais e de dois squads: carrinho 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Quebrar em Issues menores; o pagamento vai para o Squad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Sem critério de aceite: ninguém sabe quando está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Dado carrinho com 2 itens, Quando abro o carrinho, Então vejo o total somado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Problemas e correções (4 a 6: o pull request)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“atualização”, “aaa”, “ajustes”, “agora vai”: não dizem nada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Verbo + o quê: “Mostra o total no carrinho”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a Issue (Closes #15) e sem o diagrama de referência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Preencher o modelo do time: Closes #15 + docs/diagramas/...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Mexeu em cardapio.js (Squad Cardápio) e no CSS geral sem combinar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→ Só os arquivos do Carrinho; o resto, combinar com o outro squad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de quem está começando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Trabalhar sem Issue: “fiz uma coisa aí” não entra no quadro nem na avaliação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Tarefa grande demais: não termina na sprint - quebre em histórias menores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de commit vaga e PR sem descrição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Mexer em arquivo de outro squad sem combinar: conflito na certa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Esperar o professor para tudo: primeiro tente, pesquise, pergunte ao squad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Colocar dado pessoal no repositório público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da Sprint 1 (30/10):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Conta no GitHub criada e card enviado pela página Começar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 na pasta equipe/ com pull request aberto (ou já aceito)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Saber o seu squad e o módulo dele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Ler o README e o CONTRIBUTING do repositório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Rever as Aulas 1 e 2 (regras e técnicas de levantamento): a Sprint 1 começa com entrevista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 (1 de 2) - Scrum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Sprint - ciclo curto de trabalho com entrega no fim (aqui: uma aula)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Product Owner (PO) - decide o que fazer e em que ordem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Scrum Master (SM) - cuida do processo e remove bloqueios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Product Backlog - lista ordenada de tudo o que o produto precisa ter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História de usuário - Como [quem], quero [o quê], para [por quê]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Definição de Pronto - o que a tarefa cumpre para ser aceita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Incremento - o que ficou pronto e foi aceito na sprint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 (2 de 2) - Git e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Repositório - a pasta do projeto, com todo o histórico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Fork - a sua cópia do repositório, na sua conta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Branch - linha de trabalho separada para uma tarefa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Commit - alteração salva, com mensagem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Pull request (PR) - pedido para juntar as suas alterações ao oficial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Review / merge - a revisão do PR / a junção ao main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Issue - o cartão de uma tarefa (ou de um bug) no GitHub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o Product Owner e o Scrum Master?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Cite os 4 eventos de uma sprint e o objetivo de cada um.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Escreva uma história de usuário com critério de aceite para a regra da entrega até 5 km.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que é a Definição de Pronto? Cite 3 itens da nossa.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Qual a diferença entre fork e branch?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Por que cada dev criou um arquivo próprio na pasta equipe/, e não uma linha num arquivo único?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Em que coluna do quadro fica uma tarefa com pull request aberto, esperando revisão?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“Como cliente, quero pagar com PIX, para ganhar 5% de desconto.” Qual parte é o “para quê”?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Qual é a mensagem de commit melhor: “ajustes” ou “Adiciona aviso de pedido mínimo”?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que acontece com a Issue #12 quando o PR com “Closes #12” recebe o merge?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Faltei na Sprint 3. O squad fica travado esperando minha tarefa?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AprendendoDev: o cliente, o PO, o Scrum Master e os 5 squads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Scrum: backlog, planning, daily, review, retro e incremento; o quadro Kanban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História de usuário, critério de aceite e Definição de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projeto: 8 sprints (modelar, construir, entregar) e como seremos avaliados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Git e GitHub: issue, fork, branch, commit, pull request, review e merge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primeiro pull request de cada um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