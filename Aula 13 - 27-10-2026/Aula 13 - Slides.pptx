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diag_001_empresa.svg" ContentType="image/svg+xml"/>
  <Override PartName="/ppt/media/diag_002_ciclo_full.svg" ContentType="image/svg+xml"/>
  <Override PartName="/ppt/media/diag_003_ciclo_backlog.svg" ContentType="image/svg+xml"/>
  <Override PartName="/ppt/media/diag_004_ciclo_planning.svg" ContentType="image/svg+xml"/>
  <Override PartName="/ppt/media/diag_005_ciclo_daily.svg" ContentType="image/svg+xml"/>
  <Override PartName="/ppt/media/diag_006_ciclo_review.svg" ContentType="image/svg+xml"/>
  <Override PartName="/ppt/media/diag_007_ciclo_retro.svg" ContentType="image/svg+xml"/>
  <Override PartName="/ppt/media/diag_008_ciclo_incremento.svg" ContentType="image/svg+xml"/>
  <Override PartName="/ppt/media/diag_009_kanban.svg" ContentType="image/svg+xml"/>
  <Override PartName="/ppt/media/diag_010_roadmap.svg" ContentType="image/svg+xml"/>
  <Override PartName="/ppt/media/diag_011_squads.svg" ContentType="image/svg+xml"/>
  <Override PartName="/ppt/media/diag_012_rastro.svg" ContentType="image/svg+xml"/>
  <Override PartName="/ppt/media/diag_013_fluxo_full.svg" ContentType="image/svg+xml"/>
  <Override PartName="/ppt/media/diag_014_fluxo_repo.svg" ContentType="image/svg+xml"/>
  <Override PartName="/ppt/media/diag_015_fluxo_issue.svg" ContentType="image/svg+xml"/>
  <Override PartName="/ppt/media/diag_016_fluxo_fork.svg" ContentType="image/svg+xml"/>
  <Override PartName="/ppt/media/diag_017_fluxo_branch.svg" ContentType="image/svg+xml"/>
  <Override PartName="/ppt/media/diag_018_fluxo_commit.svg" ContentType="image/svg+xml"/>
  <Override PartName="/ppt/media/diag_019_fluxo_pr.svg" ContentType="image/svg+xml"/>
  <Override PartName="/ppt/media/diag_020_fluxo_review.svg" ContentType="image/svg+xml"/>
  <Override PartName="/ppt/media/diag_021_fluxo_merge.svg" ContentType="image/svg+xml"/>
  <Override PartName="/ppt/media/diag_022_repo.svg" ContentType="image/svg+xml"/>
  <Override PartName="/ppt/media/diag_023_passo0.svg" ContentType="image/svg+xml"/>
  <Override PartName="/ppt/media/diag_024_passo2.svg" ContentType="image/svg+xml"/>
  <Override PartName="/ppt/media/diag_025_passo3.svg" ContentType="image/svg+xml"/>
  <Override PartName="/ppt/media/diag_026_passo4.svg" ContentType="image/svg+xml"/>
  <Override PartName="/ppt/media/diag_027_passo5.svg" ContentType="image/svg+xml"/>
  <Override PartName="/ppt/media/diag_028_passo6.svg" ContentType="image/svg+xml"/>
  <Override PartName="/ppt/media/diag_029_passo7.svg" ContentType="image/svg+xml"/>
  <Override PartName="/ppt/media/diag_030_enc.svg" ContentType="image/svg+xml"/>
  <Override PartName="/ppt/media/diag_031_encm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3"/>
    <p:sldMasterId id="2147483660" r:id="rId4"/>
  </p:sldMasterIdLst>
  <p:sldIdLst>
    <p:sldId id="927" r:id="rId96"/>
    <p:sldId id="928" r:id="rId84"/>
    <p:sldId id="929" r:id="rId83"/>
    <p:sldId id="930" r:id="rId78"/>
    <p:sldId id="931" r:id="rId77"/>
    <p:sldId id="932" r:id="rId76"/>
    <p:sldId id="933" r:id="rId75"/>
    <p:sldId id="934" r:id="rId74"/>
    <p:sldId id="935" r:id="rId73"/>
    <p:sldId id="936" r:id="rId67"/>
    <p:sldId id="937" r:id="rId66"/>
    <p:sldId id="938" r:id="rId65"/>
    <p:sldId id="939" r:id="rId64"/>
    <p:sldId id="940" r:id="rId63"/>
    <p:sldId id="941" r:id="rId62"/>
    <p:sldId id="942" r:id="rId61"/>
    <p:sldId id="943" r:id="rId60"/>
    <p:sldId id="944" r:id="rId59"/>
    <p:sldId id="945" r:id="rId58"/>
    <p:sldId id="946" r:id="rId57"/>
    <p:sldId id="947" r:id="rId56"/>
    <p:sldId id="948" r:id="rId55"/>
    <p:sldId id="949" r:id="rId54"/>
    <p:sldId id="950" r:id="rId119"/>
    <p:sldId id="951" r:id="rId120"/>
    <p:sldId id="952" r:id="rId121"/>
    <p:sldId id="953" r:id="rId122"/>
    <p:sldId id="954" r:id="rId123"/>
    <p:sldId id="955" r:id="rId124"/>
    <p:sldId id="956" r:id="rId125"/>
    <p:sldId id="957" r:id="rId126"/>
    <p:sldId id="958" r:id="rId127"/>
    <p:sldId id="959" r:id="rId128"/>
    <p:sldId id="960" r:id="rId129"/>
    <p:sldId id="961" r:id="rId130"/>
    <p:sldId id="962" r:id="rId131"/>
    <p:sldId id="963" r:id="rId132"/>
    <p:sldId id="964" r:id="rId133"/>
    <p:sldId id="965" r:id="rId134"/>
    <p:sldId id="966" r:id="rId53"/>
    <p:sldId id="967" r:id="rId52"/>
    <p:sldId id="968" r:id="rId137"/>
    <p:sldId id="969" r:id="rId138"/>
    <p:sldId id="970" r:id="rId139"/>
    <p:sldId id="971" r:id="rId140"/>
    <p:sldId id="972" r:id="rId141"/>
    <p:sldId id="973" r:id="rId51"/>
    <p:sldId id="974" r:id="rId50"/>
    <p:sldId id="975" r:id="rId49"/>
    <p:sldId id="976" r:id="rId48"/>
    <p:sldId id="977" r:id="rId47"/>
    <p:sldId id="978" r:id="rId46"/>
    <p:sldId id="979" r:id="rId45"/>
    <p:sldId id="980" r:id="rId44"/>
    <p:sldId id="981" r:id="rId43"/>
    <p:sldId id="982" r:id="rId42"/>
    <p:sldId id="983" r:id="rId41"/>
    <p:sldId id="984" r:id="rId40"/>
    <p:sldId id="985" r:id="rId39"/>
    <p:sldId id="986" r:id="rId38"/>
    <p:sldId id="987" r:id="rId37"/>
    <p:sldId id="988" r:id="rId36"/>
    <p:sldId id="989" r:id="rId35"/>
    <p:sldId id="990" r:id="rId34"/>
    <p:sldId id="991" r:id="rId33"/>
    <p:sldId id="992" r:id="rId32"/>
    <p:sldId id="993" r:id="rId31"/>
    <p:sldId id="994" r:id="rId30"/>
    <p:sldId id="995" r:id="rId24"/>
    <p:sldId id="996" r:id="rId23"/>
    <p:sldId id="997" r:id="rId22"/>
    <p:sldId id="998" r:id="rId21"/>
    <p:sldId id="999" r:id="rId20"/>
    <p:sldId id="1000" r:id="rId19"/>
    <p:sldId id="1001" r:id="rId18"/>
    <p:sldId id="1002" r:id="rId17"/>
    <p:sldId id="1003" r:id="rId172"/>
    <p:sldId id="1004" r:id="rId173"/>
    <p:sldId id="1005" r:id="rId174"/>
    <p:sldId id="1006" r:id="rId175"/>
    <p:sldId id="1007" r:id="rId16"/>
    <p:sldId id="1008" r:id="rId15"/>
    <p:sldId id="1009" r:id="rId178"/>
    <p:sldId id="1010" r:id="rId179"/>
    <p:sldId id="1011" r:id="rId180"/>
    <p:sldId id="1012" r:id="rId181"/>
    <p:sldId id="1013" r:id="rId14"/>
    <p:sldId id="1014" r:id="rId13"/>
    <p:sldId id="1015" r:id="rId12"/>
    <p:sldId id="1016" r:id="rId185"/>
    <p:sldId id="1017" r:id="rId186"/>
  </p:sldIdLst>
  <p:sldSz cx="18288000" cy="10287000"/>
  <p:notesSz cx="6858000" cy="9144000"/>
  <p:embeddedFontLst>
    <p:embeddedFont>
      <p:font typeface="Unbounded 1 Ultra-Bold" panose="020B0604020202020204" charset="0"/>
      <p:regular r:id="rId2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22" autoAdjust="0"/>
  </p:normalViewPr>
  <p:slideViewPr>
    <p:cSldViewPr>
      <p:cViewPr>
        <p:scale>
          <a:sx n="60" d="100"/>
          <a:sy n="60" d="100"/>
        </p:scale>
        <p:origin x="398" y="-197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12" Type="http://schemas.openxmlformats.org/officeDocument/2006/relationships/slide" Target="slides/slide175.xml"/><Relationship Id="rId13" Type="http://schemas.openxmlformats.org/officeDocument/2006/relationships/slide" Target="slides/slide174.xml"/><Relationship Id="rId14" Type="http://schemas.openxmlformats.org/officeDocument/2006/relationships/slide" Target="slides/slide173.xml"/><Relationship Id="rId15" Type="http://schemas.openxmlformats.org/officeDocument/2006/relationships/slide" Target="slides/slide168.xml"/><Relationship Id="rId16" Type="http://schemas.openxmlformats.org/officeDocument/2006/relationships/slide" Target="slides/slide167.xml"/><Relationship Id="rId17" Type="http://schemas.openxmlformats.org/officeDocument/2006/relationships/slide" Target="slides/slide162.xml"/><Relationship Id="rId18" Type="http://schemas.openxmlformats.org/officeDocument/2006/relationships/slide" Target="slides/slide161.xml"/><Relationship Id="rId19" Type="http://schemas.openxmlformats.org/officeDocument/2006/relationships/slide" Target="slides/slide160.xml"/><Relationship Id="rId20" Type="http://schemas.openxmlformats.org/officeDocument/2006/relationships/slide" Target="slides/slide159.xml"/><Relationship Id="rId21" Type="http://schemas.openxmlformats.org/officeDocument/2006/relationships/slide" Target="slides/slide158.xml"/><Relationship Id="rId22" Type="http://schemas.openxmlformats.org/officeDocument/2006/relationships/slide" Target="slides/slide157.xml"/><Relationship Id="rId23" Type="http://schemas.openxmlformats.org/officeDocument/2006/relationships/slide" Target="slides/slide156.xml"/><Relationship Id="rId24" Type="http://schemas.openxmlformats.org/officeDocument/2006/relationships/slide" Target="slides/slide155.xml"/><Relationship Id="rId25" Type="http://schemas.openxmlformats.org/officeDocument/2006/relationships/font" Target="fonts/font1.fntdata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30" Type="http://schemas.openxmlformats.org/officeDocument/2006/relationships/slide" Target="slides/slide154.xml"/><Relationship Id="rId31" Type="http://schemas.openxmlformats.org/officeDocument/2006/relationships/slide" Target="slides/slide153.xml"/><Relationship Id="rId32" Type="http://schemas.openxmlformats.org/officeDocument/2006/relationships/slide" Target="slides/slide152.xml"/><Relationship Id="rId33" Type="http://schemas.openxmlformats.org/officeDocument/2006/relationships/slide" Target="slides/slide151.xml"/><Relationship Id="rId34" Type="http://schemas.openxmlformats.org/officeDocument/2006/relationships/slide" Target="slides/slide150.xml"/><Relationship Id="rId35" Type="http://schemas.openxmlformats.org/officeDocument/2006/relationships/slide" Target="slides/slide149.xml"/><Relationship Id="rId36" Type="http://schemas.openxmlformats.org/officeDocument/2006/relationships/slide" Target="slides/slide148.xml"/><Relationship Id="rId37" Type="http://schemas.openxmlformats.org/officeDocument/2006/relationships/slide" Target="slides/slide147.xml"/><Relationship Id="rId38" Type="http://schemas.openxmlformats.org/officeDocument/2006/relationships/slide" Target="slides/slide146.xml"/><Relationship Id="rId39" Type="http://schemas.openxmlformats.org/officeDocument/2006/relationships/slide" Target="slides/slide145.xml"/><Relationship Id="rId40" Type="http://schemas.openxmlformats.org/officeDocument/2006/relationships/slide" Target="slides/slide144.xml"/><Relationship Id="rId41" Type="http://schemas.openxmlformats.org/officeDocument/2006/relationships/slide" Target="slides/slide143.xml"/><Relationship Id="rId42" Type="http://schemas.openxmlformats.org/officeDocument/2006/relationships/slide" Target="slides/slide142.xml"/><Relationship Id="rId43" Type="http://schemas.openxmlformats.org/officeDocument/2006/relationships/slide" Target="slides/slide141.xml"/><Relationship Id="rId44" Type="http://schemas.openxmlformats.org/officeDocument/2006/relationships/slide" Target="slides/slide140.xml"/><Relationship Id="rId45" Type="http://schemas.openxmlformats.org/officeDocument/2006/relationships/slide" Target="slides/slide139.xml"/><Relationship Id="rId46" Type="http://schemas.openxmlformats.org/officeDocument/2006/relationships/slide" Target="slides/slide138.xml"/><Relationship Id="rId47" Type="http://schemas.openxmlformats.org/officeDocument/2006/relationships/slide" Target="slides/slide137.xml"/><Relationship Id="rId48" Type="http://schemas.openxmlformats.org/officeDocument/2006/relationships/slide" Target="slides/slide136.xml"/><Relationship Id="rId49" Type="http://schemas.openxmlformats.org/officeDocument/2006/relationships/slide" Target="slides/slide135.xml"/><Relationship Id="rId50" Type="http://schemas.openxmlformats.org/officeDocument/2006/relationships/slide" Target="slides/slide134.xml"/><Relationship Id="rId51" Type="http://schemas.openxmlformats.org/officeDocument/2006/relationships/slide" Target="slides/slide133.xml"/><Relationship Id="rId52" Type="http://schemas.openxmlformats.org/officeDocument/2006/relationships/slide" Target="slides/slide127.xml"/><Relationship Id="rId53" Type="http://schemas.openxmlformats.org/officeDocument/2006/relationships/slide" Target="slides/slide126.xml"/><Relationship Id="rId54" Type="http://schemas.openxmlformats.org/officeDocument/2006/relationships/slide" Target="slides/slide109.xml"/><Relationship Id="rId55" Type="http://schemas.openxmlformats.org/officeDocument/2006/relationships/slide" Target="slides/slide108.xml"/><Relationship Id="rId56" Type="http://schemas.openxmlformats.org/officeDocument/2006/relationships/slide" Target="slides/slide107.xml"/><Relationship Id="rId57" Type="http://schemas.openxmlformats.org/officeDocument/2006/relationships/slide" Target="slides/slide106.xml"/><Relationship Id="rId58" Type="http://schemas.openxmlformats.org/officeDocument/2006/relationships/slide" Target="slides/slide105.xml"/><Relationship Id="rId59" Type="http://schemas.openxmlformats.org/officeDocument/2006/relationships/slide" Target="slides/slide104.xml"/><Relationship Id="rId60" Type="http://schemas.openxmlformats.org/officeDocument/2006/relationships/slide" Target="slides/slide103.xml"/><Relationship Id="rId61" Type="http://schemas.openxmlformats.org/officeDocument/2006/relationships/slide" Target="slides/slide102.xml"/><Relationship Id="rId62" Type="http://schemas.openxmlformats.org/officeDocument/2006/relationships/slide" Target="slides/slide101.xml"/><Relationship Id="rId63" Type="http://schemas.openxmlformats.org/officeDocument/2006/relationships/slide" Target="slides/slide100.xml"/><Relationship Id="rId64" Type="http://schemas.openxmlformats.org/officeDocument/2006/relationships/slide" Target="slides/slide99.xml"/><Relationship Id="rId65" Type="http://schemas.openxmlformats.org/officeDocument/2006/relationships/slide" Target="slides/slide98.xml"/><Relationship Id="rId66" Type="http://schemas.openxmlformats.org/officeDocument/2006/relationships/slide" Target="slides/slide97.xml"/><Relationship Id="rId67" Type="http://schemas.openxmlformats.org/officeDocument/2006/relationships/slide" Target="slides/slide96.xml"/><Relationship Id="rId73" Type="http://schemas.openxmlformats.org/officeDocument/2006/relationships/slide" Target="slides/slide95.xml"/><Relationship Id="rId74" Type="http://schemas.openxmlformats.org/officeDocument/2006/relationships/slide" Target="slides/slide94.xml"/><Relationship Id="rId75" Type="http://schemas.openxmlformats.org/officeDocument/2006/relationships/slide" Target="slides/slide93.xml"/><Relationship Id="rId76" Type="http://schemas.openxmlformats.org/officeDocument/2006/relationships/slide" Target="slides/slide92.xml"/><Relationship Id="rId77" Type="http://schemas.openxmlformats.org/officeDocument/2006/relationships/slide" Target="slides/slide91.xml"/><Relationship Id="rId78" Type="http://schemas.openxmlformats.org/officeDocument/2006/relationships/slide" Target="slides/slide90.xml"/><Relationship Id="rId83" Type="http://schemas.openxmlformats.org/officeDocument/2006/relationships/slide" Target="slides/slide89.xml"/><Relationship Id="rId84" Type="http://schemas.openxmlformats.org/officeDocument/2006/relationships/slide" Target="slides/slide88.xml"/><Relationship Id="rId96" Type="http://schemas.openxmlformats.org/officeDocument/2006/relationships/slide" Target="slides/slide87.xml"/><Relationship Id="rId119" Type="http://schemas.openxmlformats.org/officeDocument/2006/relationships/slide" Target="slides/slide110.xml"/><Relationship Id="rId120" Type="http://schemas.openxmlformats.org/officeDocument/2006/relationships/slide" Target="slides/slide111.xml"/><Relationship Id="rId121" Type="http://schemas.openxmlformats.org/officeDocument/2006/relationships/slide" Target="slides/slide112.xml"/><Relationship Id="rId122" Type="http://schemas.openxmlformats.org/officeDocument/2006/relationships/slide" Target="slides/slide113.xml"/><Relationship Id="rId123" Type="http://schemas.openxmlformats.org/officeDocument/2006/relationships/slide" Target="slides/slide114.xml"/><Relationship Id="rId124" Type="http://schemas.openxmlformats.org/officeDocument/2006/relationships/slide" Target="slides/slide115.xml"/><Relationship Id="rId125" Type="http://schemas.openxmlformats.org/officeDocument/2006/relationships/slide" Target="slides/slide116.xml"/><Relationship Id="rId126" Type="http://schemas.openxmlformats.org/officeDocument/2006/relationships/slide" Target="slides/slide117.xml"/><Relationship Id="rId127" Type="http://schemas.openxmlformats.org/officeDocument/2006/relationships/slide" Target="slides/slide118.xml"/><Relationship Id="rId128" Type="http://schemas.openxmlformats.org/officeDocument/2006/relationships/slide" Target="slides/slide119.xml"/><Relationship Id="rId129" Type="http://schemas.openxmlformats.org/officeDocument/2006/relationships/slide" Target="slides/slide120.xml"/><Relationship Id="rId130" Type="http://schemas.openxmlformats.org/officeDocument/2006/relationships/slide" Target="slides/slide121.xml"/><Relationship Id="rId131" Type="http://schemas.openxmlformats.org/officeDocument/2006/relationships/slide" Target="slides/slide122.xml"/><Relationship Id="rId132" Type="http://schemas.openxmlformats.org/officeDocument/2006/relationships/slide" Target="slides/slide123.xml"/><Relationship Id="rId133" Type="http://schemas.openxmlformats.org/officeDocument/2006/relationships/slide" Target="slides/slide124.xml"/><Relationship Id="rId134" Type="http://schemas.openxmlformats.org/officeDocument/2006/relationships/slide" Target="slides/slide125.xml"/><Relationship Id="rId137" Type="http://schemas.openxmlformats.org/officeDocument/2006/relationships/slide" Target="slides/slide128.xml"/><Relationship Id="rId138" Type="http://schemas.openxmlformats.org/officeDocument/2006/relationships/slide" Target="slides/slide129.xml"/><Relationship Id="rId139" Type="http://schemas.openxmlformats.org/officeDocument/2006/relationships/slide" Target="slides/slide130.xml"/><Relationship Id="rId140" Type="http://schemas.openxmlformats.org/officeDocument/2006/relationships/slide" Target="slides/slide131.xml"/><Relationship Id="rId141" Type="http://schemas.openxmlformats.org/officeDocument/2006/relationships/slide" Target="slides/slide132.xml"/><Relationship Id="rId172" Type="http://schemas.openxmlformats.org/officeDocument/2006/relationships/slide" Target="slides/slide163.xml"/><Relationship Id="rId173" Type="http://schemas.openxmlformats.org/officeDocument/2006/relationships/slide" Target="slides/slide164.xml"/><Relationship Id="rId174" Type="http://schemas.openxmlformats.org/officeDocument/2006/relationships/slide" Target="slides/slide165.xml"/><Relationship Id="rId175" Type="http://schemas.openxmlformats.org/officeDocument/2006/relationships/slide" Target="slides/slide166.xml"/><Relationship Id="rId178" Type="http://schemas.openxmlformats.org/officeDocument/2006/relationships/slide" Target="slides/slide169.xml"/><Relationship Id="rId179" Type="http://schemas.openxmlformats.org/officeDocument/2006/relationships/slide" Target="slides/slide170.xml"/><Relationship Id="rId180" Type="http://schemas.openxmlformats.org/officeDocument/2006/relationships/slide" Target="slides/slide171.xml"/><Relationship Id="rId181" Type="http://schemas.openxmlformats.org/officeDocument/2006/relationships/slide" Target="slides/slide172.xml"/><Relationship Id="rId185" Type="http://schemas.openxmlformats.org/officeDocument/2006/relationships/slide" Target="slides/slide176.xml"/><Relationship Id="rId186" Type="http://schemas.openxmlformats.org/officeDocument/2006/relationships/slide" Target="slides/slide17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72864" y="2900243"/>
            <a:ext cx="13292466" cy="200121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45729" y="5290457"/>
            <a:ext cx="10946736" cy="238589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223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447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671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895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1119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7343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3567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9790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9261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7423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5309" y="5999310"/>
            <a:ext cx="13292466" cy="1854253"/>
          </a:xfrm>
        </p:spPr>
        <p:txBody>
          <a:bodyPr anchor="t"/>
          <a:lstStyle>
            <a:lvl1pPr algn="l">
              <a:defRPr sz="5445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5309" y="3957039"/>
            <a:ext cx="13292466" cy="2042271"/>
          </a:xfrm>
        </p:spPr>
        <p:txBody>
          <a:bodyPr anchor="b"/>
          <a:lstStyle>
            <a:lvl1pPr marL="0" indent="0">
              <a:buNone/>
              <a:defRPr sz="2723">
                <a:solidFill>
                  <a:schemeClr val="tx1">
                    <a:tint val="75000"/>
                  </a:schemeClr>
                </a:solidFill>
              </a:defRPr>
            </a:lvl1pPr>
            <a:lvl2pPr marL="622386" indent="0">
              <a:buNone/>
              <a:defRPr sz="2450">
                <a:solidFill>
                  <a:schemeClr val="tx1">
                    <a:tint val="75000"/>
                  </a:schemeClr>
                </a:solidFill>
              </a:defRPr>
            </a:lvl2pPr>
            <a:lvl3pPr marL="1244773" indent="0">
              <a:buNone/>
              <a:defRPr sz="2178">
                <a:solidFill>
                  <a:schemeClr val="tx1">
                    <a:tint val="75000"/>
                  </a:schemeClr>
                </a:solidFill>
              </a:defRPr>
            </a:lvl3pPr>
            <a:lvl4pPr marL="1867159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4pPr>
            <a:lvl5pPr marL="248954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5pPr>
            <a:lvl6pPr marL="3111932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6pPr>
            <a:lvl7pPr marL="3734318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7pPr>
            <a:lvl8pPr marL="435670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8pPr>
            <a:lvl9pPr marL="4979091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795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81910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949416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72767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089817"/>
            <a:ext cx="6909585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910" y="2960754"/>
            <a:ext cx="6909585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943987" y="2089817"/>
            <a:ext cx="6912299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943987" y="2960754"/>
            <a:ext cx="6912299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96443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59417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00469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1911" y="371715"/>
            <a:ext cx="5144858" cy="1581950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14100" y="371716"/>
            <a:ext cx="8742185" cy="7968103"/>
          </a:xfrm>
        </p:spPr>
        <p:txBody>
          <a:bodyPr/>
          <a:lstStyle>
            <a:lvl1pPr>
              <a:defRPr sz="4356"/>
            </a:lvl1pPr>
            <a:lvl2pPr>
              <a:defRPr sz="3812"/>
            </a:lvl2pPr>
            <a:lvl3pPr>
              <a:defRPr sz="3267"/>
            </a:lvl3pPr>
            <a:lvl4pPr>
              <a:defRPr sz="2723"/>
            </a:lvl4pPr>
            <a:lvl5pPr>
              <a:defRPr sz="2723"/>
            </a:lvl5pPr>
            <a:lvl6pPr>
              <a:defRPr sz="2723"/>
            </a:lvl6pPr>
            <a:lvl7pPr>
              <a:defRPr sz="2723"/>
            </a:lvl7pPr>
            <a:lvl8pPr>
              <a:defRPr sz="2723"/>
            </a:lvl8pPr>
            <a:lvl9pPr>
              <a:defRPr sz="272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81911" y="1953666"/>
            <a:ext cx="5144858" cy="6386153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09004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65196" y="6535270"/>
            <a:ext cx="9382917" cy="771526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065196" y="834198"/>
            <a:ext cx="9382917" cy="5601661"/>
          </a:xfrm>
        </p:spPr>
        <p:txBody>
          <a:bodyPr/>
          <a:lstStyle>
            <a:lvl1pPr marL="0" indent="0">
              <a:buNone/>
              <a:defRPr sz="4356"/>
            </a:lvl1pPr>
            <a:lvl2pPr marL="622386" indent="0">
              <a:buNone/>
              <a:defRPr sz="3812"/>
            </a:lvl2pPr>
            <a:lvl3pPr marL="1244773" indent="0">
              <a:buNone/>
              <a:defRPr sz="3267"/>
            </a:lvl3pPr>
            <a:lvl4pPr marL="1867159" indent="0">
              <a:buNone/>
              <a:defRPr sz="2723"/>
            </a:lvl4pPr>
            <a:lvl5pPr marL="2489545" indent="0">
              <a:buNone/>
              <a:defRPr sz="2723"/>
            </a:lvl5pPr>
            <a:lvl6pPr marL="3111932" indent="0">
              <a:buNone/>
              <a:defRPr sz="2723"/>
            </a:lvl6pPr>
            <a:lvl7pPr marL="3734318" indent="0">
              <a:buNone/>
              <a:defRPr sz="2723"/>
            </a:lvl7pPr>
            <a:lvl8pPr marL="4356705" indent="0">
              <a:buNone/>
              <a:defRPr sz="2723"/>
            </a:lvl8pPr>
            <a:lvl9pPr marL="4979091" indent="0">
              <a:buNone/>
              <a:defRPr sz="2723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65196" y="7306797"/>
            <a:ext cx="9382917" cy="1095694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11591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19886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337691" y="373877"/>
            <a:ext cx="3518594" cy="796594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81910" y="373877"/>
            <a:ext cx="10295145" cy="796594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3513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81910" y="373877"/>
            <a:ext cx="14074375" cy="15560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178424"/>
            <a:ext cx="14074375" cy="61613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1910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43050" y="8653183"/>
            <a:ext cx="4952095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07373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3969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1244773" rtl="0" eaLnBrk="1" latinLnBrk="0" hangingPunct="1">
        <a:spcBef>
          <a:spcPct val="0"/>
        </a:spcBef>
        <a:buNone/>
        <a:defRPr sz="599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66790" indent="-466790" algn="l" defTabSz="1244773" rtl="0" eaLnBrk="1" latinLnBrk="0" hangingPunct="1">
        <a:spcBef>
          <a:spcPct val="20000"/>
        </a:spcBef>
        <a:buFont typeface="Arial" pitchFamily="34" charset="0"/>
        <a:buChar char="•"/>
        <a:defRPr sz="4356" kern="1200">
          <a:solidFill>
            <a:schemeClr val="tx1"/>
          </a:solidFill>
          <a:latin typeface="+mn-lt"/>
          <a:ea typeface="+mn-ea"/>
          <a:cs typeface="+mn-cs"/>
        </a:defRPr>
      </a:lvl1pPr>
      <a:lvl2pPr marL="1011378" indent="-388991" algn="l" defTabSz="1244773" rtl="0" eaLnBrk="1" latinLnBrk="0" hangingPunct="1">
        <a:spcBef>
          <a:spcPct val="20000"/>
        </a:spcBef>
        <a:buFont typeface="Arial" pitchFamily="34" charset="0"/>
        <a:buChar char="–"/>
        <a:defRPr sz="3812" kern="1200">
          <a:solidFill>
            <a:schemeClr val="tx1"/>
          </a:solidFill>
          <a:latin typeface="+mn-lt"/>
          <a:ea typeface="+mn-ea"/>
          <a:cs typeface="+mn-cs"/>
        </a:defRPr>
      </a:lvl2pPr>
      <a:lvl3pPr marL="1555966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3267" kern="1200">
          <a:solidFill>
            <a:schemeClr val="tx1"/>
          </a:solidFill>
          <a:latin typeface="+mn-lt"/>
          <a:ea typeface="+mn-ea"/>
          <a:cs typeface="+mn-cs"/>
        </a:defRPr>
      </a:lvl3pPr>
      <a:lvl4pPr marL="2178352" indent="-311193" algn="l" defTabSz="1244773" rtl="0" eaLnBrk="1" latinLnBrk="0" hangingPunct="1">
        <a:spcBef>
          <a:spcPct val="20000"/>
        </a:spcBef>
        <a:buFont typeface="Arial" pitchFamily="34" charset="0"/>
        <a:buChar char="–"/>
        <a:defRPr sz="2723" kern="1200">
          <a:solidFill>
            <a:schemeClr val="tx1"/>
          </a:solidFill>
          <a:latin typeface="+mn-lt"/>
          <a:ea typeface="+mn-ea"/>
          <a:cs typeface="+mn-cs"/>
        </a:defRPr>
      </a:lvl4pPr>
      <a:lvl5pPr marL="2800739" indent="-311193" algn="l" defTabSz="1244773" rtl="0" eaLnBrk="1" latinLnBrk="0" hangingPunct="1">
        <a:spcBef>
          <a:spcPct val="20000"/>
        </a:spcBef>
        <a:buFont typeface="Arial" pitchFamily="34" charset="0"/>
        <a:buChar char="»"/>
        <a:defRPr sz="2723" kern="1200">
          <a:solidFill>
            <a:schemeClr val="tx1"/>
          </a:solidFill>
          <a:latin typeface="+mn-lt"/>
          <a:ea typeface="+mn-ea"/>
          <a:cs typeface="+mn-cs"/>
        </a:defRPr>
      </a:lvl5pPr>
      <a:lvl6pPr marL="3423125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6pPr>
      <a:lvl7pPr marL="4045511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7pPr>
      <a:lvl8pPr marL="4667898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8pPr>
      <a:lvl9pPr marL="5290284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1pPr>
      <a:lvl2pPr marL="622386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2pPr>
      <a:lvl3pPr marL="1244773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3pPr>
      <a:lvl4pPr marL="1867159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4pPr>
      <a:lvl5pPr marL="248954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5pPr>
      <a:lvl6pPr marL="3111932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6pPr>
      <a:lvl7pPr marL="3734318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7pPr>
      <a:lvl8pPr marL="435670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8pPr>
      <a:lvl9pPr marL="4979091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20.png"/><Relationship Id="rId5" Type="http://schemas.openxmlformats.org/officeDocument/2006/relationships/image" Target="../media/diag_001_empresa.sv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21.png"/><Relationship Id="rId5" Type="http://schemas.openxmlformats.org/officeDocument/2006/relationships/image" Target="../media/diag_002_ciclo_full.sv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22.png"/><Relationship Id="rId5" Type="http://schemas.openxmlformats.org/officeDocument/2006/relationships/image" Target="../media/diag_003_ciclo_backlog.sv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23.png"/><Relationship Id="rId5" Type="http://schemas.openxmlformats.org/officeDocument/2006/relationships/image" Target="../media/diag_004_ciclo_planning.sv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24.png"/><Relationship Id="rId5" Type="http://schemas.openxmlformats.org/officeDocument/2006/relationships/image" Target="../media/diag_005_ciclo_daily.sv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25.png"/><Relationship Id="rId5" Type="http://schemas.openxmlformats.org/officeDocument/2006/relationships/image" Target="../media/diag_006_ciclo_review.sv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26.png"/><Relationship Id="rId5" Type="http://schemas.openxmlformats.org/officeDocument/2006/relationships/image" Target="../media/diag_007_ciclo_retro.sv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27.png"/><Relationship Id="rId5" Type="http://schemas.openxmlformats.org/officeDocument/2006/relationships/image" Target="../media/diag_008_ciclo_incremento.sv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28.png"/><Relationship Id="rId5" Type="http://schemas.openxmlformats.org/officeDocument/2006/relationships/image" Target="../media/diag_009_kanban.sv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29.png"/><Relationship Id="rId5" Type="http://schemas.openxmlformats.org/officeDocument/2006/relationships/image" Target="../media/diag_010_roadmap.sv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30.png"/><Relationship Id="rId5" Type="http://schemas.openxmlformats.org/officeDocument/2006/relationships/image" Target="../media/diag_011_squads.sv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0.png"/><Relationship Id="rId5" Type="http://schemas.openxmlformats.org/officeDocument/2006/relationships/image" Target="../media/diag_012_rastro.sv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3.png"/><Relationship Id="rId5" Type="http://schemas.openxmlformats.org/officeDocument/2006/relationships/image" Target="../media/diag_013_fluxo_full.sv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4.png"/><Relationship Id="rId5" Type="http://schemas.openxmlformats.org/officeDocument/2006/relationships/image" Target="../media/diag_014_fluxo_repo.sv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5.png"/><Relationship Id="rId5" Type="http://schemas.openxmlformats.org/officeDocument/2006/relationships/image" Target="../media/diag_015_fluxo_issue.sv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6.png"/><Relationship Id="rId5" Type="http://schemas.openxmlformats.org/officeDocument/2006/relationships/image" Target="../media/diag_016_fluxo_fork.sv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7.png"/><Relationship Id="rId5" Type="http://schemas.openxmlformats.org/officeDocument/2006/relationships/image" Target="../media/diag_017_fluxo_branch.sv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8.png"/><Relationship Id="rId5" Type="http://schemas.openxmlformats.org/officeDocument/2006/relationships/image" Target="../media/diag_018_fluxo_commit.sv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9.png"/><Relationship Id="rId5" Type="http://schemas.openxmlformats.org/officeDocument/2006/relationships/image" Target="../media/diag_019_fluxo_pr.sv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50.png"/><Relationship Id="rId5" Type="http://schemas.openxmlformats.org/officeDocument/2006/relationships/image" Target="../media/diag_020_fluxo_review.svg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51.png"/><Relationship Id="rId5" Type="http://schemas.openxmlformats.org/officeDocument/2006/relationships/image" Target="../media/diag_021_fluxo_merge.sv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52.png"/><Relationship Id="rId5" Type="http://schemas.openxmlformats.org/officeDocument/2006/relationships/image" Target="../media/diag_022_repo.sv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53.png"/><Relationship Id="rId5" Type="http://schemas.openxmlformats.org/officeDocument/2006/relationships/image" Target="../media/diag_023_passo0.sv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54.pn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55.png"/><Relationship Id="rId5" Type="http://schemas.openxmlformats.org/officeDocument/2006/relationships/image" Target="../media/diag_024_passo2.sv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56.png"/><Relationship Id="rId5" Type="http://schemas.openxmlformats.org/officeDocument/2006/relationships/image" Target="../media/diag_025_passo3.sv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57.png"/><Relationship Id="rId5" Type="http://schemas.openxmlformats.org/officeDocument/2006/relationships/image" Target="../media/diag_026_passo4.sv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58.png"/><Relationship Id="rId5" Type="http://schemas.openxmlformats.org/officeDocument/2006/relationships/image" Target="../media/diag_027_passo5.sv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59.png"/><Relationship Id="rId5" Type="http://schemas.openxmlformats.org/officeDocument/2006/relationships/image" Target="../media/diag_028_passo6.sv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60.png"/><Relationship Id="rId5" Type="http://schemas.openxmlformats.org/officeDocument/2006/relationships/image" Target="../media/diag_029_passo7.sv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61.png"/><Relationship Id="rId5" Type="http://schemas.openxmlformats.org/officeDocument/2006/relationships/image" Target="../media/diag_030_enc.svg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62.png"/><Relationship Id="rId5" Type="http://schemas.openxmlformats.org/officeDocument/2006/relationships/image" Target="../media/diag_031_encm.sv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1.png"/></Relationships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2663756"/>
            <a:ext cx="10464817" cy="6594544"/>
          </a:xfrm>
          <a:custGeom>
            <a:avLst/>
            <a:gdLst/>
            <a:ahLst/>
            <a:cxnLst/>
            <a:rect l="l" t="t" r="r" b="b"/>
            <a:pathLst>
              <a:path w="10464817" h="6594544">
                <a:moveTo>
                  <a:pt x="0" y="0"/>
                </a:moveTo>
                <a:lnTo>
                  <a:pt x="10464817" y="0"/>
                </a:lnTo>
                <a:lnTo>
                  <a:pt x="10464817" y="6594544"/>
                </a:lnTo>
                <a:lnTo>
                  <a:pt x="0" y="659454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3" name="Group 3"/>
          <p:cNvGrpSpPr/>
          <p:nvPr/>
        </p:nvGrpSpPr>
        <p:grpSpPr>
          <a:xfrm>
            <a:off x="0" y="0"/>
            <a:ext cx="4348518" cy="2540190"/>
            <a:chOff x="0" y="0"/>
            <a:chExt cx="1145289" cy="66902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1911824" y="6718110"/>
            <a:ext cx="4348518" cy="2540190"/>
            <a:chOff x="0" y="0"/>
            <a:chExt cx="1145289" cy="66902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729EBB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-1911824" y="9548884"/>
            <a:ext cx="4348518" cy="2540190"/>
            <a:chOff x="0" y="0"/>
            <a:chExt cx="1145289" cy="669021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-1916511" y="4017271"/>
            <a:ext cx="4348518" cy="1175760"/>
            <a:chOff x="0" y="0"/>
            <a:chExt cx="1145289" cy="309665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145289" cy="309665"/>
            </a:xfrm>
            <a:custGeom>
              <a:avLst/>
              <a:gdLst/>
              <a:ahLst/>
              <a:cxnLst/>
              <a:rect l="l" t="t" r="r" b="b"/>
              <a:pathLst>
                <a:path w="1145289" h="309665">
                  <a:moveTo>
                    <a:pt x="0" y="0"/>
                  </a:moveTo>
                  <a:lnTo>
                    <a:pt x="1145289" y="0"/>
                  </a:lnTo>
                  <a:lnTo>
                    <a:pt x="1145289" y="309665"/>
                  </a:lnTo>
                  <a:lnTo>
                    <a:pt x="0" y="309665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145289" cy="3477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-1911824" y="2663756"/>
            <a:ext cx="4348518" cy="1180073"/>
            <a:chOff x="0" y="0"/>
            <a:chExt cx="1145289" cy="310801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145289" cy="310801"/>
            </a:xfrm>
            <a:custGeom>
              <a:avLst/>
              <a:gdLst/>
              <a:ahLst/>
              <a:cxnLst/>
              <a:rect l="l" t="t" r="r" b="b"/>
              <a:pathLst>
                <a:path w="1145289" h="310801">
                  <a:moveTo>
                    <a:pt x="0" y="0"/>
                  </a:moveTo>
                  <a:lnTo>
                    <a:pt x="1145289" y="0"/>
                  </a:lnTo>
                  <a:lnTo>
                    <a:pt x="1145289" y="310801"/>
                  </a:lnTo>
                  <a:lnTo>
                    <a:pt x="0" y="310801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145289" cy="3489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pic>
        <p:nvPicPr>
          <p:cNvPr id="20" name="Imagem 19" descr="Logotipo&#10;&#10;Descrição gerada automaticamente">
            <a:extLst>
              <a:ext uri="{FF2B5EF4-FFF2-40B4-BE49-F238E27FC236}">
                <a16:creationId xmlns:a16="http://schemas.microsoft.com/office/drawing/2014/main" id="{8A562693-C811-03C7-1589-2D448D8EFA9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44800" y="9001067"/>
            <a:ext cx="2098590" cy="118045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600000" y="2650000"/>
            <a:ext cx="7200000" cy="3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800" b="1" i="0">
                <a:solidFill>
                  <a:srgbClr val="B8CCE8"/>
                </a:solidFill>
                <a:latin typeface="Calibri"/>
              </a:rPr>
              <a:t>Aula 13</a:t>
            </a:r>
          </a:p>
          <a:p>
            <a:pPr>
              <a:spcAft>
                <a:spcPts val="10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Kickoff do Projeto: o App TechBurger</a:t>
            </a:r>
          </a:p>
          <a:p>
            <a:pPr>
              <a:spcAft>
                <a:spcPts val="1000"/>
              </a:spcAft>
            </a:pPr>
            <a:r>
              <a:rPr sz="2200" b="0" i="0">
                <a:solidFill>
                  <a:srgbClr val="B8CCE8"/>
                </a:solidFill>
                <a:latin typeface="Calibri"/>
              </a:rPr>
              <a:t>Técnico em Desenvolvimento de Sistemas</a:t>
            </a:r>
          </a:p>
          <a:p>
            <a:pPr>
              <a:spcAft>
                <a:spcPts val="1000"/>
              </a:spcAft>
            </a:pPr>
            <a:r>
              <a:rPr sz="2200" b="0" i="0">
                <a:solidFill>
                  <a:srgbClr val="B8CCE8"/>
                </a:solidFill>
                <a:latin typeface="Calibri"/>
              </a:rPr>
              <a:t>Turma 103513  ·  27/10/2026  ·  07:30–11:30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Agenda da aula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07:30 - 07:45  Abertura: bem-vindos à AprendendoDev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07:45 - 08:30  Bloco 1: como uma empresa de software trabalha (Scrum e o quadro)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08:30 - 08:45  Intervalo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08:45 - 09:35  Bloco 2: o projeto - o app, as 8 sprints, os squads e a avaliação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09:35 - 10:10  Bloco 3: Git e GitHub - as peças de uma contribuição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10:10 - 10:20  Intervalo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10:20 - 11:30  Mão na massa: o primeiro pull request, encontre os problemas e encerramento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KICKOFF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Bem-vindos à AprendendoDev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A partir de hoje, vocês são devs de uma empresa de software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Antes de começar: vamos pensar juntos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Vocês modelaram o TechBurger durante 12 aulas. E se agora ele virasse um app de verdade?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Numa empresa, como 19 pessoas trabalham no MESMO sistema sem apagar o trabalho umas das outras?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Quem decide o que é feito primeiro? Quem diz que uma tarefa está pronta?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Os diagramas que fizemos servem para quê depois que o código começa?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Hoje: conhecer a empresa, o projeto, as regras do time e fazer a primeira contribuição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que muda a partir de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Aulas 14 a 21: cada aula é uma SPRINT - um ciclo curto, com entrega no final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Vocês são desenvolvedores (devs); o professor é o Product Owner e o Scrum Master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Vamos construir o app TechBurger do ZERO: requisitos, diagramas e código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Tudo fica num repositório público no GitHub, com o nome de cada um nas contribuições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É um portfólio real: dá para mostrar numa entrevista de estágio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 empresa AprendendoDev</a:t>
            </a:r>
          </a:p>
        </p:txBody>
      </p:sp>
      <p:pic>
        <p:nvPicPr>
          <p:cNvPr id="12" name="Picture 11" descr="empresa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19540" y="2900000"/>
            <a:ext cx="15960919" cy="6550000"/>
          </a:xfrm>
          <a:prstGeom prst="rect">
            <a:avLst/>
          </a:prstGeom>
        </p:spPr>
      </p:pic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cliente: o TechBurger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gerente Fernanda quer um app para os clientes pedirem lanches pelo celular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Ela conhece o negócio, não a tecnologia: fala de regras, não de código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que ela pede vira requisito; o que ela aprova vira entrega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Nas sprints, o professor faz o papel dela nas entrevistas e nas demonstrações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cliente não quer diagrama, quer o problema resolvido - o diagrama é para NÓS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BLOCO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Como uma empresa de software trabalha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Papéis, Scrum e o quadro de tarefas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Por que um método de trabalho?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Sem método: todo mundo mexe em tudo, ninguém sabe o que falta e o erro aparece no fim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Projeto “cascata”: tudo planejado no início e entregue só no final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 o cliente muda de ideia no meio do caminho, o trabalho se perde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Métodos ÁGEIS: entregar em pedaços pequenos, mostrar ao cliente e ajustar a cada ciclo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mais usado no mercado é o Scrum, com o quadro Kanban para acompanhar as tarefas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Cascata x ágil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Cascata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Planeja tudo no começo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Entrega uma vez, no fim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Mudança custa caro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Cliente vê só no final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Ágil (Scrum)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Planeja o próximo ciclo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Entrega a cada sprint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Mudança é esperada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Cliente vê sempre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Os 3 papéis do Scrum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Product Owner (PO): decide O QUE será feito e em que ordem - é o dono do backlog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Scrum Master (SM): cuida do PROCESSO e remove os bloqueios do time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Time de desenvolvimento (devs): decide COMO fazer e entrega o resultado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Na AprendendoDev: professor = PO e SM; vocês = devs, em 5 squads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Tech Lead do squad (muda a cada sprint): faz a primeira revisão e mantém o quadro em dia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Quem faz o quê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Professor (PO e SM)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Ordena o backlog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Escreve e aceita histórias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Conduz planning, review e retro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Remove bloqueios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Vocês (devs)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Escolhem a tarefa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Modelam e programam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Revisam o código do colega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Mostram a entrega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ciclo de uma sprint</a:t>
            </a:r>
          </a:p>
        </p:txBody>
      </p:sp>
      <p:pic>
        <p:nvPicPr>
          <p:cNvPr id="12" name="Picture 11" descr="ciclo_full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00000" y="4029852"/>
            <a:ext cx="16400000" cy="4290295"/>
          </a:xfrm>
          <a:prstGeom prst="rect">
            <a:avLst/>
          </a:prstGeom>
        </p:spPr>
      </p:pic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Product Backlog: a lista de tudo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2850000"/>
            <a:ext cx="1640000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Lista ORDENADA de tudo o que o app precisa ter</a:t>
            </a:r>
          </a:p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Cada item é uma história de usuário</a:t>
            </a:r>
          </a:p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O PO ordena por valor - o MoSCoW da Aula 2: Must primeiro</a:t>
            </a:r>
          </a:p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Ex.: “ver o cardápio” vem antes de “pedir de novo”</a:t>
            </a:r>
          </a:p>
        </p:txBody>
      </p:sp>
      <p:pic>
        <p:nvPicPr>
          <p:cNvPr id="13" name="Picture 11" descr="ciclo_backlog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71304" y="5150000"/>
            <a:ext cx="16257392" cy="4250000"/>
          </a:xfrm>
          <a:prstGeom prst="rect">
            <a:avLst/>
          </a:prstGeom>
        </p:spPr>
      </p:pic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Sprint Planning: o que entra na sprint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2850000"/>
            <a:ext cx="1640000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No início da aula, cerca de 20 minutos</a:t>
            </a:r>
          </a:p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O PO apresenta o objetivo da sprint</a:t>
            </a:r>
          </a:p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Cada dev escolhe UMA tarefa que caiba na aula</a:t>
            </a:r>
          </a:p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Comenta /eu-pego na Issue: o robô do time entrega a tarefa a ele</a:t>
            </a:r>
          </a:p>
        </p:txBody>
      </p:sp>
      <p:pic>
        <p:nvPicPr>
          <p:cNvPr id="13" name="Picture 11" descr="ciclo_planning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77016" y="5150000"/>
            <a:ext cx="16245967" cy="4250000"/>
          </a:xfrm>
          <a:prstGeom prst="rect">
            <a:avLst/>
          </a:prstGeom>
        </p:spPr>
      </p:pic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Daily: 10 minutos, 3 perguntas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2850000"/>
            <a:ext cx="1640000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O que eu fiz desde a última daily?</a:t>
            </a:r>
          </a:p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O que vou fazer agora?</a:t>
            </a:r>
          </a:p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Tem algo me bloqueando?</a:t>
            </a:r>
          </a:p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Em pé, rápido, por squad - problema grande se resolve DEPOIS</a:t>
            </a:r>
          </a:p>
        </p:txBody>
      </p:sp>
      <p:pic>
        <p:nvPicPr>
          <p:cNvPr id="13" name="Picture 11" descr="ciclo_daily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77016" y="5150000"/>
            <a:ext cx="16245967" cy="4250000"/>
          </a:xfrm>
          <a:prstGeom prst="rect">
            <a:avLst/>
          </a:prstGeom>
        </p:spPr>
      </p:pic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Sprint Review: mostrar o que ficou pronto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2850000"/>
            <a:ext cx="16400000" cy="1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No fim da aula, cada squad MOSTRA funcionando - não conta, mostra</a:t>
            </a:r>
          </a:p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O PO aceita ou devolve, com base no critério de aceite</a:t>
            </a:r>
          </a:p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O que não ficou pronto volta para o backlog</a:t>
            </a:r>
          </a:p>
        </p:txBody>
      </p:sp>
      <p:pic>
        <p:nvPicPr>
          <p:cNvPr id="13" name="Picture 11" descr="ciclo_review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00000" y="4630000"/>
            <a:ext cx="16400000" cy="4290295"/>
          </a:xfrm>
          <a:prstGeom prst="rect">
            <a:avLst/>
          </a:prstGeom>
        </p:spPr>
      </p:pic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Retrospectiva: melhorar o jeito de trabalhar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2850000"/>
            <a:ext cx="16400000" cy="1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Últimos minutos da aula: o time olha para o PROCESSO, não para o código</a:t>
            </a:r>
          </a:p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O que funcionou? O que atrapalhou? O que vamos mudar?</a:t>
            </a:r>
          </a:p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Uma melhoria por sprint, combinada por todos</a:t>
            </a:r>
          </a:p>
        </p:txBody>
      </p:sp>
      <p:pic>
        <p:nvPicPr>
          <p:cNvPr id="13" name="Picture 11" descr="ciclo_retro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00000" y="4630000"/>
            <a:ext cx="16400000" cy="4285774"/>
          </a:xfrm>
          <a:prstGeom prst="rect">
            <a:avLst/>
          </a:prstGeom>
        </p:spPr>
      </p:pic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Incremento: o app um pouco maior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2850000"/>
            <a:ext cx="16400000" cy="1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É o resultado da sprint: tudo o que foi ACEITO na review</a:t>
            </a:r>
          </a:p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Junta-se ao que já existia - o app cresce a cada aula</a:t>
            </a:r>
          </a:p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Na Aula 21, os incrementos somados viram a versão 1.0</a:t>
            </a:r>
          </a:p>
        </p:txBody>
      </p:sp>
      <p:pic>
        <p:nvPicPr>
          <p:cNvPr id="13" name="Picture 11" descr="ciclo_incremento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00000" y="4630000"/>
            <a:ext cx="16400000" cy="4290295"/>
          </a:xfrm>
          <a:prstGeom prst="rect">
            <a:avLst/>
          </a:prstGeom>
        </p:spPr>
      </p:pic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Uma aula-sprint na AprendendoDev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Início: Sprint Planning - objetivo da sprint e escolha das tarefas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Meio: mão na massa, com uma daily de 10 minutos por squad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Fim: Sprint Review - cada squad mostra o que ficou pronto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Últimos minutos: Retrospectiva - uma melhoria para a próxima sprint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Os horários de cada sprint estão na agenda da aula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História de usuário: o requisito na visão de quem usa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Formato: Como [quem], quero [o quê], para [por quê]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Ex.: Como cliente, quero ver o cardápio por categoria, para achar meu lanche mais rápido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É o requisito de usuário da Aula 1, escrito num cartão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Toda história tem critério de aceite: Dado / Quando / Então (Aulas 2 e 3)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Boa história é pequena: cabe numa sprint e um dev consegue terminar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Uma história completa (Squad Carrinho)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História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Como cliente,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quero ser avisado do pedido mínimo,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para não perder tempo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no pagamento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Critério de aceite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Dado um carrinho com R$ 12,00,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Quando tento finalizar,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Então o app impede e mostra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“faltam R$ 3,00”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quadro Kanban do projeto</a:t>
            </a:r>
          </a:p>
        </p:txBody>
      </p:sp>
      <p:pic>
        <p:nvPicPr>
          <p:cNvPr id="12" name="Picture 11" descr="kanban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00000" y="3089048"/>
            <a:ext cx="16400000" cy="6171903"/>
          </a:xfrm>
          <a:prstGeom prst="rect">
            <a:avLst/>
          </a:prstGeom>
        </p:spPr>
      </p:pic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As regras do quadro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Todo trabalho é um cartão (Issue): se não está no quadro, não existe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Cada dev tem no máximo 1 cartão em “Fazendo”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cartão anda sozinho: /eu-pego → Fazendo · PR aberto → Em revisão · merge → Pronto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“Em revisão” = pull request aberto, esperando o colega e o professor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“Pronto” só depois do merge e do critério de aceite conferido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Definição de Pronto (Definition of Done)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Faz o que o critério de aceite pede - testado no navegador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Segue o diagrama e os nomes do modelo (classes, telas, campos)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Tem pull request ligado à Issue e revisado por um colega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Não quebra o que já funcionava nem mexe em arquivo de outro squad sem combinar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Foi aceito pelo PO na Sprint Review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Iniciativa e autonomia no time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Iniciativa: agir sem esperar mandarem - ver um problema e propor a solução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Autonomia: decidir e resolver DENTRO do combinado, e pedir ajuda na hora certa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Travou 15 minutos? Pesquise, pergunte ao squad e depois ao professor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Terminou antes? Revise o PR de um colega ou pegue o próximo cartão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Mudar o que é de outro squad sem combinar não é iniciativa: é atropelo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Iniciativa x autonomia na prática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Iniciativa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Avisar um bloqueio na daily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Propor melhoria na retro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Ajudar o colega travado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Abrir Issue para um bug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Autonomia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Ler a Issue antes de perguntar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Pesquisar na documentação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Testar antes de abrir o PR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Cumprir o prazo da sprint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Bloco 1 - como tudo se liga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cliente pede → o PO escreve histórias → o backlog ordena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planning escolhe → a daily acompanha → a review aceita → a retro melhora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quadro mostra tudo isso, a qualquer momento, para todos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Tudo o que vocês aprenderam nas Aulas 1 a 12 é o que alimenta o backlog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BLOCO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O projeto: o app TechBurger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O que vamos construir, em quanto tempo e quem faz o quê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que vamos construir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Um app web de pedidos do TechBurger: o cliente pede pelo celular ou pelo computador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Cardápio, carrinho, pagamento simulado, painel da cozinha e área do cliente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As 8 regras de negócio do TechBurger funcionando de verdade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Feito com HTML, CSS e JavaScript puro: abre no navegador, sem instalar nada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No ar no fim do projeto: aprendendodev.com.br/app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Por que HTML, CSS e JavaScript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O que é cada um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HTML: a estrutura da tela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CSS: a aparência (cores, layout)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JavaScript: o comportamento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JSON: os dados (Aula 11)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Por que para nós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Roda em qualquer navegador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Não precisa instalar nada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É a base de toda a web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Publica de graça no GitHub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“Do zero” quer dizer o quê?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Não vamos copiar os diagramas das aulas: cada squad levanta, modela e constrói o SEU módulo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Sprints 1 a 3 - modelar: Canvas, requisitos, histórias, casos de uso, classes, wireframes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Sprints 4 a 7 - construir: telas, regras em JavaScript, integração e testes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Sprint 8 - entregar a versão 1.0 e apresentar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As Aulas 1 a 12 são a nossa “base de conhecimento”: consultem sempre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roadmap: 8 sprints até a versão 1.0</a:t>
            </a:r>
          </a:p>
        </p:txBody>
      </p:sp>
      <p:pic>
        <p:nvPicPr>
          <p:cNvPr id="12" name="Picture 11" descr="roadmap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00000" y="3574297"/>
            <a:ext cx="16400000" cy="5201406"/>
          </a:xfrm>
          <a:prstGeom prst="rect">
            <a:avLst/>
          </a:prstGeom>
        </p:spPr>
      </p:pic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Fase 1 - Modelar (Sprints 1 a 3)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Sprint 1 (30/10) - Descoberta: Canvas do TechBurger, entrevista com a cliente, regras e requisitos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Sprint 2 (05/11) - Análise: histórias com critério de aceite, casos de uso e backlog ordenado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Sprint 3 (06/11) - Projeto: classes e cardinalidade, dados em JSON, persona e wireframes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Entrega de cada sprint: arquivos na pasta docs/ do repositório, por pull request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Fase 2 - Construir e entregar (Sprints 4 a 8)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Sprint 4 (12/11) - Fluxos e telas: atividades e sequência + telas em HTML e CSS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Sprint 5 (13/11) - Funcionalidades: as regras de negócio em JavaScript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Sprint 6 (17/11) - Integração: pagamento simulado, cozinha, status e dados (JSON)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Sprint 7 (19/11) - Qualidade: testar os critérios de aceite, UX, acessibilidade, correções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Sprint 8 (27/11, 2h) - Release 1.0: app no ar, demonstração e retrospectiva final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Os 5 squads e seus módulos</a:t>
            </a:r>
          </a:p>
        </p:txBody>
      </p:sp>
      <p:pic>
        <p:nvPicPr>
          <p:cNvPr id="12" name="Picture 11" descr="squads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00000" y="3836719"/>
            <a:ext cx="16400000" cy="4676562"/>
          </a:xfrm>
          <a:prstGeom prst="rect">
            <a:avLst/>
          </a:prstGeom>
        </p:spPr>
      </p:pic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Como funcionam os squads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5 squads de 3 ou 4 devs; cada squad é dono de UM módulo, do começo ao fim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Quem modela o requisito é quem programa: o diagrama vira código na mão de quem o fez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Cada squad tem os seus arquivos: menos conflito, mais autonomia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Tech Lead muda a cada sprint, para todos passarem pelo papel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Os módulos conversam: o Carrinho usa o Cardápio, a Cozinha recebe do Pagamento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As 8 regras do TechBurger, agora em código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Regras 1 a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1. Mínimo R$ 15,00 → Carrinho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2. Fidelidade → Cliente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3. Cozinha só se pago → Pagamento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4. 5% no PIX → Pagamento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Regras 5 a 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5. Entrega até 5 km → Cliente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6. Item em falta → Cardápio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7. Mais de 10 itens → Carrinho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8. 3 cancelamentos → Cliente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Do diagrama ao código: o rastro de uma regra</a:t>
            </a:r>
          </a:p>
        </p:txBody>
      </p:sp>
      <p:pic>
        <p:nvPicPr>
          <p:cNvPr id="12" name="Picture 11" descr="rastro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00000" y="3842491"/>
            <a:ext cx="16400000" cy="4665017"/>
          </a:xfrm>
          <a:prstGeom prst="rect">
            <a:avLst/>
          </a:prstGeom>
        </p:spPr>
      </p:pic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portal da empresa: aprendendodev.com.br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Boas-vindas, regras do time e o objetivo da sprint atual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Os squads e os devs (com o card que vocês vão criar hoje)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Começar: o formulário que monta o seu card (é o que faremos hoje)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“Minha tarefa”: o seu próximo passo na sprint, com os botões certos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Guias passo a passo: primeiro PR, draw.io, editor no navegador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app publicado: aprendendodev.com.br/app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Onde fica cada coisa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Portal (aprendendodev.com.br): para se orientar - o que fazer e como fazer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Quadro (aba Projects do GitHub): as tarefas e quem está com cada uma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Repositório (github.com/aprendendodev/techburger): os diagramas e o código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Apostila de cada aula: o conteúdo da sprint e o passo a passo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Dúvida? Primeiro o squad, depois o professor - e registrem na Issue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Como vocês serão avaliados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Entregas da sprint (40%): Issues concluídas e pull requests aceitos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Rastreabilidade (20%): cada PR diz qual história resolve e qual diagrama segue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Participação no Scrum (20%): planning, daily, review, retro e revisão do PR do colega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Demonstração final do squad (20%): Aula 21, o módulo funcionando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GitHub registra tudo: quem fez, quando fez e o que fez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 se eu faltar?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Cada falta é uma sprint perdida - e 4 faltas no diário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sua tarefa volta para o backlog: o squad NÃO fica travado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Dá para entregar de casa até o início da sprint seguinte - o GitHub funciona de qualquer lugar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Avise o squad num comentário da Issue: comunicação também é avaliada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As regras do time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Respeito: a crítica é ao código, nunca à pessoa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Cada um mexe no que é seu; para mexer no do outro, combine antes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Usou internet ou IA? Tudo bem - mas saiba explicar cada linha que entregou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Nenhum dado pessoal no repositório: ele é público (nada de CPF, matrícula, telefone)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Pediu ajuda? Ajudou alguém? Registre na Issue - isso conta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Bloco 2 - como tudo se liga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Um app, 5 módulos, 5 squads, 8 sprints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Primeiro modelar (1 a 3), depois construir (4 a 7), depois entregar (8)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Cada regra de negócio tem dono, diagrama, código e teste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portal orienta, o quadro organiza, o repositório guarda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BLOCO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Git e GitHub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Como 19 pessoas trabalham no mesmo código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problema: trabalhar juntos no mesmo código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“app_final.html”, “app_final2.html”, “app_final_AGORA_VAI.html”...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Dois devs trocam o mesmo arquivo pelo WhatsApp: um apaga o trabalho do outro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Quebrou? Ninguém sabe o que mudou, quem mudou nem como voltar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solução do mercado: controle de versão - o Git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Git x GitHub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Git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Programa de controle de versão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Guarda o histórico de tudo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Roda no computador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Criado em 2005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GitHub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Site que hospeda repositórios Git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Issues, PRs, quadro e revisão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Roda na internet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Publica sites (GitHub Pages)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caminho de uma contribuição</a:t>
            </a:r>
          </a:p>
        </p:txBody>
      </p:sp>
      <p:pic>
        <p:nvPicPr>
          <p:cNvPr id="12" name="Picture 11" descr="fluxo_full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00000" y="3489946"/>
            <a:ext cx="16399999" cy="5370108"/>
          </a:xfrm>
          <a:prstGeom prst="rect">
            <a:avLst/>
          </a:prstGeom>
        </p:spPr>
      </p:pic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As peças, em grupos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ONDE fica: o repositório (da empresa) e o fork (a sua cópia)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QUE fazer: a Issue (o cartão da tarefa)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COMO trabalhar: a branch (a sua linha de trabalho) e os commits (cada alteração salva)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COMO entregar: o pull request, o review e o merge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Hoje faremos tudo pelo navegador, sem instalar nada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Repositório: a pasta do projeto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2850000"/>
            <a:ext cx="1640000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Guarda os arquivos e TODO o histórico de alterações</a:t>
            </a:r>
          </a:p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O nosso: github.com/aprendendodev/techburger</a:t>
            </a:r>
          </a:p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Público: qualquer pessoa vê; só o time aprova mudanças</a:t>
            </a:r>
          </a:p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A versão oficial fica no ramo principal: o main</a:t>
            </a:r>
          </a:p>
        </p:txBody>
      </p:sp>
      <p:pic>
        <p:nvPicPr>
          <p:cNvPr id="13" name="Picture 11" descr="fluxo_repo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615010" y="5150000"/>
            <a:ext cx="12969979" cy="4250000"/>
          </a:xfrm>
          <a:prstGeom prst="rect">
            <a:avLst/>
          </a:prstGeom>
        </p:spPr>
      </p:pic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Issue: o cartão da tarefa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2850000"/>
            <a:ext cx="1640000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Cada tarefa do backlog é uma Issue, com número: #12</a:t>
            </a:r>
          </a:p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Traz a história, o critério de aceite e o diagrama de referência</a:t>
            </a:r>
          </a:p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Tem responsável e etiquetas (squad, sprint)</a:t>
            </a:r>
          </a:p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É o cartão que anda no quadro Kanban</a:t>
            </a:r>
          </a:p>
        </p:txBody>
      </p:sp>
      <p:pic>
        <p:nvPicPr>
          <p:cNvPr id="13" name="Picture 11" descr="fluxo_issue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610373" y="5150000"/>
            <a:ext cx="12979253" cy="4250000"/>
          </a:xfrm>
          <a:prstGeom prst="rect">
            <a:avLst/>
          </a:prstGeom>
        </p:spPr>
      </p:pic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Fork: a sua cópia do repositório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2850000"/>
            <a:ext cx="16400000" cy="1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Cópia do repositório da empresa na SUA conta: seu-usuario/techburger</a:t>
            </a:r>
          </a:p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Você mexe à vontade, sem risco de estragar o oficial</a:t>
            </a:r>
          </a:p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É feito uma vez só, com um botão (Fork)</a:t>
            </a:r>
          </a:p>
        </p:txBody>
      </p:sp>
      <p:pic>
        <p:nvPicPr>
          <p:cNvPr id="13" name="Picture 11" descr="fluxo_fork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816349" y="4630000"/>
            <a:ext cx="14567302" cy="4770000"/>
          </a:xfrm>
          <a:prstGeom prst="rect">
            <a:avLst/>
          </a:prstGeom>
        </p:spPr>
      </p:pic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Branch: a sua linha de trabalho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2850000"/>
            <a:ext cx="1640000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Um “ramo” separado para UMA tarefa</a:t>
            </a:r>
          </a:p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O main continua intacto enquanto você trabalha</a:t>
            </a:r>
          </a:p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Nome que diz o que é: carrinho-pedido-minimo</a:t>
            </a:r>
          </a:p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Uma tarefa = uma branch = um pull request</a:t>
            </a:r>
          </a:p>
        </p:txBody>
      </p:sp>
      <p:pic>
        <p:nvPicPr>
          <p:cNvPr id="13" name="Picture 11" descr="fluxo_branch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610373" y="5150000"/>
            <a:ext cx="12979253" cy="4250000"/>
          </a:xfrm>
          <a:prstGeom prst="rect">
            <a:avLst/>
          </a:prstGeom>
        </p:spPr>
      </p:pic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Commit: cada alteração salva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2850000"/>
            <a:ext cx="1640000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Uma “foto” do projeto, com uma mensagem dizendo o que mudou</a:t>
            </a:r>
          </a:p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Mensagem boa: verbo + o quê - “Adiciona aviso de pedido mínimo”</a:t>
            </a:r>
          </a:p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Mensagem ruim: “ajustes”, “aaa”, “agora vai”</a:t>
            </a:r>
          </a:p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Commits pequenos: fica fácil achar e desfazer um erro</a:t>
            </a:r>
          </a:p>
        </p:txBody>
      </p:sp>
      <p:pic>
        <p:nvPicPr>
          <p:cNvPr id="13" name="Picture 11" descr="fluxo_commit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610373" y="5150000"/>
            <a:ext cx="12979253" cy="4250000"/>
          </a:xfrm>
          <a:prstGeom prst="rect">
            <a:avLst/>
          </a:prstGeom>
        </p:spPr>
      </p:pic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Pull request: pedir para juntar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2850000"/>
            <a:ext cx="1640000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Pede para levar o que você fez para o repositório da empresa</a:t>
            </a:r>
          </a:p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Diz QUAL Issue resolve (Closes #12) e qual diagrama seguiu</a:t>
            </a:r>
          </a:p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Mostra exatamente o que mudou, linha por linha</a:t>
            </a:r>
          </a:p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Na AprendendoDev, toda entrega é um pull request</a:t>
            </a:r>
          </a:p>
        </p:txBody>
      </p:sp>
      <p:pic>
        <p:nvPicPr>
          <p:cNvPr id="13" name="Picture 11" descr="fluxo_p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610373" y="5150000"/>
            <a:ext cx="12979253" cy="4250000"/>
          </a:xfrm>
          <a:prstGeom prst="rect">
            <a:avLst/>
          </a:prstGeom>
        </p:spPr>
      </p:pic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Review: o colega e o professor conferem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2850000"/>
            <a:ext cx="1640000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O Tech Lead do squad olha primeiro; o professor, depois</a:t>
            </a:r>
          </a:p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Pode aprovar, comentar ou pedir mudanças</a:t>
            </a:r>
          </a:p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Pedido de mudança não é bronca: é assim que as empresas garantem qualidade</a:t>
            </a:r>
          </a:p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Você ajusta na mesma branch e o PR se atualiza sozinho</a:t>
            </a:r>
          </a:p>
        </p:txBody>
      </p:sp>
      <p:pic>
        <p:nvPicPr>
          <p:cNvPr id="13" name="Picture 11" descr="fluxo_review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610373" y="5150000"/>
            <a:ext cx="12979253" cy="4250000"/>
          </a:xfrm>
          <a:prstGeom prst="rect">
            <a:avLst/>
          </a:prstGeom>
        </p:spPr>
      </p:pic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Merge: entrou no oficial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2850000"/>
            <a:ext cx="1640000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Com a aprovação, o professor faz o merge: o trabalho entra no main</a:t>
            </a:r>
          </a:p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A Issue fecha sozinha (por causa do Closes #12)</a:t>
            </a:r>
          </a:p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O cartão vai para “Pronto” no quadro</a:t>
            </a:r>
          </a:p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O site é atualizado com a sua contribuição</a:t>
            </a:r>
          </a:p>
        </p:txBody>
      </p:sp>
      <p:pic>
        <p:nvPicPr>
          <p:cNvPr id="13" name="Picture 11" descr="fluxo_merge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610373" y="5150000"/>
            <a:ext cx="12979253" cy="4250000"/>
          </a:xfrm>
          <a:prstGeom prst="rect">
            <a:avLst/>
          </a:prstGeom>
        </p:spPr>
      </p:pic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 estrutura do repositório</a:t>
            </a:r>
          </a:p>
        </p:txBody>
      </p:sp>
      <p:pic>
        <p:nvPicPr>
          <p:cNvPr id="12" name="Picture 11" descr="repo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693431" y="2900000"/>
            <a:ext cx="12813138" cy="6550000"/>
          </a:xfrm>
          <a:prstGeom prst="rect">
            <a:avLst/>
          </a:prstGeom>
        </p:spPr>
      </p:pic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Sem instalar nada: as ferramentas do projeto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Navegador + conta no GitHub: Issues, quadro, pull request e edição de arquivos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github.dev (aperte a tecla . no repositório): um editor de código dentro do navegador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draw.io (app.diagrams.net): os diagramas, salvos como .drawio na pasta docs/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Em casa, se quiser: Git e VS Code instalados (guia no portal)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Bloco 3 - como tudo se liga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Issue (o quê) → fork e branch (onde) → commits (como) → PR (entrega) → review → merge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Cada passo deixa rastro: dá para saber quem fez o quê, quando e por quê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É o mesmo fluxo usado nas empresas de software do mundo todo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Agora: cada um de vocês vai fazer o primeiro pull request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MÃO NA MASSA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O seu primeiro pull request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Todos juntos, passo a passo: o seu card na equipe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que vamos fazer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Cada dev cria o SEU card na pasta equipe/ do repositório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Um arquivo por pessoa (seu-usuario.md): ninguém mexe no arquivo do outro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página Começar do portal monta o card; o GitHub cria o fork e a branch sozinho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Depois do merge, o card aparece na página “Time” do portal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Os desenhos a seguir são ESQUEMAS das telas do GitHub: os botões têm os mesmos nomes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card: o que escrever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# Seu primeiro nome   (só o primeiro nome: o repositório é público)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- GitHub: @seu-usuario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- Squad: o seu squad (o professor anuncia hoje)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- Quero aprender neste projeto: uma frase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- Uma curiosidade sobre mim: uma frase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Passo 0 de 7: o ponto de partida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2900000"/>
            <a:ext cx="9000000" cy="6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•  Entre no GitHub com a sua conta</a:t>
            </a:r>
          </a:p>
          <a:p>
            <a:pPr>
              <a:spcAft>
                <a:spcPts val="1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•  O repositório da EMPRESA: github.com/aprendendodev/techburger</a:t>
            </a:r>
          </a:p>
          <a:p>
            <a:pPr>
              <a:spcAft>
                <a:spcPts val="1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•  Você ainda não pode alterar nada aqui: ele não é seu</a:t>
            </a:r>
          </a:p>
          <a:p>
            <a:pPr>
              <a:spcAft>
                <a:spcPts val="1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•  Por isso o seu card vai entrar por pull request</a:t>
            </a:r>
          </a:p>
        </p:txBody>
      </p:sp>
      <p:pic>
        <p:nvPicPr>
          <p:cNvPr id="13" name="Picture 11" descr="passo0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100000" y="2950000"/>
            <a:ext cx="7499999" cy="4868421"/>
          </a:xfrm>
          <a:prstGeom prst="rect">
            <a:avLst/>
          </a:prstGeom>
        </p:spPr>
      </p:pic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Passo 1 de 7: montar o card no portal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2900000"/>
            <a:ext cx="9000000" cy="6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•  Abra aprendendodev.com.br › Começar</a:t>
            </a:r>
          </a:p>
          <a:p>
            <a:pPr>
              <a:spcAft>
                <a:spcPts val="1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•  Preencha: primeiro nome, usuário do GitHub, squad e as duas frases</a:t>
            </a:r>
          </a:p>
          <a:p>
            <a:pPr>
              <a:spcAft>
                <a:spcPts val="1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•  Confira a prévia e clique em Criar o meu card no GitHub</a:t>
            </a:r>
          </a:p>
          <a:p>
            <a:pPr>
              <a:spcAft>
                <a:spcPts val="1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•  O texto do card também fica copiado</a:t>
            </a:r>
          </a:p>
        </p:txBody>
      </p:sp>
      <p:pic>
        <p:nvPicPr>
          <p:cNvPr id="13" name="Picture 11" descr="cap_comec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45652" y="2950000"/>
            <a:ext cx="6608695" cy="6400000"/>
          </a:xfrm>
          <a:prstGeom prst="rect">
            <a:avLst/>
          </a:prstGeom>
        </p:spPr>
      </p:pic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Passo 2 de 7: fazer o fork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2900000"/>
            <a:ext cx="9000000" cy="6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•  O GitHub avisa: para propor mudanças, você precisa de um fork</a:t>
            </a:r>
          </a:p>
          <a:p>
            <a:pPr>
              <a:spcAft>
                <a:spcPts val="1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•  Clique em Fork this repository</a:t>
            </a:r>
          </a:p>
          <a:p>
            <a:pPr>
              <a:spcAft>
                <a:spcPts val="1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•  Pronto: agora existe seu-usuario/techburger, a SUA cópia</a:t>
            </a:r>
          </a:p>
        </p:txBody>
      </p:sp>
      <p:pic>
        <p:nvPicPr>
          <p:cNvPr id="13" name="Picture 11" descr="passo2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100000" y="2950000"/>
            <a:ext cx="7499999" cy="4868421"/>
          </a:xfrm>
          <a:prstGeom prst="rect">
            <a:avLst/>
          </a:prstGeom>
        </p:spPr>
      </p:pic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Passo 3 de 7: conferir o seu arquivo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2900000"/>
            <a:ext cx="9000000" cy="6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•  O nome já vem preenchido: seu-usuario.md</a:t>
            </a:r>
          </a:p>
          <a:p>
            <a:pPr>
              <a:spcAft>
                <a:spcPts val="1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•  Confira o caminho: techburger / equipe / seu-usuario.md</a:t>
            </a:r>
          </a:p>
          <a:p>
            <a:pPr>
              <a:spcAft>
                <a:spcPts val="1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•  O texto do card também já vem; confira o squad</a:t>
            </a:r>
          </a:p>
          <a:p>
            <a:pPr>
              <a:spcAft>
                <a:spcPts val="1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•  Veio vazio? Digite o nome e cole o texto (Ctrl+V)</a:t>
            </a:r>
          </a:p>
        </p:txBody>
      </p:sp>
      <p:pic>
        <p:nvPicPr>
          <p:cNvPr id="13" name="Picture 11" descr="passo3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100000" y="2950000"/>
            <a:ext cx="7499999" cy="4868421"/>
          </a:xfrm>
          <a:prstGeom prst="rect">
            <a:avLst/>
          </a:prstGeom>
        </p:spPr>
      </p:pic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Passo 4 de 7: salvar (commit)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2900000"/>
            <a:ext cx="9000000" cy="6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•  Clique em Commit changes...</a:t>
            </a:r>
          </a:p>
          <a:p>
            <a:pPr>
              <a:spcAft>
                <a:spcPts val="1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•  Mensagem: Adiciona card de @seu-usuario</a:t>
            </a:r>
          </a:p>
          <a:p>
            <a:pPr>
              <a:spcAft>
                <a:spcPts val="1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•  Clique em Propose changes</a:t>
            </a:r>
          </a:p>
          <a:p>
            <a:pPr>
              <a:spcAft>
                <a:spcPts val="1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•  O GitHub cria uma branch no seu fork (patch-1)</a:t>
            </a:r>
          </a:p>
        </p:txBody>
      </p:sp>
      <p:pic>
        <p:nvPicPr>
          <p:cNvPr id="13" name="Picture 11" descr="passo4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100000" y="2950000"/>
            <a:ext cx="7499999" cy="4868421"/>
          </a:xfrm>
          <a:prstGeom prst="rect">
            <a:avLst/>
          </a:prstGeom>
        </p:spPr>
      </p:pic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Passo 5 de 7: comparar as mudanças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2900000"/>
            <a:ext cx="9000000" cy="6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•  Comparing changes: o que vai do seu fork para a empresa</a:t>
            </a:r>
          </a:p>
          <a:p>
            <a:pPr>
              <a:spcAft>
                <a:spcPts val="1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•  PARA: aprendendodev/techburger, main</a:t>
            </a:r>
          </a:p>
          <a:p>
            <a:pPr>
              <a:spcAft>
                <a:spcPts val="1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•  DE: seu-usuario/techburger, patch-1</a:t>
            </a:r>
          </a:p>
          <a:p>
            <a:pPr>
              <a:spcAft>
                <a:spcPts val="1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•  Confira: 1 arquivo novo, só o seu - e clique em Create pull request</a:t>
            </a:r>
          </a:p>
        </p:txBody>
      </p:sp>
      <p:pic>
        <p:nvPicPr>
          <p:cNvPr id="13" name="Picture 11" descr="passo5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100000" y="2950000"/>
            <a:ext cx="7499999" cy="4868421"/>
          </a:xfrm>
          <a:prstGeom prst="rect">
            <a:avLst/>
          </a:prstGeom>
        </p:spPr>
      </p:pic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Passo 6 de 7: descrever o pull request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2900000"/>
            <a:ext cx="9000000" cy="6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•  Título: Adiciona card de @seu-usuario</a:t>
            </a:r>
          </a:p>
          <a:p>
            <a:pPr>
              <a:spcAft>
                <a:spcPts val="1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•  A descrição já vem com o modelo do time: preencha</a:t>
            </a:r>
          </a:p>
          <a:p>
            <a:pPr>
              <a:spcAft>
                <a:spcPts val="1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•  Issue: “Parte de #1” - a #1 é de todos (Sprint 0)</a:t>
            </a:r>
          </a:p>
          <a:p>
            <a:pPr>
              <a:spcAft>
                <a:spcPts val="1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•  Clique em Create pull request</a:t>
            </a:r>
          </a:p>
        </p:txBody>
      </p:sp>
      <p:pic>
        <p:nvPicPr>
          <p:cNvPr id="13" name="Picture 11" descr="passo6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100000" y="2950000"/>
            <a:ext cx="7499999" cy="4868421"/>
          </a:xfrm>
          <a:prstGeom prst="rect">
            <a:avLst/>
          </a:prstGeom>
        </p:spPr>
      </p:pic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Passo 7 de 7: aguardar a revisão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2900000"/>
            <a:ext cx="9000000" cy="6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•  O PR aparece como Open, na aba Pull requests da empresa</a:t>
            </a:r>
          </a:p>
          <a:p>
            <a:pPr>
              <a:spcAft>
                <a:spcPts val="1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•  O robô do time confere o card e comenta; o professor revisa</a:t>
            </a:r>
          </a:p>
          <a:p>
            <a:pPr>
              <a:spcAft>
                <a:spcPts val="1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•  Pediu mudança? Edite o arquivo no SEU fork, na mesma branch</a:t>
            </a:r>
          </a:p>
          <a:p>
            <a:pPr>
              <a:spcAft>
                <a:spcPts val="1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•  Depois do merge, o card aparece no portal</a:t>
            </a:r>
          </a:p>
        </p:txBody>
      </p:sp>
      <p:pic>
        <p:nvPicPr>
          <p:cNvPr id="13" name="Picture 11" descr="passo7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100000" y="2950000"/>
            <a:ext cx="7499999" cy="4868421"/>
          </a:xfrm>
          <a:prstGeom prst="rect">
            <a:avLst/>
          </a:prstGeom>
        </p:spPr>
      </p:pic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REVISÃO DO EXEMPLO GUIADO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O que acabamos de fazer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Cada clique, uma peça do fluxo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Cada clique, uma peça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O que você clicou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Criar o meu card (portal)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Fork this repository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Commit changes / Propose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Create pull request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A peça do fluxo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O arquivo novo, já preenchido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Fork: a sua cópia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Commit numa branch nova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Pull request para a empresa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“Parte de #1” x “Closes #12”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Hoje, a Issue #1 (Sprint 0) é de TODOS: cada PR é só uma parte dela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 alguém escrevesse “Closes #1”, o primeiro merge fecharia a Issue de todo mundo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Nas sprints, cada Issue é de UM dev: aí o PR usa “Closes #número”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merge fecha a Issue e o cartão vai sozinho para “Pronto”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Por que um arquivo por pessoa?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 19 pessoas editassem o MESMO arquivo, os pull requests entrariam em conflito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Conflito: duas mudanças na mesma linha - o Git não sabe qual vale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Por isso, nas sprints, cada squad terá as suas pastas e os seus arquivos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Regra do time: arquivo de outro squad, só combinando antes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Revisão - como tudo se liga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Fork, branch e commit aconteceram no SEU espaço; o pull request levou para a empresa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review garante a qualidade; o merge torna oficial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Nas sprints será igual - só que o arquivo será um diagrama ou uma tela do app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Não terminou hoje? Termine em casa até 30/10 (passo a passo na Apostila, seção 9)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ENCONTRE OS PROBLEMAS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A Issue e o PR do estagiário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6 problemas para achar, em duplas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Encontre os problemas - o que fazer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O estagiário abriu uma Issue e um pull request para o Squad Carrinho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Em duplas, achem os 6 problemas: 3 na Issue e 3 no PR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Para cada um: o que está errado e qual regra do time ele quebra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Escrevam a correção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Tempo: 8 minutos; depois, correção coletiva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Encontre os problemas</a:t>
            </a:r>
          </a:p>
        </p:txBody>
      </p:sp>
      <p:pic>
        <p:nvPicPr>
          <p:cNvPr id="12" name="Picture 11" descr="enc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00000" y="3162500"/>
            <a:ext cx="16400000" cy="6025000"/>
          </a:xfrm>
          <a:prstGeom prst="rect">
            <a:avLst/>
          </a:prstGeom>
        </p:spPr>
      </p:pic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Os problemas marcados</a:t>
            </a:r>
          </a:p>
        </p:txBody>
      </p:sp>
      <p:pic>
        <p:nvPicPr>
          <p:cNvPr id="12" name="Picture 11" descr="encm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00000" y="3172797"/>
            <a:ext cx="16400000" cy="6004405"/>
          </a:xfrm>
          <a:prstGeom prst="rect">
            <a:avLst/>
          </a:prstGeom>
        </p:spPr>
      </p:pic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Problemas e correções (1 a 3: a Issue)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“Fazer o carrinho” não é história de usuário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      → Como cliente, quero ver o total do carrinho, para saber quanto vou pagar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Grande demais e de dois squads: carrinho E pagamento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      → Quebrar em Issues menores; o pagamento vai para o Squad Pagamento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Sem critério de aceite: ninguém sabe quando está pronto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      → Dado carrinho com 2 itens, Quando abro o carrinho, Então vejo o total somado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Problemas e correções (4 a 6: o pull request)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“atualização”, “aaa”, “ajustes”, “agora vai”: não dizem nada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      → Verbo + o quê: “Mostra o total no carrinho”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Sem a Issue (Closes #15) e sem o diagrama de referência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      → Preencher o modelo do time: Closes #15 + docs/diagramas/...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6.  Mexeu em cardapio.js (Squad Cardápio) e no CSS geral sem combinar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      → Só os arquivos do Carrinho; o resto, combinar com o outro squad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Erros comuns de quem está começando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Trabalhar sem Issue: “fiz uma coisa aí” não entra no quadro nem na avaliação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Tarefa grande demais: não termina na sprint - quebre em histórias menores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Mensagem de commit vaga e PR sem descrição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Mexer em arquivo de outro squad sem combinar: conflito na certa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Esperar o professor para tudo: primeiro tente, pesquise, pergunte ao squad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Colocar dado pessoal no repositório público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Antes da Sprint 1 (30/10): checklist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Conta no GitHub criada e card enviado pela página Começar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Card na pasta equipe/ com pull request aberto (ou já aceito)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Saber o seu squad e o módulo dele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Ler o README e o CONTRIBUTING do repositório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Rever as Aulas 1 e 2 (regras e técnicas de levantamento): a Sprint 1 começa com entrevista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Glossário (1 de 2) - Scrum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Sprint - ciclo curto de trabalho com entrega no fim (aqui: uma aula)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Product Owner (PO) - decide o que fazer e em que ordem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Scrum Master (SM) - cuida do processo e remove bloqueios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Product Backlog - lista ordenada de tudo o que o produto precisa ter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História de usuário - Como [quem], quero [o quê], para [por quê]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Definição de Pronto - o que a tarefa cumpre para ser aceita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Incremento - o que ficou pronto e foi aceito na sprint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Glossário (2 de 2) - Git e GitHub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Repositório - a pasta do projeto, com todo o histórico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Fork - a sua cópia do repositório, na sua conta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Branch - linha de trabalho separada para uma tarefa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Commit - alteração salva, com mensagem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Pull request (PR) - pedido para juntar as suas alterações ao oficial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Review / merge - a revisão do PR / a junção ao main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Issue - o cartão de uma tarefa (ou de um bug) no GitHub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Perguntas de revisão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Qual a diferença entre o Product Owner e o Scrum Master?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Cite os 4 eventos de uma sprint e o objetivo de cada um.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Escreva uma história de usuário com critério de aceite para a regra da entrega até 5 km.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O que é a Definição de Pronto? Cite 3 itens da nossa.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Qual a diferença entre fork e branch?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6.  Por que cada dev criou um arquivo próprio na pasta equipe/, e não uma linha num arquivo único?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Quiz relâmpago para casa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Em que coluna do quadro fica uma tarefa com pull request aberto, esperando revisão?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“Como cliente, quero pagar com PIX, para ganhar 5% de desconto.” Qual parte é o “para quê”?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Qual é a mensagem de commit melhor: “ajustes” ou “Adiciona aviso de pedido mínimo”? Por quê?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O que acontece com a Issue #12 quando o PR com “Closes #12” recebe o merge?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Faltei na Sprint 3. O squad fica travado esperando minha tarefa?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que vimos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AprendendoDev: o cliente, o PO, o Scrum Master e os 5 squads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Scrum: backlog, planning, daily, review, retro e incremento; o quadro Kanban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História de usuário, critério de aceite e Definição de Pronto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projeto: 8 sprints (modelar, construir, entregar) e como seremos avaliados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Git e GitHub: issue, fork, branch, commit, pull request, review e merge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primeiro pull request de cada um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-18120"/>
            <a:ext cx="10078328" cy="6744870"/>
          </a:xfrm>
          <a:custGeom>
            <a:avLst/>
            <a:gdLst/>
            <a:ahLst/>
            <a:cxnLst/>
            <a:rect l="l" t="t" r="r" b="b"/>
            <a:pathLst>
              <a:path w="10078328" h="6744870">
                <a:moveTo>
                  <a:pt x="0" y="0"/>
                </a:moveTo>
                <a:lnTo>
                  <a:pt x="10078328" y="0"/>
                </a:lnTo>
                <a:lnTo>
                  <a:pt x="10078328" y="6744869"/>
                </a:lnTo>
                <a:lnTo>
                  <a:pt x="0" y="674486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3801" t="-21813" r="-2112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TextBox 3"/>
          <p:cNvSpPr txBox="1"/>
          <p:nvPr/>
        </p:nvSpPr>
        <p:spPr>
          <a:xfrm>
            <a:off x="10078328" y="3794931"/>
            <a:ext cx="7629482" cy="9903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6000" dirty="0" err="1">
                <a:solidFill>
                  <a:srgbClr val="FFFFFF"/>
                </a:solidFill>
                <a:latin typeface="Unbounded 1 Ultra-Bold"/>
              </a:rPr>
              <a:t>Gratidão</a:t>
            </a:r>
            <a:r>
              <a:rPr lang="en-US" sz="6000" dirty="0">
                <a:solidFill>
                  <a:srgbClr val="FFFFFF"/>
                </a:solidFill>
                <a:latin typeface="Unbounded 1 Ultra-Bold"/>
              </a:rPr>
              <a:t>!</a:t>
            </a:r>
          </a:p>
        </p:txBody>
      </p:sp>
      <p:sp>
        <p:nvSpPr>
          <p:cNvPr id="4" name="Freeform 4"/>
          <p:cNvSpPr/>
          <p:nvPr/>
        </p:nvSpPr>
        <p:spPr>
          <a:xfrm>
            <a:off x="3177634" y="-162759"/>
            <a:ext cx="6443388" cy="6889508"/>
          </a:xfrm>
          <a:custGeom>
            <a:avLst/>
            <a:gdLst/>
            <a:ahLst/>
            <a:cxnLst/>
            <a:rect l="l" t="t" r="r" b="b"/>
            <a:pathLst>
              <a:path w="6443388" h="6889508">
                <a:moveTo>
                  <a:pt x="0" y="0"/>
                </a:moveTo>
                <a:lnTo>
                  <a:pt x="6443389" y="0"/>
                </a:lnTo>
                <a:lnTo>
                  <a:pt x="6443389" y="6889508"/>
                </a:lnTo>
                <a:lnTo>
                  <a:pt x="0" y="68895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b="-2099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Freeform 5"/>
          <p:cNvSpPr/>
          <p:nvPr/>
        </p:nvSpPr>
        <p:spPr>
          <a:xfrm>
            <a:off x="0" y="3794931"/>
            <a:ext cx="9304949" cy="5863637"/>
          </a:xfrm>
          <a:custGeom>
            <a:avLst/>
            <a:gdLst/>
            <a:ahLst/>
            <a:cxnLst/>
            <a:rect l="l" t="t" r="r" b="b"/>
            <a:pathLst>
              <a:path w="9304949" h="5863637">
                <a:moveTo>
                  <a:pt x="0" y="0"/>
                </a:moveTo>
                <a:lnTo>
                  <a:pt x="9304949" y="0"/>
                </a:lnTo>
                <a:lnTo>
                  <a:pt x="9304949" y="5863637"/>
                </a:lnTo>
                <a:lnTo>
                  <a:pt x="0" y="58636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9FC40EC0FA74E64E8146614CB730A4D9" ma:contentTypeVersion="18" ma:contentTypeDescription="Crie um novo documento." ma:contentTypeScope="" ma:versionID="64e3dda2b1a63d799175312bc15f4ace">
  <xsd:schema xmlns:xsd="http://www.w3.org/2001/XMLSchema" xmlns:xs="http://www.w3.org/2001/XMLSchema" xmlns:p="http://schemas.microsoft.com/office/2006/metadata/properties" xmlns:ns2="f61705dd-dd2d-4ab9-9bbf-49e0d21b9022" xmlns:ns3="0798beb3-9d6a-467b-b776-ccfc93473710" targetNamespace="http://schemas.microsoft.com/office/2006/metadata/properties" ma:root="true" ma:fieldsID="483aaa94bd3aaf7c48ed0e08118cf103" ns2:_="" ns3:_="">
    <xsd:import namespace="f61705dd-dd2d-4ab9-9bbf-49e0d21b9022"/>
    <xsd:import namespace="0798beb3-9d6a-467b-b776-ccfc9347371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1705dd-dd2d-4ab9-9bbf-49e0d21b902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Marcações de imagem" ma:readOnly="false" ma:fieldId="{5cf76f15-5ced-4ddc-b409-7134ff3c332f}" ma:taxonomyMulti="true" ma:sspId="11000289-e8e0-4655-aaa4-6ce2e2879be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798beb3-9d6a-467b-b776-ccfc93473710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560c32b9-b3cd-4e58-8615-6ab9f3400046}" ma:internalName="TaxCatchAll" ma:showField="CatchAllData" ma:web="0798beb3-9d6a-467b-b776-ccfc9347371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8197250-31A0-4980-994A-4E66396C857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3136358-B574-409C-9149-8485FB1C6F7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61705dd-dd2d-4ab9-9bbf-49e0d21b9022"/>
    <ds:schemaRef ds:uri="0798beb3-9d6a-467b-b776-ccfc9347371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10920</TotalTime>
  <Words>755</Words>
  <Application>Microsoft Office PowerPoint</Application>
  <PresentationFormat>Personalizar</PresentationFormat>
  <Paragraphs>94</Paragraphs>
  <Slides>20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20</vt:i4>
      </vt:variant>
    </vt:vector>
  </HeadingPairs>
  <TitlesOfParts>
    <vt:vector size="25" baseType="lpstr">
      <vt:lpstr>Unbounded 1 Ultra-Bold</vt:lpstr>
      <vt:lpstr>Calibri</vt:lpstr>
      <vt:lpstr>Arial</vt:lpstr>
      <vt:lpstr>Office Theme</vt:lpstr>
      <vt:lpstr>1_Office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APRESENTAÇÃO SENAI</dc:title>
  <dc:creator>Alisson de Oliveira da Guia</dc:creator>
  <cp:lastModifiedBy>Natanael Santos De Jesus</cp:lastModifiedBy>
  <cp:revision>14</cp:revision>
  <dcterms:created xsi:type="dcterms:W3CDTF">2006-08-16T00:00:00Z</dcterms:created>
  <dcterms:modified xsi:type="dcterms:W3CDTF">2026-08-30T15:39:53Z</dcterms:modified>
  <dc:identifier>DAGGnDa8uXQ</dc:identifier>
</cp:coreProperties>
</file>