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diag_004_fidel.svg" ContentType="image/svg+xml"/>
  <Override PartName="/ppt/media/diag_005_carr.svg" ContentType="image/svg+xml"/>
  <Override PartName="/ppt/media/diag_006_carr_n.svg" ContentType="image/svg+xml"/>
  <Override PartName="/ppt/media/diag_007_per_carla.svg" ContentType="image/svg+xml"/>
  <Override PartName="/ppt/media/diag_008_jor_tb.svg" ContentType="image/svg+xml"/>
  <Override PartName="/ppt/media/diag_009_ped.svg" ContentType="image/svg+xml"/>
  <Override PartName="/ppt/media/diag_010_ped_n.svg" ContentType="image/svg+xml"/>
  <Override PartName="/ppt/media/diag_012_prob.svg" ContentType="image/svg+xml"/>
  <Override PartName="/ppt/media/diag_013_prob_m.svg" ContentType="image/svg+xml"/>
  <Override PartName="/ppt/media/tb9_101.svg" ContentType="image/svg+xml"/>
  <Override PartName="/ppt/media/tb9_102.svg" ContentType="image/svg+xml"/>
  <Override PartName="/ppt/media/tb9_10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3"/>
    <p:sldMasterId id="2147483660" r:id="rId4"/>
  </p:sldMasterIdLst>
  <p:sldIdLst>
    <p:sldId id="813" r:id="rId135"/>
    <p:sldId id="814" r:id="rId136"/>
    <p:sldId id="820" r:id="rId142"/>
    <p:sldId id="821" r:id="rId143"/>
    <p:sldId id="822" r:id="rId144"/>
    <p:sldId id="823" r:id="rId145"/>
    <p:sldId id="824" r:id="rId146"/>
    <p:sldId id="825" r:id="rId147"/>
    <p:sldId id="826" r:id="rId148"/>
    <p:sldId id="827" r:id="rId149"/>
    <p:sldId id="828" r:id="rId150"/>
    <p:sldId id="829" r:id="rId151"/>
    <p:sldId id="830" r:id="rId152"/>
    <p:sldId id="831" r:id="rId153"/>
    <p:sldId id="832" r:id="rId154"/>
    <p:sldId id="833" r:id="rId155"/>
    <p:sldId id="834" r:id="rId156"/>
    <p:sldId id="835" r:id="rId157"/>
    <p:sldId id="836" r:id="rId158"/>
    <p:sldId id="837" r:id="rId159"/>
    <p:sldId id="838" r:id="rId160"/>
    <p:sldId id="839" r:id="rId161"/>
    <p:sldId id="840" r:id="rId162"/>
    <p:sldId id="841" r:id="rId163"/>
    <p:sldId id="842" r:id="rId164"/>
    <p:sldId id="843" r:id="rId165"/>
    <p:sldId id="844" r:id="rId166"/>
    <p:sldId id="845" r:id="rId167"/>
    <p:sldId id="846" r:id="rId168"/>
    <p:sldId id="847" r:id="rId169"/>
    <p:sldId id="848" r:id="rId170"/>
    <p:sldId id="849" r:id="rId171"/>
    <p:sldId id="850" r:id="rId110"/>
    <p:sldId id="851" r:id="rId109"/>
    <p:sldId id="852" r:id="rId108"/>
    <p:sldId id="853" r:id="rId107"/>
    <p:sldId id="854" r:id="rId176"/>
    <p:sldId id="855" r:id="rId177"/>
    <p:sldId id="856" r:id="rId106"/>
    <p:sldId id="857" r:id="rId105"/>
    <p:sldId id="858" r:id="rId104"/>
    <p:sldId id="859" r:id="rId99"/>
    <p:sldId id="860" r:id="rId182"/>
    <p:sldId id="861" r:id="rId183"/>
    <p:sldId id="862" r:id="rId184"/>
    <p:sldId id="863" r:id="rId98"/>
    <p:sldId id="864" r:id="rId97"/>
    <p:sldId id="914" r:id="rId103"/>
    <p:sldId id="915" r:id="rId102"/>
    <p:sldId id="916" r:id="rId101"/>
    <p:sldId id="917" r:id="rId100"/>
    <p:sldId id="918" r:id="rId85"/>
    <p:sldId id="919" r:id="rId111"/>
    <p:sldId id="920" r:id="rId112"/>
    <p:sldId id="866" r:id="rId95"/>
    <p:sldId id="867" r:id="rId94"/>
    <p:sldId id="921" r:id="rId113"/>
    <p:sldId id="922" r:id="rId114"/>
    <p:sldId id="923" r:id="rId115"/>
    <p:sldId id="924" r:id="rId116"/>
    <p:sldId id="925" r:id="rId117"/>
    <p:sldId id="926" r:id="rId118"/>
    <p:sldId id="868" r:id="rId93"/>
    <p:sldId id="869" r:id="rId92"/>
    <p:sldId id="870" r:id="rId91"/>
    <p:sldId id="871" r:id="rId90"/>
    <p:sldId id="872" r:id="rId89"/>
    <p:sldId id="873" r:id="rId88"/>
    <p:sldId id="874" r:id="rId87"/>
    <p:sldId id="875" r:id="rId86"/>
    <p:sldId id="876" r:id="rId82"/>
    <p:sldId id="877" r:id="rId81"/>
    <p:sldId id="878" r:id="rId80"/>
    <p:sldId id="879" r:id="rId79"/>
    <p:sldId id="886" r:id="rId72"/>
    <p:sldId id="887" r:id="rId71"/>
    <p:sldId id="888" r:id="rId70"/>
    <p:sldId id="889" r:id="rId69"/>
    <p:sldId id="890" r:id="rId68"/>
    <p:sldId id="907" r:id="rId229"/>
    <p:sldId id="908" r:id="rId230"/>
    <p:sldId id="909" r:id="rId231"/>
    <p:sldId id="910" r:id="rId232"/>
    <p:sldId id="911" r:id="rId233"/>
    <p:sldId id="912" r:id="rId234"/>
    <p:sldId id="913" r:id="rId235"/>
  </p:sldIdLst>
  <p:sldSz cx="18288000" cy="10287000"/>
  <p:notesSz cx="6858000" cy="9144000"/>
  <p:embeddedFontLst>
    <p:embeddedFont>
      <p:font typeface="Unbounded 1 Ultra-Bold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22" autoAdjust="0"/>
  </p:normalViewPr>
  <p:slideViewPr>
    <p:cSldViewPr>
      <p:cViewPr>
        <p:scale>
          <a:sx n="60" d="100"/>
          <a:sy n="60" d="100"/>
        </p:scale>
        <p:origin x="398" y="-19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25" Type="http://schemas.openxmlformats.org/officeDocument/2006/relationships/font" Target="fonts/font1.fntdata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68" Type="http://schemas.openxmlformats.org/officeDocument/2006/relationships/slide" Target="slides/slide73.xml"/><Relationship Id="rId69" Type="http://schemas.openxmlformats.org/officeDocument/2006/relationships/slide" Target="slides/slide72.xml"/><Relationship Id="rId70" Type="http://schemas.openxmlformats.org/officeDocument/2006/relationships/slide" Target="slides/slide71.xml"/><Relationship Id="rId71" Type="http://schemas.openxmlformats.org/officeDocument/2006/relationships/slide" Target="slides/slide70.xml"/><Relationship Id="rId72" Type="http://schemas.openxmlformats.org/officeDocument/2006/relationships/slide" Target="slides/slide69.xml"/><Relationship Id="rId79" Type="http://schemas.openxmlformats.org/officeDocument/2006/relationships/slide" Target="slides/slide62.xml"/><Relationship Id="rId80" Type="http://schemas.openxmlformats.org/officeDocument/2006/relationships/slide" Target="slides/slide61.xml"/><Relationship Id="rId81" Type="http://schemas.openxmlformats.org/officeDocument/2006/relationships/slide" Target="slides/slide60.xml"/><Relationship Id="rId82" Type="http://schemas.openxmlformats.org/officeDocument/2006/relationships/slide" Target="slides/slide59.xml"/><Relationship Id="rId85" Type="http://schemas.openxmlformats.org/officeDocument/2006/relationships/slide" Target="slides/slide101.xml"/><Relationship Id="rId86" Type="http://schemas.openxmlformats.org/officeDocument/2006/relationships/slide" Target="slides/slide58.xml"/><Relationship Id="rId87" Type="http://schemas.openxmlformats.org/officeDocument/2006/relationships/slide" Target="slides/slide57.xml"/><Relationship Id="rId88" Type="http://schemas.openxmlformats.org/officeDocument/2006/relationships/slide" Target="slides/slide56.xml"/><Relationship Id="rId89" Type="http://schemas.openxmlformats.org/officeDocument/2006/relationships/slide" Target="slides/slide55.xml"/><Relationship Id="rId90" Type="http://schemas.openxmlformats.org/officeDocument/2006/relationships/slide" Target="slides/slide54.xml"/><Relationship Id="rId91" Type="http://schemas.openxmlformats.org/officeDocument/2006/relationships/slide" Target="slides/slide53.xml"/><Relationship Id="rId92" Type="http://schemas.openxmlformats.org/officeDocument/2006/relationships/slide" Target="slides/slide52.xml"/><Relationship Id="rId93" Type="http://schemas.openxmlformats.org/officeDocument/2006/relationships/slide" Target="slides/slide51.xml"/><Relationship Id="rId94" Type="http://schemas.openxmlformats.org/officeDocument/2006/relationships/slide" Target="slides/slide50.xml"/><Relationship Id="rId95" Type="http://schemas.openxmlformats.org/officeDocument/2006/relationships/slide" Target="slides/slide49.xml"/><Relationship Id="rId97" Type="http://schemas.openxmlformats.org/officeDocument/2006/relationships/slide" Target="slides/slide47.xml"/><Relationship Id="rId98" Type="http://schemas.openxmlformats.org/officeDocument/2006/relationships/slide" Target="slides/slide46.xml"/><Relationship Id="rId99" Type="http://schemas.openxmlformats.org/officeDocument/2006/relationships/slide" Target="slides/slide42.xml"/><Relationship Id="rId100" Type="http://schemas.openxmlformats.org/officeDocument/2006/relationships/slide" Target="slides/slide100.xml"/><Relationship Id="rId101" Type="http://schemas.openxmlformats.org/officeDocument/2006/relationships/slide" Target="slides/slide99.xml"/><Relationship Id="rId102" Type="http://schemas.openxmlformats.org/officeDocument/2006/relationships/slide" Target="slides/slide98.xml"/><Relationship Id="rId103" Type="http://schemas.openxmlformats.org/officeDocument/2006/relationships/slide" Target="slides/slide97.xml"/><Relationship Id="rId104" Type="http://schemas.openxmlformats.org/officeDocument/2006/relationships/slide" Target="slides/slide41.xml"/><Relationship Id="rId105" Type="http://schemas.openxmlformats.org/officeDocument/2006/relationships/slide" Target="slides/slide40.xml"/><Relationship Id="rId106" Type="http://schemas.openxmlformats.org/officeDocument/2006/relationships/slide" Target="slides/slide39.xml"/><Relationship Id="rId107" Type="http://schemas.openxmlformats.org/officeDocument/2006/relationships/slide" Target="slides/slide36.xml"/><Relationship Id="rId108" Type="http://schemas.openxmlformats.org/officeDocument/2006/relationships/slide" Target="slides/slide35.xml"/><Relationship Id="rId109" Type="http://schemas.openxmlformats.org/officeDocument/2006/relationships/slide" Target="slides/slide34.xml"/><Relationship Id="rId110" Type="http://schemas.openxmlformats.org/officeDocument/2006/relationships/slide" Target="slides/slide33.xml"/><Relationship Id="rId111" Type="http://schemas.openxmlformats.org/officeDocument/2006/relationships/slide" Target="slides/slide102.xml"/><Relationship Id="rId112" Type="http://schemas.openxmlformats.org/officeDocument/2006/relationships/slide" Target="slides/slide103.xml"/><Relationship Id="rId113" Type="http://schemas.openxmlformats.org/officeDocument/2006/relationships/slide" Target="slides/slide104.xml"/><Relationship Id="rId114" Type="http://schemas.openxmlformats.org/officeDocument/2006/relationships/slide" Target="slides/slide105.xml"/><Relationship Id="rId115" Type="http://schemas.openxmlformats.org/officeDocument/2006/relationships/slide" Target="slides/slide106.xml"/><Relationship Id="rId116" Type="http://schemas.openxmlformats.org/officeDocument/2006/relationships/slide" Target="slides/slide107.xml"/><Relationship Id="rId117" Type="http://schemas.openxmlformats.org/officeDocument/2006/relationships/slide" Target="slides/slide108.xml"/><Relationship Id="rId118" Type="http://schemas.openxmlformats.org/officeDocument/2006/relationships/slide" Target="slides/slide109.xml"/><Relationship Id="rId135" Type="http://schemas.openxmlformats.org/officeDocument/2006/relationships/slide" Target="slides/slide1.xml"/><Relationship Id="rId136" Type="http://schemas.openxmlformats.org/officeDocument/2006/relationships/slide" Target="slides/slide2.xml"/><Relationship Id="rId142" Type="http://schemas.openxmlformats.org/officeDocument/2006/relationships/slide" Target="slides/slide3.xml"/><Relationship Id="rId143" Type="http://schemas.openxmlformats.org/officeDocument/2006/relationships/slide" Target="slides/slide4.xml"/><Relationship Id="rId144" Type="http://schemas.openxmlformats.org/officeDocument/2006/relationships/slide" Target="slides/slide5.xml"/><Relationship Id="rId145" Type="http://schemas.openxmlformats.org/officeDocument/2006/relationships/slide" Target="slides/slide6.xml"/><Relationship Id="rId146" Type="http://schemas.openxmlformats.org/officeDocument/2006/relationships/slide" Target="slides/slide7.xml"/><Relationship Id="rId147" Type="http://schemas.openxmlformats.org/officeDocument/2006/relationships/slide" Target="slides/slide8.xml"/><Relationship Id="rId148" Type="http://schemas.openxmlformats.org/officeDocument/2006/relationships/slide" Target="slides/slide9.xml"/><Relationship Id="rId149" Type="http://schemas.openxmlformats.org/officeDocument/2006/relationships/slide" Target="slides/slide10.xml"/><Relationship Id="rId150" Type="http://schemas.openxmlformats.org/officeDocument/2006/relationships/slide" Target="slides/slide11.xml"/><Relationship Id="rId151" Type="http://schemas.openxmlformats.org/officeDocument/2006/relationships/slide" Target="slides/slide12.xml"/><Relationship Id="rId152" Type="http://schemas.openxmlformats.org/officeDocument/2006/relationships/slide" Target="slides/slide13.xml"/><Relationship Id="rId153" Type="http://schemas.openxmlformats.org/officeDocument/2006/relationships/slide" Target="slides/slide14.xml"/><Relationship Id="rId154" Type="http://schemas.openxmlformats.org/officeDocument/2006/relationships/slide" Target="slides/slide15.xml"/><Relationship Id="rId155" Type="http://schemas.openxmlformats.org/officeDocument/2006/relationships/slide" Target="slides/slide16.xml"/><Relationship Id="rId156" Type="http://schemas.openxmlformats.org/officeDocument/2006/relationships/slide" Target="slides/slide17.xml"/><Relationship Id="rId157" Type="http://schemas.openxmlformats.org/officeDocument/2006/relationships/slide" Target="slides/slide18.xml"/><Relationship Id="rId158" Type="http://schemas.openxmlformats.org/officeDocument/2006/relationships/slide" Target="slides/slide19.xml"/><Relationship Id="rId159" Type="http://schemas.openxmlformats.org/officeDocument/2006/relationships/slide" Target="slides/slide20.xml"/><Relationship Id="rId160" Type="http://schemas.openxmlformats.org/officeDocument/2006/relationships/slide" Target="slides/slide21.xml"/><Relationship Id="rId161" Type="http://schemas.openxmlformats.org/officeDocument/2006/relationships/slide" Target="slides/slide22.xml"/><Relationship Id="rId162" Type="http://schemas.openxmlformats.org/officeDocument/2006/relationships/slide" Target="slides/slide23.xml"/><Relationship Id="rId163" Type="http://schemas.openxmlformats.org/officeDocument/2006/relationships/slide" Target="slides/slide24.xml"/><Relationship Id="rId164" Type="http://schemas.openxmlformats.org/officeDocument/2006/relationships/slide" Target="slides/slide25.xml"/><Relationship Id="rId165" Type="http://schemas.openxmlformats.org/officeDocument/2006/relationships/slide" Target="slides/slide26.xml"/><Relationship Id="rId166" Type="http://schemas.openxmlformats.org/officeDocument/2006/relationships/slide" Target="slides/slide27.xml"/><Relationship Id="rId167" Type="http://schemas.openxmlformats.org/officeDocument/2006/relationships/slide" Target="slides/slide28.xml"/><Relationship Id="rId168" Type="http://schemas.openxmlformats.org/officeDocument/2006/relationships/slide" Target="slides/slide29.xml"/><Relationship Id="rId169" Type="http://schemas.openxmlformats.org/officeDocument/2006/relationships/slide" Target="slides/slide30.xml"/><Relationship Id="rId170" Type="http://schemas.openxmlformats.org/officeDocument/2006/relationships/slide" Target="slides/slide31.xml"/><Relationship Id="rId171" Type="http://schemas.openxmlformats.org/officeDocument/2006/relationships/slide" Target="slides/slide32.xml"/><Relationship Id="rId176" Type="http://schemas.openxmlformats.org/officeDocument/2006/relationships/slide" Target="slides/slide37.xml"/><Relationship Id="rId177" Type="http://schemas.openxmlformats.org/officeDocument/2006/relationships/slide" Target="slides/slide38.xml"/><Relationship Id="rId182" Type="http://schemas.openxmlformats.org/officeDocument/2006/relationships/slide" Target="slides/slide43.xml"/><Relationship Id="rId183" Type="http://schemas.openxmlformats.org/officeDocument/2006/relationships/slide" Target="slides/slide44.xml"/><Relationship Id="rId184" Type="http://schemas.openxmlformats.org/officeDocument/2006/relationships/slide" Target="slides/slide45.xml"/><Relationship Id="rId229" Type="http://schemas.openxmlformats.org/officeDocument/2006/relationships/slide" Target="slides/slide90.xml"/><Relationship Id="rId230" Type="http://schemas.openxmlformats.org/officeDocument/2006/relationships/slide" Target="slides/slide91.xml"/><Relationship Id="rId231" Type="http://schemas.openxmlformats.org/officeDocument/2006/relationships/slide" Target="slides/slide92.xml"/><Relationship Id="rId232" Type="http://schemas.openxmlformats.org/officeDocument/2006/relationships/slide" Target="slides/slide93.xml"/><Relationship Id="rId233" Type="http://schemas.openxmlformats.org/officeDocument/2006/relationships/slide" Target="slides/slide94.xml"/><Relationship Id="rId234" Type="http://schemas.openxmlformats.org/officeDocument/2006/relationships/slide" Target="slides/slide95.xml"/><Relationship Id="rId235" Type="http://schemas.openxmlformats.org/officeDocument/2006/relationships/slide" Target="slides/slide9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2864" y="2900243"/>
            <a:ext cx="13292466" cy="20012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45729" y="5290457"/>
            <a:ext cx="10946736" cy="238589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223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447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671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89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1119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734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3567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979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9261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7423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5309" y="5999310"/>
            <a:ext cx="13292466" cy="1854253"/>
          </a:xfrm>
        </p:spPr>
        <p:txBody>
          <a:bodyPr anchor="t"/>
          <a:lstStyle>
            <a:lvl1pPr algn="l">
              <a:defRPr sz="5445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5309" y="3957039"/>
            <a:ext cx="13292466" cy="2042271"/>
          </a:xfrm>
        </p:spPr>
        <p:txBody>
          <a:bodyPr anchor="b"/>
          <a:lstStyle>
            <a:lvl1pPr marL="0" indent="0">
              <a:buNone/>
              <a:defRPr sz="2723">
                <a:solidFill>
                  <a:schemeClr val="tx1">
                    <a:tint val="75000"/>
                  </a:schemeClr>
                </a:solidFill>
              </a:defRPr>
            </a:lvl1pPr>
            <a:lvl2pPr marL="622386" indent="0">
              <a:buNone/>
              <a:defRPr sz="2450">
                <a:solidFill>
                  <a:schemeClr val="tx1">
                    <a:tint val="75000"/>
                  </a:schemeClr>
                </a:solidFill>
              </a:defRPr>
            </a:lvl2pPr>
            <a:lvl3pPr marL="1244773" indent="0">
              <a:buNone/>
              <a:defRPr sz="2178">
                <a:solidFill>
                  <a:schemeClr val="tx1">
                    <a:tint val="75000"/>
                  </a:schemeClr>
                </a:solidFill>
              </a:defRPr>
            </a:lvl3pPr>
            <a:lvl4pPr marL="1867159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4pPr>
            <a:lvl5pPr marL="248954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5pPr>
            <a:lvl6pPr marL="3111932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6pPr>
            <a:lvl7pPr marL="3734318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7pPr>
            <a:lvl8pPr marL="435670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8pPr>
            <a:lvl9pPr marL="4979091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795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81910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49416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7276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089817"/>
            <a:ext cx="6909585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910" y="2960754"/>
            <a:ext cx="6909585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943987" y="2089817"/>
            <a:ext cx="6912299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943987" y="2960754"/>
            <a:ext cx="6912299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9644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5941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046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1911" y="371715"/>
            <a:ext cx="5144858" cy="1581950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4100" y="371716"/>
            <a:ext cx="8742185" cy="7968103"/>
          </a:xfrm>
        </p:spPr>
        <p:txBody>
          <a:bodyPr/>
          <a:lstStyle>
            <a:lvl1pPr>
              <a:defRPr sz="4356"/>
            </a:lvl1pPr>
            <a:lvl2pPr>
              <a:defRPr sz="3812"/>
            </a:lvl2pPr>
            <a:lvl3pPr>
              <a:defRPr sz="3267"/>
            </a:lvl3pPr>
            <a:lvl4pPr>
              <a:defRPr sz="2723"/>
            </a:lvl4pPr>
            <a:lvl5pPr>
              <a:defRPr sz="2723"/>
            </a:lvl5pPr>
            <a:lvl6pPr>
              <a:defRPr sz="2723"/>
            </a:lvl6pPr>
            <a:lvl7pPr>
              <a:defRPr sz="2723"/>
            </a:lvl7pPr>
            <a:lvl8pPr>
              <a:defRPr sz="2723"/>
            </a:lvl8pPr>
            <a:lvl9pPr>
              <a:defRPr sz="27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1911" y="1953666"/>
            <a:ext cx="5144858" cy="6386153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0900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5196" y="6535270"/>
            <a:ext cx="9382917" cy="771526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65196" y="834198"/>
            <a:ext cx="9382917" cy="5601661"/>
          </a:xfrm>
        </p:spPr>
        <p:txBody>
          <a:bodyPr/>
          <a:lstStyle>
            <a:lvl1pPr marL="0" indent="0">
              <a:buNone/>
              <a:defRPr sz="4356"/>
            </a:lvl1pPr>
            <a:lvl2pPr marL="622386" indent="0">
              <a:buNone/>
              <a:defRPr sz="3812"/>
            </a:lvl2pPr>
            <a:lvl3pPr marL="1244773" indent="0">
              <a:buNone/>
              <a:defRPr sz="3267"/>
            </a:lvl3pPr>
            <a:lvl4pPr marL="1867159" indent="0">
              <a:buNone/>
              <a:defRPr sz="2723"/>
            </a:lvl4pPr>
            <a:lvl5pPr marL="2489545" indent="0">
              <a:buNone/>
              <a:defRPr sz="2723"/>
            </a:lvl5pPr>
            <a:lvl6pPr marL="3111932" indent="0">
              <a:buNone/>
              <a:defRPr sz="2723"/>
            </a:lvl6pPr>
            <a:lvl7pPr marL="3734318" indent="0">
              <a:buNone/>
              <a:defRPr sz="2723"/>
            </a:lvl7pPr>
            <a:lvl8pPr marL="4356705" indent="0">
              <a:buNone/>
              <a:defRPr sz="2723"/>
            </a:lvl8pPr>
            <a:lvl9pPr marL="4979091" indent="0">
              <a:buNone/>
              <a:defRPr sz="272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5196" y="7306797"/>
            <a:ext cx="9382917" cy="1095694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1159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1988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337691" y="373877"/>
            <a:ext cx="3518594" cy="796594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81910" y="373877"/>
            <a:ext cx="10295145" cy="796594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35137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81910" y="373877"/>
            <a:ext cx="14074375" cy="15560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178424"/>
            <a:ext cx="14074375" cy="6161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1910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43050" y="8653183"/>
            <a:ext cx="4952095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7373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396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44773" rtl="0" eaLnBrk="1" latinLnBrk="0" hangingPunct="1">
        <a:spcBef>
          <a:spcPct val="0"/>
        </a:spcBef>
        <a:buNone/>
        <a:defRPr sz="5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66790" indent="-466790" algn="l" defTabSz="1244773" rtl="0" eaLnBrk="1" latinLnBrk="0" hangingPunct="1">
        <a:spcBef>
          <a:spcPct val="20000"/>
        </a:spcBef>
        <a:buFont typeface="Arial" pitchFamily="34" charset="0"/>
        <a:buChar char="•"/>
        <a:defRPr sz="4356" kern="1200">
          <a:solidFill>
            <a:schemeClr val="tx1"/>
          </a:solidFill>
          <a:latin typeface="+mn-lt"/>
          <a:ea typeface="+mn-ea"/>
          <a:cs typeface="+mn-cs"/>
        </a:defRPr>
      </a:lvl1pPr>
      <a:lvl2pPr marL="1011378" indent="-388991" algn="l" defTabSz="1244773" rtl="0" eaLnBrk="1" latinLnBrk="0" hangingPunct="1">
        <a:spcBef>
          <a:spcPct val="20000"/>
        </a:spcBef>
        <a:buFont typeface="Arial" pitchFamily="34" charset="0"/>
        <a:buChar char="–"/>
        <a:defRPr sz="3812" kern="1200">
          <a:solidFill>
            <a:schemeClr val="tx1"/>
          </a:solidFill>
          <a:latin typeface="+mn-lt"/>
          <a:ea typeface="+mn-ea"/>
          <a:cs typeface="+mn-cs"/>
        </a:defRPr>
      </a:lvl2pPr>
      <a:lvl3pPr marL="1555966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3267" kern="1200">
          <a:solidFill>
            <a:schemeClr val="tx1"/>
          </a:solidFill>
          <a:latin typeface="+mn-lt"/>
          <a:ea typeface="+mn-ea"/>
          <a:cs typeface="+mn-cs"/>
        </a:defRPr>
      </a:lvl3pPr>
      <a:lvl4pPr marL="2178352" indent="-311193" algn="l" defTabSz="1244773" rtl="0" eaLnBrk="1" latinLnBrk="0" hangingPunct="1">
        <a:spcBef>
          <a:spcPct val="20000"/>
        </a:spcBef>
        <a:buFont typeface="Arial" pitchFamily="34" charset="0"/>
        <a:buChar char="–"/>
        <a:defRPr sz="2723" kern="1200">
          <a:solidFill>
            <a:schemeClr val="tx1"/>
          </a:solidFill>
          <a:latin typeface="+mn-lt"/>
          <a:ea typeface="+mn-ea"/>
          <a:cs typeface="+mn-cs"/>
        </a:defRPr>
      </a:lvl4pPr>
      <a:lvl5pPr marL="2800739" indent="-311193" algn="l" defTabSz="1244773" rtl="0" eaLnBrk="1" latinLnBrk="0" hangingPunct="1">
        <a:spcBef>
          <a:spcPct val="20000"/>
        </a:spcBef>
        <a:buFont typeface="Arial" pitchFamily="34" charset="0"/>
        <a:buChar char="»"/>
        <a:defRPr sz="2723" kern="1200">
          <a:solidFill>
            <a:schemeClr val="tx1"/>
          </a:solidFill>
          <a:latin typeface="+mn-lt"/>
          <a:ea typeface="+mn-ea"/>
          <a:cs typeface="+mn-cs"/>
        </a:defRPr>
      </a:lvl5pPr>
      <a:lvl6pPr marL="3423125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6pPr>
      <a:lvl7pPr marL="4045511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7pPr>
      <a:lvl8pPr marL="4667898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8pPr>
      <a:lvl9pPr marL="5290284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1pPr>
      <a:lvl2pPr marL="622386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2pPr>
      <a:lvl3pPr marL="1244773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3pPr>
      <a:lvl4pPr marL="1867159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4pPr>
      <a:lvl5pPr marL="248954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5pPr>
      <a:lvl6pPr marL="3111932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6pPr>
      <a:lvl7pPr marL="3734318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7pPr>
      <a:lvl8pPr marL="435670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8pPr>
      <a:lvl9pPr marL="4979091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tb9_101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tb9_102.sv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6" Type="http://schemas.openxmlformats.org/officeDocument/2006/relationships/image" Target="../media/image8.png"/><Relationship Id="rId7" Type="http://schemas.openxmlformats.org/officeDocument/2006/relationships/image" Target="../media/tb9_103.sv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31.png"/><Relationship Id="rId5" Type="http://schemas.openxmlformats.org/officeDocument/2006/relationships/image" Target="../media/diag_004_fidel.sv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32.png"/><Relationship Id="rId5" Type="http://schemas.openxmlformats.org/officeDocument/2006/relationships/image" Target="../media/diag_005_carr.sv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3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34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35.png"/><Relationship Id="rId5" Type="http://schemas.openxmlformats.org/officeDocument/2006/relationships/image" Target="../media/diag_006_carr_n.sv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36.png"/><Relationship Id="rId5" Type="http://schemas.openxmlformats.org/officeDocument/2006/relationships/image" Target="../media/diag_007_per_carla.sv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37.png"/><Relationship Id="rId5" Type="http://schemas.openxmlformats.org/officeDocument/2006/relationships/image" Target="../media/diag_008_jor_tb.sv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38.png"/><Relationship Id="rId5" Type="http://schemas.openxmlformats.org/officeDocument/2006/relationships/image" Target="../media/diag_009_ped.sv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39.png"/><Relationship Id="rId5" Type="http://schemas.openxmlformats.org/officeDocument/2006/relationships/image" Target="../media/diag_010_ped_n.sv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1.png"/><Relationship Id="rId5" Type="http://schemas.openxmlformats.org/officeDocument/2006/relationships/image" Target="../media/diag_012_prob.sv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2.png"/><Relationship Id="rId5" Type="http://schemas.openxmlformats.org/officeDocument/2006/relationships/image" Target="../media/diag_013_prob_m.sv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2663756"/>
            <a:ext cx="10464817" cy="6594544"/>
          </a:xfrm>
          <a:custGeom>
            <a:avLst/>
            <a:gdLst/>
            <a:ahLst/>
            <a:cxnLst/>
            <a:rect l="l" t="t" r="r" b="b"/>
            <a:pathLst>
              <a:path w="10464817" h="6594544">
                <a:moveTo>
                  <a:pt x="0" y="0"/>
                </a:moveTo>
                <a:lnTo>
                  <a:pt x="10464817" y="0"/>
                </a:lnTo>
                <a:lnTo>
                  <a:pt x="10464817" y="6594544"/>
                </a:lnTo>
                <a:lnTo>
                  <a:pt x="0" y="65945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4348518" cy="2540190"/>
            <a:chOff x="0" y="0"/>
            <a:chExt cx="1145289" cy="66902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911824" y="6718110"/>
            <a:ext cx="4348518" cy="2540190"/>
            <a:chOff x="0" y="0"/>
            <a:chExt cx="1145289" cy="66902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729EBB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1911824" y="9548884"/>
            <a:ext cx="4348518" cy="2540190"/>
            <a:chOff x="0" y="0"/>
            <a:chExt cx="1145289" cy="66902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1916511" y="4017271"/>
            <a:ext cx="4348518" cy="1175760"/>
            <a:chOff x="0" y="0"/>
            <a:chExt cx="1145289" cy="30966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45289" cy="309665"/>
            </a:xfrm>
            <a:custGeom>
              <a:avLst/>
              <a:gdLst/>
              <a:ahLst/>
              <a:cxnLst/>
              <a:rect l="l" t="t" r="r" b="b"/>
              <a:pathLst>
                <a:path w="1145289" h="309665">
                  <a:moveTo>
                    <a:pt x="0" y="0"/>
                  </a:moveTo>
                  <a:lnTo>
                    <a:pt x="1145289" y="0"/>
                  </a:lnTo>
                  <a:lnTo>
                    <a:pt x="1145289" y="309665"/>
                  </a:lnTo>
                  <a:lnTo>
                    <a:pt x="0" y="309665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145289" cy="347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1911824" y="2663756"/>
            <a:ext cx="4348518" cy="1180073"/>
            <a:chOff x="0" y="0"/>
            <a:chExt cx="1145289" cy="31080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45289" cy="310801"/>
            </a:xfrm>
            <a:custGeom>
              <a:avLst/>
              <a:gdLst/>
              <a:ahLst/>
              <a:cxnLst/>
              <a:rect l="l" t="t" r="r" b="b"/>
              <a:pathLst>
                <a:path w="1145289" h="310801">
                  <a:moveTo>
                    <a:pt x="0" y="0"/>
                  </a:moveTo>
                  <a:lnTo>
                    <a:pt x="1145289" y="0"/>
                  </a:lnTo>
                  <a:lnTo>
                    <a:pt x="1145289" y="310801"/>
                  </a:lnTo>
                  <a:lnTo>
                    <a:pt x="0" y="310801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145289" cy="3489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pic>
        <p:nvPicPr>
          <p:cNvPr id="20" name="Imagem 19" descr="Logotipo&#10;&#10;Descrição gerada automaticamente">
            <a:extLst>
              <a:ext uri="{FF2B5EF4-FFF2-40B4-BE49-F238E27FC236}">
                <a16:creationId xmlns:a16="http://schemas.microsoft.com/office/drawing/2014/main" id="{8A562693-C811-03C7-1589-2D448D8EFA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4800" y="9001067"/>
            <a:ext cx="2098590" cy="118045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600000" y="2650000"/>
            <a:ext cx="7200000" cy="3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 i="0">
                <a:solidFill>
                  <a:srgbClr val="B8CCE8"/>
                </a:solidFill>
                <a:latin typeface="Calibri"/>
              </a:rPr>
              <a:t>Aula 10</a:t>
            </a:r>
          </a:p>
          <a:p>
            <a:pPr>
              <a:spcAft>
                <a:spcPts val="10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Fundamentos de User Experience (UX)</a:t>
            </a:r>
          </a:p>
          <a:p>
            <a:pPr>
              <a:spcAft>
                <a:spcPts val="1000"/>
              </a:spcAft>
            </a:pPr>
            <a:r>
              <a:rPr sz="2200" b="0" i="0">
                <a:solidFill>
                  <a:srgbClr val="B8CCE8"/>
                </a:solidFill>
                <a:latin typeface="Calibri"/>
              </a:rPr>
              <a:t>Técnico em Desenvolvimento de Sistemas</a:t>
            </a:r>
          </a:p>
          <a:p>
            <a:pPr>
              <a:spcAft>
                <a:spcPts val="1000"/>
              </a:spcAft>
            </a:pPr>
            <a:r>
              <a:rPr sz="2200" b="0" i="0">
                <a:solidFill>
                  <a:srgbClr val="B8CCE8"/>
                </a:solidFill>
                <a:latin typeface="Calibri"/>
              </a:rPr>
              <a:t>Turma 103513  ·  16/10/2026  ·  07:30–10:35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Agenda da aula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07:30 - 07:35  Abertura e agenda do dia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07:35 - 08:35  Novo assunto: UX, usabilidade, as 10 heurísticas e acessibilidade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08:35 - 08:50  Intervalo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08:50 - 09:15  Personas, jornada do usuário, fluxo de telas e wireframes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09:15 - 09:25  Wireframe no draw.io e exemplo guiado: a tela Carrinho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09:25 - 10:03  Atividade 1 em grupo: persona + jornada + wireframe (TechBurger) + apresentações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10:03 - 10:13  Intervalo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10:13 - 10:23  Encontre os problemas de usabilidade (em duplas)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10:23 - 10:35  Erros comuns, síntese e encerramento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NOVO ASSUNTO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User Experience (UX)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A experiência completa de quem usa o sistema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Antes de começar: vamos pensar juntos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Um sistema bem modelado, mas difícil de usar, é um bom sistema?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Qual foi o último app que vocês desistiram de usar? Por quê?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Quem já abandonou uma compra porque “não achou o botão” ou “deu erro e não disse qual”?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TechBurger pode ter as regras perfeitas e ainda assim perder o cliente na tela de pagamento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Hoje: como pensar em QUEM usa - antes de programar as telas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que é 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User Experience: a experiência completa da pessoa ao usar um produto ou serviço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Inclui antes, durante e depois do uso: expectativa, facilidade, emoção, confiança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norma ISO 9241-210 fala em “percepções e respostas” da pessoa ao usar o sistema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Não é “deixar bonito”: é deixar ÚTIL, FÁCIL e AGRADÁVEL, nessa ordem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Depois de modelar O QUE o sistema faz (UML), a UX define COMO a pessoa vai usar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UX x 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UI - interface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A camada visual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Cores, botões, ícones, fontes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O que a pessoa VÊ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Ex.: o botão é azul e redondo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UX - experiência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A experiência inteira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Fluxo, clareza, esforço, emoção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O que a pessoa SENTE e CONSEGUE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Ex.: ela acha o botão e entende o que ele faz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Quiz rápido: UX ou UI?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A cor do botão “Finalizar Pedido”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O número de toques para fazer um pedido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A fonte usada nos títulos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O cliente não encontrar onde pagar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O novo ícone do carrinho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Respostas - UX ou UI?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UI: é a camada visual (e também afeta a UX, se o botão sumir no fundo)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UX: esforço para cumprir a tarefa (eficiência)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UI: tipografia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UX: a pessoa não consegue completar a tarefa (eficácia)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UI - e vira problema de UX se ninguém entender o que o ícone significa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UX no ciclo do sistema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Regras e requisitos (Aulas 1 a 3): já existem requisitos de USABILIDADE (RNF)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Casos de uso (Aula 4): cada caso de uso vira um caminho por telas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Atividades (Aula 7): cada decisão vira um aviso, uma mensagem ou um botão desabilitado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UX entra ANTES de programar as telas: corrigir no papel custa muito menos que no código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 volta DEPOIS: testar com pessoas reais e ajustar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Por que UX importa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Pessoas abandonam apps confusos - e raramente dizem por quê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Cada tela confusa vira ligação para o suporte, erro de cadastro ou pedido cancelado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Mudar um wireframe leva minutos; mudar um app publicado leva dias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Acessibilidade é obrigação: a Lei Brasileira de Inclusão (Lei 13.146/2015) exige sites acessíveis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Um sistema que ninguém consegue usar não cumpre nenhum requisito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Usabilidade: as 3 medidas (ISO 9241-11)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EFICÁCIA: a pessoa consegue completar a tarefa? (fez o pedido?)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EFICIÊNCIA: com quanto esforço? (quantos toques, quantos minutos?)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SATISFAÇÃO: como ela se sente? (tranquila ou irritada?)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Ex.: “90% dos clientes fazem o primeiro pedido em até 2 minutos, sem ajuda”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Medidas assim viram RNF (Aula 2) e critérios de aceite (Aula 3)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Os 5 princípios que usamos no dia a dia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Clareza: a pessoa entende o que fazer sem manual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Consistência: coisas parecidas se comportam do mesmo jeito em todas as telas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Feedback: o sistema informa o resultado de cada ação (“pedido confirmado”)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Prevenção de erros: o sistema evita ou avisa ANTES de uma ação arriscada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Eficiência: o caminho mais curto possível para a tarefa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As 10 heurísticas de Nielsen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Jakob Nielsen (1994): 10 regras práticas para avaliar interfaces - usadas até hoje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“Heurística” = regra prática, um checklist para achar problemas sem laboratório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Os 5 princípios cabem dentro delas: são a versão resumida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Nos próximos slides: cada heurística com um exemplo do TechBurger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Vamos usá-las para AVALIAR telas (encontre os problemas) e para DESENHAR (wireframes)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Heurísticas 1 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Heurística 1 - Visibilidade do status do sistema: a pessoa sempre sabe o que está acontecendo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Ex.: “Seu pedido está em preparo (etapa 2 de 4)”; o total sempre visível no carrinho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Heurística 2 - Correspondência com o mundo real: a linguagem da pessoa, não a do programador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Ex.: “Finalizar pedido” em vez de “Checkout SKU #8821”; ícone de lixeira para remover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Heurísticas 3 e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Heurística 3 - Controle e liberdade do usuário: sair, voltar e desfazer sem medo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Ex.: remover um item do carrinho; “Desfazer” logo depois de apagar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Heurística 4 - Consistência e padrões: o mesmo botão faz a mesma coisa em todas as telas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Ex.: o botão principal é sempre escuro e fica sempre no mesmo lugar; seguir o padrão do Android e do iOS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Heurísticas 5 e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Heurística 5 - Prevenção de erros: melhor evitar o erro do que explicar depois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Ex.: avisar “faltam R$ 3,00 para o pedido mínimo” desde o carrinho; esconder horários inválidos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Heurística 6 - Reconhecer em vez de lembrar: mostrar as opções em vez de exigir memória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Ex.: sugerir o último endereço usado; ícones COM rótulo; “Pedir de novo”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Heurísticas 7 e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Heurística 7 - Flexibilidade e eficiência de uso: atalhos para quem já conhece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Ex.: “Repetir último pedido”; favoritos; PIX copia e cola em 1 toque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Heurística 8 - Estética e design minimalista: só o que ajuda a tarefa naquela tela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Ex.: a tela de pagamento não precisa de propaganda nem de 3 banners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Heurísticas 9 e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Heurística 9 - Ajudar a reconhecer, diagnosticar e recuperar erros: dizer O QUE houve e O QUE fazer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Ex.: “Cartão recusado. Tente outro cartão ou pague com PIX” - nunca “Erro 403”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Heurística 10 - Ajuda e documentação: ajuda curta, no lugar certo, quando precisar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Ex.: “Como funciona o PIX?” ao lado da opção PIX, e não um manual de 20 páginas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Princípios x heurísticas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Princípio (resumo)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Clareza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Consistência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Feedback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Prevenção de erros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Eficiência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Heurísticas de Nielsen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2 (mundo real), 6 (reconhecer), 8 (minimalismo)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4 (consistência e padrões)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1 (visibilidade do status)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5 (prevenção) e 9 (recuperar erros)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7 (flexibilidade) e 3 (controle)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Quiz rápido: qual heurística?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O app mostra “Erro 500” quando o pagamento falha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O botão “Salvar” é verde numa tela e cinza em outra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Não dá para tirar um item do carrinho: só apagando o pedido inteiro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O app pede para digitar o endereço de novo a cada pedido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Depois de pagar, nada acontece na tela por 10 segundos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6.  O botão “Excluir conta” fica colado no botão “Salvar”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Respostas - qual heurística?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9 - ajudar a recuperar erros (e 2 - mundo real): dizer o que houve e o que fazer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4 - consistência e padrões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3 - controle e liberdade do usuário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6 - reconhecer em vez de lembrar (e 7 - eficiência)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1 - visibilidade do status do sistema (feedback)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6.  5 - prevenção de erros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Os textos da tela (microtexto)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Botões com verbo que diz o que acontece: “Finalizar pedido”, “Resgatar combo”, e não “OK” ou “Enviar”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Mensagens curtas, na linguagem do cliente, sem códigos nem jargão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Toda mensagem de erro diz O QUE houve e O QUE fazer agora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Confirmações dizem o próximo passo: “Pedido confirmado. Chega em 30 min”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Tom respeitoso: o erro é do sistema explicar mal, não da pessoa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Antes e depois: a mensagem de erro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Antes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“Erro 409”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“Operação não permitida”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“Falha no processamento”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A pessoa não sabe o que fazer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Depois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“Este pedido já tem 1 combo grátis”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“O combo já está no seu carrinho”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“Confira: R$ 0,00 no total do combo”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Heurísticas 2 e 9 aplicadas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Acessibilidade: UX para todas as pessoas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Contraste suficiente entre texto e fundo; nada de cinza claro sobre branco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Texto que pode aumentar; nada importante escrito em letra minúscula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Áreas de toque grandes: cerca de 44 a 48 pontos (padrões da Apple e do Android)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Não depender só da cor: “vence hoje” escrito, não só em vermelho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Texto alternativo nas imagens: leitores de tela (TalkBack, VoiceOver) leem em voz alta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Quem ganha: pessoas idosas, com baixa visão, com pressa, no sol - todo mundo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CONCEITO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Personas, jornada e fluxo de telas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Quem usa, o que sente e por onde passa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Persona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Um perfil fictício que representa um GRUPO de usuários reais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Baseada em dados e observação (entrevistas, atendimento, pesquisa) - não em achismo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Elementos: nome, idade, contexto, objetivo, frustrações, familiaridade com tecnologia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Uma frase típica ajuda a equipe a “ouvir” a persona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Serve para decidir: “isso funciona para ela?”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Persona não é...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Não é o cliente real (é o GRUPO) e não é o próprio programador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Não é estereótipo: “idoso não sabe usar celular” não ajuda ninguém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Não é uma ficha de cadastro: idade e profissão só importam se mudam o uso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Sem pesquisa? Faça uma PROTO-PERSONA com o que a equipe sabe - e marque como hipótese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Um ator do caso de uso (Aula 4) pode ter várias personas: Cliente → Carla, Seu José...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Exemplo de persona: Seu Antônio (TechBurger)</a:t>
            </a:r>
          </a:p>
        </p:txBody>
      </p:sp>
      <p:pic>
        <p:nvPicPr>
          <p:cNvPr id="12" name="Picture 11" descr="per_ex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27439" y="2906575"/>
            <a:ext cx="9745121" cy="653685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Como criar uma persona em 5 passos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Escolham o ator do caso de uso (Aula 4) que vão representar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Juntem o que sabem: quem é, onde usa, quando, com que pressa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Escrevam o OBJETIVO dela ao usar o sistema (a tarefa principal)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Escrevam 2 ou 3 FRUSTRAÇÕES concretas (as dores que o sistema deve evitar)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Deem nome, idade e uma frase típica; confiram: ela muda alguma decisão de tela?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Jornada do usuário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sequência de ETAPAS que a pessoa vive para cumprir uma tarefa, do início ao fim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Para cada etapa: o que ela FAZ, o que PENSA e SENTE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curva de emoção mostra onde a experiência piora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Os pontos baixos são PONTOS DE DOR; cada dor sugere uma OPORTUNIDADE de melhoria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É o “diagrama de atividades” visto pelo lado da pessoa, com emoções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Exemplo de jornada: resgatar o combo grátis pelo app</a:t>
            </a:r>
          </a:p>
        </p:txBody>
      </p:sp>
      <p:pic>
        <p:nvPicPr>
          <p:cNvPr id="12" name="Picture 11" descr="jor_ex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75962" y="2900000"/>
            <a:ext cx="13448075" cy="6500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Lendo a jornada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Etapa 2: o menu confuso derruba a emoção → atalho “Meus pontos” na tela inicial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Etapa 3: a tela não reage ao toque → mostrar na hora “Combo adicionado” (heurística 1)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Etapa 4: “Erro 409” é o pior momento → dizer o motivo e o que fazer (heurística 9)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Reparem: a regra da Aula 9 (100 pontos, 1 combo por pedido) é a mesma - muda como ela é COMUNICADA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Cada oportunidade pode virar requisito: “O app deve informar o motivo da recusa”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Da jornada aos requisitos (Aulas 2 e 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Ponto de dor → requisito funcional: “O app deve mostrar quanto falta para o pedido mínimo”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Medida de usabilidade → RNF: “O primeiro pedido deve ser feito em até 2 minutos, sem ajuda”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RNF de acessibilidade: “Os botões devem ter área de toque de pelo menos 44 pontos”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Critério de aceite: Dado um carrinho de R$ 12,00, Quando abro o carrinho, Então vejo “faltam R$ 3,00”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UX não é enfeite: vira requisito, é testada e entra na matriz de rastreabilidade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Fluxo de telas (user flow)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Cada caso de uso vira um CAMINHO por telas: onde a pessoa começa, o que toca, onde termina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As decisões do diagrama de atividades (Aula 7) viram telas de sucesso e de erro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Cada caixa é uma TELA; cada seta é uma AÇÃO da pessoa (“toca em Resgatar combo”)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Mostra o caminho mais curto e revela telas desnecessárias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É o mapa que diz QUAIS wireframes precisam ser desenhados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Exemplo de fluxo de telas: resgatar combo grátis (TechBurger)</a:t>
            </a:r>
          </a:p>
        </p:txBody>
      </p:sp>
      <p:pic>
        <p:nvPicPr>
          <p:cNvPr id="12" name="Picture 11" descr="fluxo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0000" y="2900000"/>
            <a:ext cx="16400000" cy="6435739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Wireframe de baixa fidelidade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esqueleto visual de UMA tela: estrutura e hierarquia, sem cor nem estilo final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Rápido de fazer - papel ou draw.io - e rápido de jogar fora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Objetivo: validar a ideia com o cliente e com usuários ANTES de gastar tempo com visual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Caixa com X = imagem; retângulos = campos e botões; linhas = divisões; textos reais ou “Lorem”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Um wireframe por tela do fluxo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Baixa, média e alta fidelidade: a mesma tela</a:t>
            </a:r>
          </a:p>
        </p:txBody>
      </p:sp>
      <p:pic>
        <p:nvPicPr>
          <p:cNvPr id="12" name="Picture 11" descr="fidel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77034" y="2900000"/>
            <a:ext cx="12245931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Elementos típicos de um wireframe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Cabeçalho: nome da tela e, se precisar, voltar ou busca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Conteúdo principal: a lista, o formulário ou o detalhe que a tarefa pede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Ação principal: UM botão em destaque (“Finalizar Pedido”), sempre no mesmo lugar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Ações secundárias com menos destaque (“Voltar”, “Alterar”)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Informação de status: total, etapa atual, mensagens de aviso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Exemplo: wireframe da tela “Carrinho” (TechBurger)</a:t>
            </a:r>
          </a:p>
        </p:txBody>
      </p:sp>
      <p:pic>
        <p:nvPicPr>
          <p:cNvPr id="12" name="Picture 11" descr="carr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5643" y="2900000"/>
            <a:ext cx="5368713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Anotando o wireframe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Notas amarelas ao lado da tela explicam as decisões de UX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Cada nota cita o princípio ou a heurística: “Visibilidade do status: total sempre à vista”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As notas também registram o que ainda falta melhorar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Na correção, é a anotação que mostra se o grupo PENSOU na pessoa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Vale para o papel também: escrevam ao lado do desenho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UX e a UML: o fio condutor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Ator (Aula 4) → uma ou mais personas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Caso de uso (Aula 4) → um fluxo de telas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Decisão da atividade (Aula 7) → aviso, mensagem de erro ou botão desabilitado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Mensagem da sequência (Aula 8) → a ação por trás de um botão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Atributo da classe (Aula 5) → o dado que aparece (ou é digitado) na tela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Teste de usabilidade rápido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Chamem 5 pessoas do perfil da persona e deem UMA tarefa: “faça um pedido”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Peçam para pensarem em voz alta; vocês só observam, sem ajudar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Anotem onde travaram, o que procuraram e o que disseram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Com 5 pessoas já aparecem a maioria dos problemas graves (Nielsen)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Corrijam o wireframe e testem de novo: é barato e rápido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EXEMPLO GUIADO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A tela Carrinho no draw.io - ao vivo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Do fluxo ao wireframe anotado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Wireframe no draw.io: as partes da tela</a:t>
            </a:r>
          </a:p>
        </p:txBody>
      </p:sp>
      <p:pic>
        <p:nvPicPr>
          <p:cNvPr id="12" name="Picture 11" descr="wf_tela_ger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8605" y="2900000"/>
            <a:ext cx="10662790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Onde ficam as formas do wireframe: a paleta Geral</a:t>
            </a:r>
          </a:p>
        </p:txBody>
      </p:sp>
      <p:pic>
        <p:nvPicPr>
          <p:cNvPr id="12" name="Picture 11" descr="wf_paleta_ger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5714" y="2900000"/>
            <a:ext cx="8608571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Montando o wireframe no draw.io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Tela: Geral › “Rounded Rectangle” grande, no formato de celular - estique pelas alças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Cabeçalho: “Textbox” com o nome da tela; embaixo, uma divisória com “Line”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Um item: “Rectangle” cinza (foto) + “Text” (nome e preço) + “Rounded Rectangle” pequeno (botão)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Selecionem as peças do item, Ctrl+G agrupa, Ctrl+D duplica para os outros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Rodapé: “Text” com o total e um “Rounded Rectangle” escuro para a ação principal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6.  Anotações: Geral › “Note”, ao lado da tela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Atalhos e cuidados no draw.io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Duplo clique numa forma escreve dentro dela  ·  Ctrl+Z desfaz  ·  Delete apaga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Cor: selecione a forma › painel Estilo › Preenchimento; baixa fidelidade = só tons de cinza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Alinhar vários itens: selecione-os › aba Organizar › Alinhar (ou as guias azuis ao arrastar)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Foto do produto: retângulo cinza com um X (duas “Line” cruzadas)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Salvem como “Wireframe_Grupo3.drawio”; para entregar: Arquivo › Exportar como › PNG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Resultado: o Carrinho anotado</a:t>
            </a:r>
          </a:p>
        </p:txBody>
      </p:sp>
      <p:pic>
        <p:nvPicPr>
          <p:cNvPr id="12" name="Picture 11" descr="carr_n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73167" y="2900000"/>
            <a:ext cx="8853666" cy="6500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Checklist do exemplo guiado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ação principal está em destaque e sozinha?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total está sempre visível?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Os itens têm o mesmo formato (quantidade, nome, preço)?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Cada nota cita um princípio ou uma heurística?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que falta também foi anotado (remover item)?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ATIVIDADE PRÁTICA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Persona, jornada e wireframe da tela de pedido (TechBurger)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30 minutos, em grupo, no draw.io ou no papel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Atividade prática 1 - o que fazer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Grupos de 3 a 4: pensem no cliente típico do TechBurger que pede pelo app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Passo 1: a PERSONA desse cliente (modelo na seção 4.1 da Apostila)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Passo 2: a JORNADA dela para fazer um pedido: 4 ou 5 etapas, com emoção e pontos de dor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Passo 3: o WIREFRAME da tela de pedido (cardápio + carrinho + finalizar), anotado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Ao final, 3 ou 4 grupos apresentam em até 3 minutos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Cronograma da atividade (30 min)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0 a 8 min: persona (nome, contexto, objetivo, frustrações, familiaridade, frase)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8 a 15 min: jornada (etapas, ação, pensa/sente, dor, oportunidade)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15 a 28 min: wireframe da tela de pedido, aplicando pelo menos 3 princípios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28 a 30 min: anotar no wireframe QUAL princípio cada decisão aplica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Pistas para o grupo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Lembrem das regras do TechBurger (Aula 1): pedido mínimo de R$ 15,00, item em falta, PIX com 5%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dor mais comum da jornada costuma estar no pedido mínimo e no pagamento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Uma oportunidade da jornada deve aparecer no wireframe (ex.: “faltam R$ 3,00”)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persona precisa mudar alguma decisão de tela - senão ela não está servindo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No draw.io, para a atividade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Arquivo › Novo; uma página para a persona e a jornada, outra para o wireframe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Persona e jornada: “Rectangle” e “Text” (paleta Geral) - ou no papel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Tela: “Rounded Rectangle” grande  ·  cabeçalho: “Textbox”  ·  divisórias: “Line”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Itens do cardápio: monte um, agrupe (Ctrl+G) e duplique (Ctrl+D)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Anotações: “Note”, apontando para a parte da tela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Esqueceu onde fica? Slides 44 a 47 e seção 6.1 da Apostila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Checklist da atividade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persona tem nome, contexto, objetivo, frustrações e familiaridade coerentes com o TechBurger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jornada tem 4 ou 5 etapas, com pelo menos 1 ponto de dor e 1 oportunidade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wireframe mostra itens, carrinho/total e o botão de finalizar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Pelo menos 3 princípios ou heurísticas anotados no wireframe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Uma oportunidade da jornada aparece no wireframe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APRESENTAÇÕES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Uma resposta possível: Carla, a jornada e a tela de pedido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Comparem com o que cada grupo produziu - não existe uma única resposta certa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Persona-modelo: Carla</a:t>
            </a:r>
          </a:p>
        </p:txBody>
      </p:sp>
      <p:pic>
        <p:nvPicPr>
          <p:cNvPr id="12" name="Picture 11" descr="per_carla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27439" y="2900000"/>
            <a:ext cx="9745121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Jornada-modelo: pedir pelo app</a:t>
            </a:r>
          </a:p>
        </p:txBody>
      </p:sp>
      <p:pic>
        <p:nvPicPr>
          <p:cNvPr id="12" name="Picture 11" descr="jor_tb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75962" y="2900000"/>
            <a:ext cx="13448075" cy="6500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Wireframe-modelo - tela de pedido (TechBurger)</a:t>
            </a:r>
          </a:p>
        </p:txBody>
      </p:sp>
      <p:pic>
        <p:nvPicPr>
          <p:cNvPr id="12" name="Picture 11" descr="p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83558" y="2900000"/>
            <a:ext cx="4432883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Wireframe-modelo anotado</a:t>
            </a:r>
          </a:p>
        </p:txBody>
      </p:sp>
      <p:pic>
        <p:nvPicPr>
          <p:cNvPr id="12" name="Picture 11" descr="ped_n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73698" y="2900000"/>
            <a:ext cx="7252603" cy="6500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Diferenças plausíveis entre grupos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Carrinho em outra tela (com ícone e contador no topo): válido, se o total aparecer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Categorias no topo (lanches, bebidas): ótima melhoria para cardápios grandes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Persona com outro perfil (estudante, família): válido, se for coerente com o TechBurger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NÃO aceitar: wireframe sem ação principal clara, persona genérica, jornada sem emoção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ENCONTRE OS PROBLEMAS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Avaliação heurística: 6 problemas de usabilidade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Em duplas: 6 minutos para achar, explicar e corrigir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Encontre os problemas - o que fazer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O próximo slide tem a tela de pagamento que um estagiário desenhou para o TechBurger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Há 6 problemas de usabilidade (ou de acessibilidade)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Marquem cada um e digam QUAL heurística ou princípio foi violado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Escrevam como ficaria a correção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Sem consultar a Apostila nos primeiros 5 minutos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Encontre os 6 problemas (em duplas)</a:t>
            </a:r>
          </a:p>
        </p:txBody>
      </p:sp>
      <p:pic>
        <p:nvPicPr>
          <p:cNvPr id="12" name="Picture 11" descr="prob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67269" y="2900000"/>
            <a:ext cx="7265462" cy="6500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Os 6 problemas marcados</a:t>
            </a:r>
          </a:p>
        </p:txBody>
      </p:sp>
      <p:pic>
        <p:nvPicPr>
          <p:cNvPr id="12" name="Picture 11" descr="prob_m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73610" y="2900000"/>
            <a:ext cx="7452779" cy="6500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Problemas e correções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Ícones “?” e engrenagem sem rótulo: reconhecer em vez de lembrar - dar nome aos ícones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“Checkout”, “SKU 44-B” e texto cinza claro: mundo real + contraste - “Pagamento” e texto escuro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Nenhuma forma escolhida e campos de cartão sempre à mostra: prevenção de erros - PIX pré-selecionado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“confirmar” apagado, pequeno e duplicado com “Pagar”: consistência e acessibilidade - um só botão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“Cancelar pedido” igual e colado ao “Pagar”: prevenção de erros - ação secundária, com confirmação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6.  O total e os itens não aparecem: visibilidade do status - mostrar o resumo acima do botão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Erros comuns em 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Desenhar a tela pensando em si mesmo, e não na persona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Persona genérica (“usuário, 25 anos”) que não muda nenhuma decisão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Wireframe com cores e logotipo: perde tempo e desvia a conversa da estrutura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Mensagens de erro técnicas (“Erro 500”) e botões sem rótulo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Ação principal escondida ou igual às ações perigosas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Esquecer acessibilidade: contraste baixo, letra pequena, botão minúsculo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Boas práticas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Comecem pela persona e pela jornada; só depois desenhem as telas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Uma ação principal por tela, sempre no mesmo lugar e com o mesmo estilo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Mostrem o status: total, etapa, confirmação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Evitem o erro antes de ter que explicá-lo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Anotem cada decisão com o princípio que ela aplica - e testem com 5 pessoas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Glossário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UX / UI - experiência completa / camada visual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Usabilidade - eficácia, eficiência e satisfação ao usar (ISO 9241-11)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Heurísticas de Nielsen - 10 regras práticas para avaliar interfaces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Persona - perfil fictício que representa um grupo de usuários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Jornada do usuário - etapas, ações, emoções, dores e oportunidades de uma tarefa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Fluxo de telas - o caminho da pessoa pelas telas de um caso de uso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Wireframe - esqueleto visual de uma tela, em baixa fidelidade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Perguntas de revisão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Qual a diferença entre UX e UI? Dê um exemplo de cada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Quais são as 3 medidas de usabilidade? Dê um exemplo de meta para cada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Escolha 3 heurísticas de Nielsen e dê um exemplo de cada no TechBurger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O que é uma persona? O que ela NÃO é?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Para que serve a jornada do usuário? O que é um ponto de dor?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6.  Por que o wireframe é feito em baixa fidelidade?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7.  Como uma decisão do diagrama de atividades aparece numa tela?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Quiz relâmpago para casa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UX ou UI: “o botão é azul e redondo”?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Qual heurística diz para mostrar o que o sistema está fazendo?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“Cartão recusado. Tente PIX” aplica qual heurística?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Uma persona representa uma pessoa real ou um grupo?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Por que não usar cores num wireframe de baixa fidelidade?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que vimos hoje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UX é a experiência completa; UI é a camada visual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Usabilidade: eficácia, eficiência e satisfação - e as 10 heurísticas de Nielsen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Acessibilidade: contraste, tamanho, toque, texto alternativo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Persona, jornada e fluxo de telas ligam a UML à pessoa que usa o sistema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Wireframes de baixa fidelidade, anotados com os princípios aplicados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Próxima aula (22/10): Conectividade e interoperabilidade de sistemas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-18120"/>
            <a:ext cx="10078328" cy="6744870"/>
          </a:xfrm>
          <a:custGeom>
            <a:avLst/>
            <a:gdLst/>
            <a:ahLst/>
            <a:cxnLst/>
            <a:rect l="l" t="t" r="r" b="b"/>
            <a:pathLst>
              <a:path w="10078328" h="6744870">
                <a:moveTo>
                  <a:pt x="0" y="0"/>
                </a:moveTo>
                <a:lnTo>
                  <a:pt x="10078328" y="0"/>
                </a:lnTo>
                <a:lnTo>
                  <a:pt x="10078328" y="6744869"/>
                </a:lnTo>
                <a:lnTo>
                  <a:pt x="0" y="67448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801" t="-21813" r="-21128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10078328" y="3794931"/>
            <a:ext cx="7629482" cy="990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dirty="0" err="1">
                <a:solidFill>
                  <a:srgbClr val="FFFFFF"/>
                </a:solidFill>
                <a:latin typeface="Unbounded 1 Ultra-Bold"/>
              </a:rPr>
              <a:t>Gratidão</a:t>
            </a:r>
            <a:r>
              <a:rPr lang="en-US" sz="6000" dirty="0">
                <a:solidFill>
                  <a:srgbClr val="FFFFFF"/>
                </a:solidFill>
                <a:latin typeface="Unbounded 1 Ultra-Bold"/>
              </a:rPr>
              <a:t>!</a:t>
            </a:r>
          </a:p>
        </p:txBody>
      </p:sp>
      <p:sp>
        <p:nvSpPr>
          <p:cNvPr id="4" name="Freeform 4"/>
          <p:cNvSpPr/>
          <p:nvPr/>
        </p:nvSpPr>
        <p:spPr>
          <a:xfrm>
            <a:off x="3177634" y="-162759"/>
            <a:ext cx="6443388" cy="6889508"/>
          </a:xfrm>
          <a:custGeom>
            <a:avLst/>
            <a:gdLst/>
            <a:ahLst/>
            <a:cxnLst/>
            <a:rect l="l" t="t" r="r" b="b"/>
            <a:pathLst>
              <a:path w="6443388" h="6889508">
                <a:moveTo>
                  <a:pt x="0" y="0"/>
                </a:moveTo>
                <a:lnTo>
                  <a:pt x="6443389" y="0"/>
                </a:lnTo>
                <a:lnTo>
                  <a:pt x="6443389" y="6889508"/>
                </a:lnTo>
                <a:lnTo>
                  <a:pt x="0" y="68895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2099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0" y="3794931"/>
            <a:ext cx="9304949" cy="5863637"/>
          </a:xfrm>
          <a:custGeom>
            <a:avLst/>
            <a:gdLst/>
            <a:ahLst/>
            <a:cxnLst/>
            <a:rect l="l" t="t" r="r" b="b"/>
            <a:pathLst>
              <a:path w="9304949" h="5863637">
                <a:moveTo>
                  <a:pt x="0" y="0"/>
                </a:moveTo>
                <a:lnTo>
                  <a:pt x="9304949" y="0"/>
                </a:lnTo>
                <a:lnTo>
                  <a:pt x="9304949" y="5863637"/>
                </a:lnTo>
                <a:lnTo>
                  <a:pt x="0" y="5863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Passo 0 de 6: abrir o ponto de partida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900000"/>
            <a:ext cx="9000000" cy="6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Arquivo › Abrir › “Aula 10 - Exemplo Guiado (ponto de partida).drawio”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A moldura do celular já está pronta: Geral › “Rounded Rectangle” grande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Hoje: a tela Carrinho do TechBurger, em baixa fidelidade (só tons de cinza)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Pergunte à turma: o que a pessoa precisa VER e FAZER nesta tela? (os itens, o total e finalizar)</a:t>
            </a:r>
          </a:p>
        </p:txBody>
      </p:sp>
      <p:pic>
        <p:nvPicPr>
          <p:cNvPr id="13" name="Picture 11" descr="p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0000" y="2950000"/>
            <a:ext cx="7500000" cy="5917857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Passo 1 de 6: o cabeçalho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900000"/>
            <a:ext cx="9000000" cy="6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Geral › “Textbox” no topo: Carrinho, grande e em negrito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Geral › “Line” logo abaixo, de uma borda à outra: a divisória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Pergunte: por que o nome da tela no topo? (clareza: a pessoa sabe onde está)</a:t>
            </a:r>
          </a:p>
        </p:txBody>
      </p:sp>
      <p:pic>
        <p:nvPicPr>
          <p:cNvPr id="13" name="Picture 11" descr="p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0000" y="2950000"/>
            <a:ext cx="7500000" cy="5917857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Passo 2 de 6: os itens do pedido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900000"/>
            <a:ext cx="9000000" cy="6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Geral › “Rectangle” com borda cinza clara: a caixa do item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Dentro, dois “Text”: quantidade e nome à esquerda; o preço em negrito à direita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Selecione as 3 peças, Ctrl+G agrupa e Ctrl+D duplica: 1x Refrigerante Lata, R$ 6,00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Pergunte: por que os dois itens têm o mesmo formato? (consistência - heurística 4)</a:t>
            </a:r>
          </a:p>
        </p:txBody>
      </p:sp>
      <p:pic>
        <p:nvPicPr>
          <p:cNvPr id="13" name="Picture 11" descr="p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0000" y="2950000"/>
            <a:ext cx="7500000" cy="5917857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Passo 3 de 6: o total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900000"/>
            <a:ext cx="9000000" cy="6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Outra “Line” separa os itens do resumo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“Text” Total à esquerda e R$ 41,80 em negrito à direita (35,80 + 6,00)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Pergunte: por que o total fica sempre à vista? (visibilidade do status - heurística 1)</a:t>
            </a:r>
          </a:p>
        </p:txBody>
      </p:sp>
      <p:pic>
        <p:nvPicPr>
          <p:cNvPr id="13" name="Picture 11" descr="p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0000" y="2950000"/>
            <a:ext cx="7500000" cy="5917857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Passo 4 de 6: a ação principal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900000"/>
            <a:ext cx="9000000" cy="6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Geral › “Rounded Rectangle” largo e escuro: Finalizar Pedido, em branco e negrito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UM botão em destaque, com um verbo que diz o que acontece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Pergunte: por que não “OK” ou “Enviar”? (o rótulo diz o que vai acontecer - clareza e mundo real)</a:t>
            </a:r>
          </a:p>
        </p:txBody>
      </p:sp>
      <p:pic>
        <p:nvPicPr>
          <p:cNvPr id="13" name="Picture 11" descr="p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0000" y="2950000"/>
            <a:ext cx="7500000" cy="5917857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Passo 5 de 6: anotando o que a tela aplica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900000"/>
            <a:ext cx="9000000" cy="6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Geral › “Note” ao lado da tela, ligada à parte certa por uma linha tracejada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Clareza / estética minimalista: só itens, total e uma ação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Visibilidade do status: o total aparece sempre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Consistência: o botão principal é escuro em todas as telas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Pergunte: que outra nota vocês acrescentariam? (ex.: prevenção de erros - avisar o pedido mínimo)</a:t>
            </a:r>
          </a:p>
        </p:txBody>
      </p:sp>
      <p:pic>
        <p:nvPicPr>
          <p:cNvPr id="13" name="Picture 11" descr="p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0000" y="2950000"/>
            <a:ext cx="7500000" cy="5915040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Passo 6 de 6: anotando o que falta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900000"/>
            <a:ext cx="9000000" cy="6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Outra “Note”, ligada ao item: Controle e liberdade - faltou um jeito de REMOVER um item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Anotar o que falta é tão importante quanto anotar o que já funciona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Pergunte: como resolver? (um “Remover” em cada item, com “Desfazer” logo depois - heurística 3)</a:t>
            </a:r>
          </a:p>
        </p:txBody>
      </p:sp>
      <p:pic>
        <p:nvPicPr>
          <p:cNvPr id="13" name="Picture 11" descr="p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0000" y="2950000"/>
            <a:ext cx="7500000" cy="5915040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REVISÃO DO EXEMPLO GUIADO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Da persona à tela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Os conceitos principais de cada ferramenta de UX, com os exemplos do TechBurger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Revisão: persona - QUEM usa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900000"/>
            <a:ext cx="9000000" cy="6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Perfil fictício que representa um GRUPO de usuários reais - não uma pessoa só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Elementos: nome e idade, contexto, objetivo, frustrações, familiaridade e uma frase típica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Seu Antônio enxerga mal letras pequenas → textos e botões grandes no Carrinho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Prefere um caminho curto e sempre igual → uma ação principal, sempre no mesmo lugar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Teste da persona: ela muda alguma decisão de tela? Se não muda, não está servindo</a:t>
            </a:r>
          </a:p>
        </p:txBody>
      </p:sp>
      <p:pic>
        <p:nvPicPr>
          <p:cNvPr id="13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0000" y="2950000"/>
            <a:ext cx="7500000" cy="5030864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Revisão: jornada - o que a pessoa VIVE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900000"/>
            <a:ext cx="16400000" cy="1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700" b="0" i="0">
                <a:solidFill>
                  <a:srgbClr val="333333"/>
                </a:solidFill>
                <a:latin typeface="Calibri"/>
              </a:rPr>
              <a:t>•  As ETAPAS da tarefa, do início ao fim; em cada uma: o que faz, pensa e sente</a:t>
            </a:r>
          </a:p>
          <a:p>
            <a:pPr>
              <a:spcAft>
                <a:spcPts val="1600"/>
              </a:spcAft>
            </a:pPr>
            <a:r>
              <a:rPr sz="1700" b="0" i="0">
                <a:solidFill>
                  <a:srgbClr val="333333"/>
                </a:solidFill>
                <a:latin typeface="Calibri"/>
              </a:rPr>
              <a:t>•  A curva de emoção mostra onde a experiência piora</a:t>
            </a:r>
          </a:p>
          <a:p>
            <a:pPr>
              <a:spcAft>
                <a:spcPts val="1600"/>
              </a:spcAft>
            </a:pPr>
            <a:r>
              <a:rPr sz="1700" b="0" i="0">
                <a:solidFill>
                  <a:srgbClr val="333333"/>
                </a:solidFill>
                <a:latin typeface="Calibri"/>
              </a:rPr>
              <a:t>•  Ponto de dor (vermelho): “Erro 409” sem explicação, na etapa 4</a:t>
            </a:r>
          </a:p>
          <a:p>
            <a:pPr>
              <a:spcAft>
                <a:spcPts val="1600"/>
              </a:spcAft>
            </a:pPr>
            <a:r>
              <a:rPr sz="1700" b="0" i="0">
                <a:solidFill>
                  <a:srgbClr val="333333"/>
                </a:solidFill>
                <a:latin typeface="Calibri"/>
              </a:rPr>
              <a:t>•  Oportunidade (verde): dizer o motivo - “este pedido já tem 1 combo grátis”</a:t>
            </a:r>
          </a:p>
          <a:p>
            <a:pPr>
              <a:spcAft>
                <a:spcPts val="1600"/>
              </a:spcAft>
            </a:pPr>
            <a:r>
              <a:rPr sz="1700" b="0" i="0">
                <a:solidFill>
                  <a:srgbClr val="333333"/>
                </a:solidFill>
                <a:latin typeface="Calibri"/>
              </a:rPr>
              <a:t>•  Cada oportunidade pode virar requisito e aparecer numa tela</a:t>
            </a:r>
          </a:p>
        </p:txBody>
      </p:sp>
      <p:pic>
        <p:nvPicPr>
          <p:cNvPr id="13" name="Picture 11" descr="jorna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5237" y="5250000"/>
            <a:ext cx="8689525" cy="4200000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Revisão: fluxo de telas - POR ONDE passa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900000"/>
            <a:ext cx="16400000" cy="1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700" b="0" i="0">
                <a:solidFill>
                  <a:srgbClr val="333333"/>
                </a:solidFill>
                <a:latin typeface="Calibri"/>
              </a:rPr>
              <a:t>•  Cada caixa é uma TELA; cada seta é uma AÇÃO da pessoa (“toca em Resgatar combo”)</a:t>
            </a:r>
          </a:p>
          <a:p>
            <a:pPr>
              <a:spcAft>
                <a:spcPts val="1600"/>
              </a:spcAft>
            </a:pPr>
            <a:r>
              <a:rPr sz="1700" b="0" i="0">
                <a:solidFill>
                  <a:srgbClr val="333333"/>
                </a:solidFill>
                <a:latin typeface="Calibri"/>
              </a:rPr>
              <a:t>•  As decisões vêm do diagrama de atividades (Aula 7): [sim] e [não] levam a telas diferentes</a:t>
            </a:r>
          </a:p>
          <a:p>
            <a:pPr>
              <a:spcAft>
                <a:spcPts val="1600"/>
              </a:spcAft>
            </a:pPr>
            <a:r>
              <a:rPr sz="1700" b="0" i="0">
                <a:solidFill>
                  <a:srgbClr val="333333"/>
                </a:solidFill>
                <a:latin typeface="Calibri"/>
              </a:rPr>
              <a:t>•  O caminho de erro também é desenhado: “Não foi possível resgatar”, com o motivo</a:t>
            </a:r>
          </a:p>
          <a:p>
            <a:pPr>
              <a:spcAft>
                <a:spcPts val="1600"/>
              </a:spcAft>
            </a:pPr>
            <a:r>
              <a:rPr sz="1700" b="0" i="0">
                <a:solidFill>
                  <a:srgbClr val="333333"/>
                </a:solidFill>
                <a:latin typeface="Calibri"/>
              </a:rPr>
              <a:t>•  O fluxo diz QUAIS wireframes desenhar - o Carrinho é uma dessas telas</a:t>
            </a:r>
          </a:p>
        </p:txBody>
      </p:sp>
      <p:pic>
        <p:nvPicPr>
          <p:cNvPr id="13" name="Picture 11" descr="flux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8634" y="5250000"/>
            <a:ext cx="10702732" cy="4200000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Revisão: wireframe - COMO é a tela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900000"/>
            <a:ext cx="9000000" cy="6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Baixa fidelidade: estrutura e hierarquia, sem cor nem estilo final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Cabeçalho, conteúdo (os itens), status (o total) e UMA ação principal em destaque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Itens com o mesmo formato: consistência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Notas amarelas citam o princípio ou a heurística - e também o que falta (remover item)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Um wireframe por tela do fluxo</a:t>
            </a:r>
          </a:p>
        </p:txBody>
      </p:sp>
      <p:pic>
        <p:nvPicPr>
          <p:cNvPr id="13" name="Picture 11" descr="anotad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0000" y="2950000"/>
            <a:ext cx="7500000" cy="5506193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Revisão: como tudo se liga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900000"/>
            <a:ext cx="16400000" cy="1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700" b="0" i="0">
                <a:solidFill>
                  <a:srgbClr val="333333"/>
                </a:solidFill>
                <a:latin typeface="Calibri"/>
              </a:rPr>
              <a:t>•  Persona → jornada → fluxo de telas → wireframe: quem, o que vive, por onde passa, como é a tela</a:t>
            </a:r>
          </a:p>
          <a:p>
            <a:pPr>
              <a:spcAft>
                <a:spcPts val="1600"/>
              </a:spcAft>
            </a:pPr>
            <a:r>
              <a:rPr sz="1700" b="0" i="0">
                <a:solidFill>
                  <a:srgbClr val="333333"/>
                </a:solidFill>
                <a:latin typeface="Calibri"/>
              </a:rPr>
              <a:t>•  Ator do caso de uso (Aula 4) → persona  ·  caso de uso → fluxo de telas</a:t>
            </a:r>
          </a:p>
          <a:p>
            <a:pPr>
              <a:spcAft>
                <a:spcPts val="1600"/>
              </a:spcAft>
            </a:pPr>
            <a:r>
              <a:rPr sz="1700" b="0" i="0">
                <a:solidFill>
                  <a:srgbClr val="333333"/>
                </a:solidFill>
                <a:latin typeface="Calibri"/>
              </a:rPr>
              <a:t>•  Decisão da atividade (Aula 7) → tela de sucesso ou de erro no fluxo</a:t>
            </a:r>
          </a:p>
          <a:p>
            <a:pPr>
              <a:spcAft>
                <a:spcPts val="1600"/>
              </a:spcAft>
            </a:pPr>
            <a:r>
              <a:rPr sz="1700" b="0" i="0">
                <a:solidFill>
                  <a:srgbClr val="333333"/>
                </a:solidFill>
                <a:latin typeface="Calibri"/>
              </a:rPr>
              <a:t>•  Atributo da classe (Aula 5) → dado na tela (pontosFidelidade → “104 pontos”)</a:t>
            </a:r>
          </a:p>
          <a:p>
            <a:pPr>
              <a:spcAft>
                <a:spcPts val="1600"/>
              </a:spcAft>
            </a:pPr>
            <a:r>
              <a:rPr sz="1700" b="0" i="0">
                <a:solidFill>
                  <a:srgbClr val="333333"/>
                </a:solidFill>
                <a:latin typeface="Calibri"/>
              </a:rPr>
              <a:t>•  As heurísticas e a acessibilidade são o checklist para conferir cada wireframe</a:t>
            </a:r>
          </a:p>
        </p:txBody>
      </p:sp>
      <p:pic>
        <p:nvPicPr>
          <p:cNvPr id="13" name="Picture 11" descr="revu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2066" y="5250000"/>
            <a:ext cx="11295867" cy="42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FC40EC0FA74E64E8146614CB730A4D9" ma:contentTypeVersion="18" ma:contentTypeDescription="Crie um novo documento." ma:contentTypeScope="" ma:versionID="64e3dda2b1a63d799175312bc15f4ace">
  <xsd:schema xmlns:xsd="http://www.w3.org/2001/XMLSchema" xmlns:xs="http://www.w3.org/2001/XMLSchema" xmlns:p="http://schemas.microsoft.com/office/2006/metadata/properties" xmlns:ns2="f61705dd-dd2d-4ab9-9bbf-49e0d21b9022" xmlns:ns3="0798beb3-9d6a-467b-b776-ccfc93473710" targetNamespace="http://schemas.microsoft.com/office/2006/metadata/properties" ma:root="true" ma:fieldsID="483aaa94bd3aaf7c48ed0e08118cf103" ns2:_="" ns3:_="">
    <xsd:import namespace="f61705dd-dd2d-4ab9-9bbf-49e0d21b9022"/>
    <xsd:import namespace="0798beb3-9d6a-467b-b776-ccfc9347371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1705dd-dd2d-4ab9-9bbf-49e0d21b90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Marcações de imagem" ma:readOnly="false" ma:fieldId="{5cf76f15-5ced-4ddc-b409-7134ff3c332f}" ma:taxonomyMulti="true" ma:sspId="11000289-e8e0-4655-aaa4-6ce2e2879b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98beb3-9d6a-467b-b776-ccfc9347371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60c32b9-b3cd-4e58-8615-6ab9f3400046}" ma:internalName="TaxCatchAll" ma:showField="CatchAllData" ma:web="0798beb3-9d6a-467b-b776-ccfc9347371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8197250-31A0-4980-994A-4E66396C857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3136358-B574-409C-9149-8485FB1C6F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1705dd-dd2d-4ab9-9bbf-49e0d21b9022"/>
    <ds:schemaRef ds:uri="0798beb3-9d6a-467b-b776-ccfc934737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10920</TotalTime>
  <Words>755</Words>
  <Application>Microsoft Office PowerPoint</Application>
  <PresentationFormat>Personalizar</PresentationFormat>
  <Paragraphs>94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20</vt:i4>
      </vt:variant>
    </vt:vector>
  </HeadingPairs>
  <TitlesOfParts>
    <vt:vector size="25" baseType="lpstr">
      <vt:lpstr>Unbounded 1 Ultra-Bold</vt:lpstr>
      <vt:lpstr>Calibri</vt:lpstr>
      <vt:lpstr>Arial</vt:lpstr>
      <vt:lpstr>Office Theme</vt:lpstr>
      <vt:lpstr>1_Office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APRESENTAÇÃO SENAI</dc:title>
  <dc:creator>Alisson de Oliveira da Guia</dc:creator>
  <cp:lastModifiedBy>Natanael Santos De Jesus</cp:lastModifiedBy>
  <cp:revision>14</cp:revision>
  <dcterms:created xsi:type="dcterms:W3CDTF">2006-08-16T00:00:00Z</dcterms:created>
  <dcterms:modified xsi:type="dcterms:W3CDTF">2026-08-30T15:39:53Z</dcterms:modified>
  <dc:identifier>DAGGnDa8uXQ</dc:identifier>
</cp:coreProperties>
</file>