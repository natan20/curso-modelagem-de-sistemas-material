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iag01_seq_anatomia.svg" ContentType="image/svg+xml"/>
  <Override PartName="/ppt/media/diag02_seq_login_simples.svg" ContentType="image/svg+xml"/>
  <Override PartName="/ppt/media/diag03_seq_alt_login.svg" ContentType="image/svg+xml"/>
  <Override PartName="/ppt/media/diag04_seq_opt_pix.svg" ContentType="image/svg+xml"/>
  <Override PartName="/ppt/media/diag05_seq_loop_itens.svg" ContentType="image/svg+xml"/>
  <Override PartName="/ppt/media/diag06_biblioteca_emprestimo_sequencia.svg" ContentType="image/svg+xml"/>
  <Override PartName="/ppt/media/diag07_techburger_fidelidade_sequencia.svg" ContentType="image/svg+xml"/>
  <Override PartName="/ppt/media/diag08_techburger_pedido_sequencia_parte1.svg" ContentType="image/svg+xml"/>
  <Override PartName="/ppt/media/diag09_techburger_pedido_sequencia_parte2.svg" ContentType="image/svg+xml"/>
  <Override PartName="/ppt/media/diag11_encontre_erro_sequencia.svg" ContentType="image/svg+xml"/>
  <Override PartName="/ppt/media/diag12_encontre_erro_sequencia_marcado.svg" ContentType="image/svg+xml"/>
  <Override PartName="/ppt/media/diag13_cinevila_atividades.svg" ContentType="image/svg+xml"/>
  <Override PartName="/ppt/media/diag14_cinevila_sequencia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805" r:id="rId127"/>
    <p:sldId id="806" r:id="rId128"/>
    <p:sldId id="807" r:id="rId129"/>
    <p:sldId id="808" r:id="rId130"/>
    <p:sldId id="809" r:id="rId131"/>
    <p:sldId id="810" r:id="rId132"/>
    <p:sldId id="811" r:id="rId133"/>
    <p:sldId id="812" r:id="rId134"/>
    <p:sldId id="813" r:id="rId135"/>
    <p:sldId id="814" r:id="rId136"/>
    <p:sldId id="815" r:id="rId137"/>
    <p:sldId id="816" r:id="rId138"/>
    <p:sldId id="817" r:id="rId139"/>
    <p:sldId id="818" r:id="rId140"/>
    <p:sldId id="819" r:id="rId141"/>
    <p:sldId id="820" r:id="rId142"/>
    <p:sldId id="926" r:id="rId100"/>
    <p:sldId id="927" r:id="rId85"/>
    <p:sldId id="821" r:id="rId143"/>
    <p:sldId id="822" r:id="rId144"/>
    <p:sldId id="823" r:id="rId145"/>
    <p:sldId id="824" r:id="rId146"/>
    <p:sldId id="825" r:id="rId147"/>
    <p:sldId id="826" r:id="rId148"/>
    <p:sldId id="827" r:id="rId149"/>
    <p:sldId id="828" r:id="rId150"/>
    <p:sldId id="829" r:id="rId151"/>
    <p:sldId id="830" r:id="rId152"/>
    <p:sldId id="831" r:id="rId153"/>
    <p:sldId id="832" r:id="rId154"/>
    <p:sldId id="833" r:id="rId155"/>
    <p:sldId id="834" r:id="rId156"/>
    <p:sldId id="835" r:id="rId157"/>
    <p:sldId id="836" r:id="rId158"/>
    <p:sldId id="837" r:id="rId159"/>
    <p:sldId id="838" r:id="rId160"/>
    <p:sldId id="839" r:id="rId161"/>
    <p:sldId id="840" r:id="rId162"/>
    <p:sldId id="841" r:id="rId163"/>
    <p:sldId id="842" r:id="rId164"/>
    <p:sldId id="843" r:id="rId165"/>
    <p:sldId id="844" r:id="rId166"/>
    <p:sldId id="845" r:id="rId167"/>
    <p:sldId id="846" r:id="rId168"/>
    <p:sldId id="847" r:id="rId169"/>
    <p:sldId id="848" r:id="rId170"/>
    <p:sldId id="849" r:id="rId171"/>
    <p:sldId id="850" r:id="rId126"/>
    <p:sldId id="851" r:id="rId125"/>
    <p:sldId id="852" r:id="rId115"/>
    <p:sldId id="853" r:id="rId114"/>
    <p:sldId id="854" r:id="rId176"/>
    <p:sldId id="855" r:id="rId177"/>
    <p:sldId id="856" r:id="rId113"/>
    <p:sldId id="857" r:id="rId112"/>
    <p:sldId id="860" r:id="rId182"/>
    <p:sldId id="914" r:id="rId119"/>
    <p:sldId id="915" r:id="rId120"/>
    <p:sldId id="916" r:id="rId121"/>
    <p:sldId id="917" r:id="rId122"/>
    <p:sldId id="918" r:id="rId123"/>
    <p:sldId id="919" r:id="rId124"/>
    <p:sldId id="920" r:id="rId118"/>
    <p:sldId id="921" r:id="rId117"/>
    <p:sldId id="922" r:id="rId116"/>
    <p:sldId id="928" r:id="rId111"/>
    <p:sldId id="929" r:id="rId110"/>
    <p:sldId id="930" r:id="rId102"/>
    <p:sldId id="931" r:id="rId90"/>
    <p:sldId id="932" r:id="rId89"/>
    <p:sldId id="933" r:id="rId88"/>
    <p:sldId id="934" r:id="rId87"/>
    <p:sldId id="935" r:id="rId86"/>
    <p:sldId id="936" r:id="rId84"/>
    <p:sldId id="862" r:id="rId184"/>
    <p:sldId id="937" r:id="rId83"/>
    <p:sldId id="863" r:id="rId109"/>
    <p:sldId id="864" r:id="rId108"/>
    <p:sldId id="865" r:id="rId107"/>
    <p:sldId id="923" r:id="rId103"/>
    <p:sldId id="866" r:id="rId106"/>
    <p:sldId id="867" r:id="rId105"/>
    <p:sldId id="868" r:id="rId104"/>
    <p:sldId id="870" r:id="rId98"/>
    <p:sldId id="869" r:id="rId99"/>
    <p:sldId id="871" r:id="rId97"/>
    <p:sldId id="872" r:id="rId96"/>
    <p:sldId id="873" r:id="rId95"/>
    <p:sldId id="874" r:id="rId94"/>
    <p:sldId id="875" r:id="rId93"/>
    <p:sldId id="876" r:id="rId92"/>
    <p:sldId id="877" r:id="rId91"/>
    <p:sldId id="885" r:id="rId80"/>
    <p:sldId id="886" r:id="rId79"/>
    <p:sldId id="887" r:id="rId78"/>
    <p:sldId id="888" r:id="rId77"/>
    <p:sldId id="889" r:id="rId76"/>
    <p:sldId id="890" r:id="rId75"/>
    <p:sldId id="891" r:id="rId74"/>
    <p:sldId id="892" r:id="rId73"/>
    <p:sldId id="893" r:id="rId72"/>
    <p:sldId id="894" r:id="rId71"/>
    <p:sldId id="895" r:id="rId70"/>
    <p:sldId id="925" r:id="rId101"/>
    <p:sldId id="896" r:id="rId69"/>
    <p:sldId id="897" r:id="rId68"/>
    <p:sldId id="898" r:id="rId67"/>
    <p:sldId id="899" r:id="rId66"/>
    <p:sldId id="900" r:id="rId65"/>
    <p:sldId id="901" r:id="rId64"/>
    <p:sldId id="902" r:id="rId63"/>
    <p:sldId id="903" r:id="rId62"/>
    <p:sldId id="904" r:id="rId61"/>
    <p:sldId id="905" r:id="rId60"/>
    <p:sldId id="906" r:id="rId59"/>
    <p:sldId id="907" r:id="rId58"/>
    <p:sldId id="908" r:id="rId57"/>
    <p:sldId id="909" r:id="rId56"/>
    <p:sldId id="910" r:id="rId55"/>
    <p:sldId id="911" r:id="rId233"/>
    <p:sldId id="912" r:id="rId234"/>
    <p:sldId id="913" r:id="rId235"/>
  </p:sldIdLst>
  <p:sldSz cx="18288000" cy="10287000"/>
  <p:notesSz cx="6858000" cy="9144000"/>
  <p:embeddedFontLst>
    <p:embeddedFont>
      <p:font typeface="Unbounded 1 Ultra-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>
        <p:scale>
          <a:sx n="60" d="100"/>
          <a:sy n="60" d="100"/>
        </p:scale>
        <p:origin x="398" y="-19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25" Type="http://schemas.openxmlformats.org/officeDocument/2006/relationships/font" Target="fonts/font1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55" Type="http://schemas.openxmlformats.org/officeDocument/2006/relationships/slide" Target="slides/slide119.xml"/><Relationship Id="rId56" Type="http://schemas.openxmlformats.org/officeDocument/2006/relationships/slide" Target="slides/slide118.xml"/><Relationship Id="rId57" Type="http://schemas.openxmlformats.org/officeDocument/2006/relationships/slide" Target="slides/slide117.xml"/><Relationship Id="rId58" Type="http://schemas.openxmlformats.org/officeDocument/2006/relationships/slide" Target="slides/slide116.xml"/><Relationship Id="rId59" Type="http://schemas.openxmlformats.org/officeDocument/2006/relationships/slide" Target="slides/slide115.xml"/><Relationship Id="rId60" Type="http://schemas.openxmlformats.org/officeDocument/2006/relationships/slide" Target="slides/slide114.xml"/><Relationship Id="rId61" Type="http://schemas.openxmlformats.org/officeDocument/2006/relationships/slide" Target="slides/slide113.xml"/><Relationship Id="rId62" Type="http://schemas.openxmlformats.org/officeDocument/2006/relationships/slide" Target="slides/slide112.xml"/><Relationship Id="rId63" Type="http://schemas.openxmlformats.org/officeDocument/2006/relationships/slide" Target="slides/slide111.xml"/><Relationship Id="rId64" Type="http://schemas.openxmlformats.org/officeDocument/2006/relationships/slide" Target="slides/slide110.xml"/><Relationship Id="rId65" Type="http://schemas.openxmlformats.org/officeDocument/2006/relationships/slide" Target="slides/slide109.xml"/><Relationship Id="rId66" Type="http://schemas.openxmlformats.org/officeDocument/2006/relationships/slide" Target="slides/slide108.xml"/><Relationship Id="rId67" Type="http://schemas.openxmlformats.org/officeDocument/2006/relationships/slide" Target="slides/slide107.xml"/><Relationship Id="rId68" Type="http://schemas.openxmlformats.org/officeDocument/2006/relationships/slide" Target="slides/slide106.xml"/><Relationship Id="rId69" Type="http://schemas.openxmlformats.org/officeDocument/2006/relationships/slide" Target="slides/slide105.xml"/><Relationship Id="rId70" Type="http://schemas.openxmlformats.org/officeDocument/2006/relationships/slide" Target="slides/slide103.xml"/><Relationship Id="rId71" Type="http://schemas.openxmlformats.org/officeDocument/2006/relationships/slide" Target="slides/slide102.xml"/><Relationship Id="rId72" Type="http://schemas.openxmlformats.org/officeDocument/2006/relationships/slide" Target="slides/slide101.xml"/><Relationship Id="rId73" Type="http://schemas.openxmlformats.org/officeDocument/2006/relationships/slide" Target="slides/slide100.xml"/><Relationship Id="rId74" Type="http://schemas.openxmlformats.org/officeDocument/2006/relationships/slide" Target="slides/slide99.xml"/><Relationship Id="rId75" Type="http://schemas.openxmlformats.org/officeDocument/2006/relationships/slide" Target="slides/slide98.xml"/><Relationship Id="rId76" Type="http://schemas.openxmlformats.org/officeDocument/2006/relationships/slide" Target="slides/slide97.xml"/><Relationship Id="rId77" Type="http://schemas.openxmlformats.org/officeDocument/2006/relationships/slide" Target="slides/slide96.xml"/><Relationship Id="rId78" Type="http://schemas.openxmlformats.org/officeDocument/2006/relationships/slide" Target="slides/slide95.xml"/><Relationship Id="rId79" Type="http://schemas.openxmlformats.org/officeDocument/2006/relationships/slide" Target="slides/slide94.xml"/><Relationship Id="rId80" Type="http://schemas.openxmlformats.org/officeDocument/2006/relationships/slide" Target="slides/slide93.xml"/><Relationship Id="rId83" Type="http://schemas.openxmlformats.org/officeDocument/2006/relationships/slide" Target="slides/slide76.xml"/><Relationship Id="rId84" Type="http://schemas.openxmlformats.org/officeDocument/2006/relationships/slide" Target="slides/slide74.xml"/><Relationship Id="rId85" Type="http://schemas.openxmlformats.org/officeDocument/2006/relationships/slide" Target="slides/slide18.xml"/><Relationship Id="rId86" Type="http://schemas.openxmlformats.org/officeDocument/2006/relationships/slide" Target="slides/slide73.xml"/><Relationship Id="rId87" Type="http://schemas.openxmlformats.org/officeDocument/2006/relationships/slide" Target="slides/slide72.xml"/><Relationship Id="rId88" Type="http://schemas.openxmlformats.org/officeDocument/2006/relationships/slide" Target="slides/slide71.xml"/><Relationship Id="rId89" Type="http://schemas.openxmlformats.org/officeDocument/2006/relationships/slide" Target="slides/slide70.xml"/><Relationship Id="rId90" Type="http://schemas.openxmlformats.org/officeDocument/2006/relationships/slide" Target="slides/slide69.xml"/><Relationship Id="rId91" Type="http://schemas.openxmlformats.org/officeDocument/2006/relationships/slide" Target="slides/slide92.xml"/><Relationship Id="rId92" Type="http://schemas.openxmlformats.org/officeDocument/2006/relationships/slide" Target="slides/slide91.xml"/><Relationship Id="rId93" Type="http://schemas.openxmlformats.org/officeDocument/2006/relationships/slide" Target="slides/slide90.xml"/><Relationship Id="rId94" Type="http://schemas.openxmlformats.org/officeDocument/2006/relationships/slide" Target="slides/slide89.xml"/><Relationship Id="rId95" Type="http://schemas.openxmlformats.org/officeDocument/2006/relationships/slide" Target="slides/slide88.xml"/><Relationship Id="rId96" Type="http://schemas.openxmlformats.org/officeDocument/2006/relationships/slide" Target="slides/slide87.xml"/><Relationship Id="rId97" Type="http://schemas.openxmlformats.org/officeDocument/2006/relationships/slide" Target="slides/slide86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17.xml"/><Relationship Id="rId101" Type="http://schemas.openxmlformats.org/officeDocument/2006/relationships/slide" Target="slides/slide104.xml"/><Relationship Id="rId102" Type="http://schemas.openxmlformats.org/officeDocument/2006/relationships/slide" Target="slides/slide68.xml"/><Relationship Id="rId103" Type="http://schemas.openxmlformats.org/officeDocument/2006/relationships/slide" Target="slides/slide80.xml"/><Relationship Id="rId104" Type="http://schemas.openxmlformats.org/officeDocument/2006/relationships/slide" Target="slides/slide83.xml"/><Relationship Id="rId105" Type="http://schemas.openxmlformats.org/officeDocument/2006/relationships/slide" Target="slides/slide82.xml"/><Relationship Id="rId106" Type="http://schemas.openxmlformats.org/officeDocument/2006/relationships/slide" Target="slides/slide81.xml"/><Relationship Id="rId107" Type="http://schemas.openxmlformats.org/officeDocument/2006/relationships/slide" Target="slides/slide79.xml"/><Relationship Id="rId108" Type="http://schemas.openxmlformats.org/officeDocument/2006/relationships/slide" Target="slides/slide78.xml"/><Relationship Id="rId109" Type="http://schemas.openxmlformats.org/officeDocument/2006/relationships/slide" Target="slides/slide77.xml"/><Relationship Id="rId110" Type="http://schemas.openxmlformats.org/officeDocument/2006/relationships/slide" Target="slides/slide67.xml"/><Relationship Id="rId111" Type="http://schemas.openxmlformats.org/officeDocument/2006/relationships/slide" Target="slides/slide66.xml"/><Relationship Id="rId112" Type="http://schemas.openxmlformats.org/officeDocument/2006/relationships/slide" Target="slides/slide55.xml"/><Relationship Id="rId113" Type="http://schemas.openxmlformats.org/officeDocument/2006/relationships/slide" Target="slides/slide54.xml"/><Relationship Id="rId114" Type="http://schemas.openxmlformats.org/officeDocument/2006/relationships/slide" Target="slides/slide51.xml"/><Relationship Id="rId115" Type="http://schemas.openxmlformats.org/officeDocument/2006/relationships/slide" Target="slides/slide50.xml"/><Relationship Id="rId116" Type="http://schemas.openxmlformats.org/officeDocument/2006/relationships/slide" Target="slides/slide65.xml"/><Relationship Id="rId117" Type="http://schemas.openxmlformats.org/officeDocument/2006/relationships/slide" Target="slides/slide64.xml"/><Relationship Id="rId118" Type="http://schemas.openxmlformats.org/officeDocument/2006/relationships/slide" Target="slides/slide63.xml"/><Relationship Id="rId119" Type="http://schemas.openxmlformats.org/officeDocument/2006/relationships/slide" Target="slides/slide57.xml"/><Relationship Id="rId120" Type="http://schemas.openxmlformats.org/officeDocument/2006/relationships/slide" Target="slides/slide58.xml"/><Relationship Id="rId121" Type="http://schemas.openxmlformats.org/officeDocument/2006/relationships/slide" Target="slides/slide59.xml"/><Relationship Id="rId122" Type="http://schemas.openxmlformats.org/officeDocument/2006/relationships/slide" Target="slides/slide60.xml"/><Relationship Id="rId123" Type="http://schemas.openxmlformats.org/officeDocument/2006/relationships/slide" Target="slides/slide61.xml"/><Relationship Id="rId124" Type="http://schemas.openxmlformats.org/officeDocument/2006/relationships/slide" Target="slides/slide62.xml"/><Relationship Id="rId125" Type="http://schemas.openxmlformats.org/officeDocument/2006/relationships/slide" Target="slides/slide49.xml"/><Relationship Id="rId126" Type="http://schemas.openxmlformats.org/officeDocument/2006/relationships/slide" Target="slides/slide48.xml"/><Relationship Id="rId127" Type="http://schemas.openxmlformats.org/officeDocument/2006/relationships/slide" Target="slides/slide1.xml"/><Relationship Id="rId128" Type="http://schemas.openxmlformats.org/officeDocument/2006/relationships/slide" Target="slides/slide2.xml"/><Relationship Id="rId129" Type="http://schemas.openxmlformats.org/officeDocument/2006/relationships/slide" Target="slides/slide3.xml"/><Relationship Id="rId130" Type="http://schemas.openxmlformats.org/officeDocument/2006/relationships/slide" Target="slides/slide4.xml"/><Relationship Id="rId131" Type="http://schemas.openxmlformats.org/officeDocument/2006/relationships/slide" Target="slides/slide5.xml"/><Relationship Id="rId132" Type="http://schemas.openxmlformats.org/officeDocument/2006/relationships/slide" Target="slides/slide6.xml"/><Relationship Id="rId133" Type="http://schemas.openxmlformats.org/officeDocument/2006/relationships/slide" Target="slides/slide7.xml"/><Relationship Id="rId134" Type="http://schemas.openxmlformats.org/officeDocument/2006/relationships/slide" Target="slides/slide8.xml"/><Relationship Id="rId135" Type="http://schemas.openxmlformats.org/officeDocument/2006/relationships/slide" Target="slides/slide9.xml"/><Relationship Id="rId136" Type="http://schemas.openxmlformats.org/officeDocument/2006/relationships/slide" Target="slides/slide10.xml"/><Relationship Id="rId137" Type="http://schemas.openxmlformats.org/officeDocument/2006/relationships/slide" Target="slides/slide11.xml"/><Relationship Id="rId138" Type="http://schemas.openxmlformats.org/officeDocument/2006/relationships/slide" Target="slides/slide12.xml"/><Relationship Id="rId139" Type="http://schemas.openxmlformats.org/officeDocument/2006/relationships/slide" Target="slides/slide13.xml"/><Relationship Id="rId140" Type="http://schemas.openxmlformats.org/officeDocument/2006/relationships/slide" Target="slides/slide14.xml"/><Relationship Id="rId141" Type="http://schemas.openxmlformats.org/officeDocument/2006/relationships/slide" Target="slides/slide15.xml"/><Relationship Id="rId142" Type="http://schemas.openxmlformats.org/officeDocument/2006/relationships/slide" Target="slides/slide16.xml"/><Relationship Id="rId143" Type="http://schemas.openxmlformats.org/officeDocument/2006/relationships/slide" Target="slides/slide19.xml"/><Relationship Id="rId144" Type="http://schemas.openxmlformats.org/officeDocument/2006/relationships/slide" Target="slides/slide20.xml"/><Relationship Id="rId145" Type="http://schemas.openxmlformats.org/officeDocument/2006/relationships/slide" Target="slides/slide21.xml"/><Relationship Id="rId146" Type="http://schemas.openxmlformats.org/officeDocument/2006/relationships/slide" Target="slides/slide22.xml"/><Relationship Id="rId147" Type="http://schemas.openxmlformats.org/officeDocument/2006/relationships/slide" Target="slides/slide23.xml"/><Relationship Id="rId148" Type="http://schemas.openxmlformats.org/officeDocument/2006/relationships/slide" Target="slides/slide24.xml"/><Relationship Id="rId149" Type="http://schemas.openxmlformats.org/officeDocument/2006/relationships/slide" Target="slides/slide25.xml"/><Relationship Id="rId150" Type="http://schemas.openxmlformats.org/officeDocument/2006/relationships/slide" Target="slides/slide26.xml"/><Relationship Id="rId151" Type="http://schemas.openxmlformats.org/officeDocument/2006/relationships/slide" Target="slides/slide27.xml"/><Relationship Id="rId152" Type="http://schemas.openxmlformats.org/officeDocument/2006/relationships/slide" Target="slides/slide28.xml"/><Relationship Id="rId153" Type="http://schemas.openxmlformats.org/officeDocument/2006/relationships/slide" Target="slides/slide29.xml"/><Relationship Id="rId154" Type="http://schemas.openxmlformats.org/officeDocument/2006/relationships/slide" Target="slides/slide30.xml"/><Relationship Id="rId155" Type="http://schemas.openxmlformats.org/officeDocument/2006/relationships/slide" Target="slides/slide31.xml"/><Relationship Id="rId156" Type="http://schemas.openxmlformats.org/officeDocument/2006/relationships/slide" Target="slides/slide32.xml"/><Relationship Id="rId157" Type="http://schemas.openxmlformats.org/officeDocument/2006/relationships/slide" Target="slides/slide33.xml"/><Relationship Id="rId158" Type="http://schemas.openxmlformats.org/officeDocument/2006/relationships/slide" Target="slides/slide34.xml"/><Relationship Id="rId159" Type="http://schemas.openxmlformats.org/officeDocument/2006/relationships/slide" Target="slides/slide35.xml"/><Relationship Id="rId160" Type="http://schemas.openxmlformats.org/officeDocument/2006/relationships/slide" Target="slides/slide36.xml"/><Relationship Id="rId161" Type="http://schemas.openxmlformats.org/officeDocument/2006/relationships/slide" Target="slides/slide37.xml"/><Relationship Id="rId162" Type="http://schemas.openxmlformats.org/officeDocument/2006/relationships/slide" Target="slides/slide38.xml"/><Relationship Id="rId163" Type="http://schemas.openxmlformats.org/officeDocument/2006/relationships/slide" Target="slides/slide39.xml"/><Relationship Id="rId164" Type="http://schemas.openxmlformats.org/officeDocument/2006/relationships/slide" Target="slides/slide40.xml"/><Relationship Id="rId165" Type="http://schemas.openxmlformats.org/officeDocument/2006/relationships/slide" Target="slides/slide41.xml"/><Relationship Id="rId166" Type="http://schemas.openxmlformats.org/officeDocument/2006/relationships/slide" Target="slides/slide42.xml"/><Relationship Id="rId167" Type="http://schemas.openxmlformats.org/officeDocument/2006/relationships/slide" Target="slides/slide43.xml"/><Relationship Id="rId168" Type="http://schemas.openxmlformats.org/officeDocument/2006/relationships/slide" Target="slides/slide44.xml"/><Relationship Id="rId169" Type="http://schemas.openxmlformats.org/officeDocument/2006/relationships/slide" Target="slides/slide45.xml"/><Relationship Id="rId170" Type="http://schemas.openxmlformats.org/officeDocument/2006/relationships/slide" Target="slides/slide46.xml"/><Relationship Id="rId171" Type="http://schemas.openxmlformats.org/officeDocument/2006/relationships/slide" Target="slides/slide47.xml"/><Relationship Id="rId176" Type="http://schemas.openxmlformats.org/officeDocument/2006/relationships/slide" Target="slides/slide52.xml"/><Relationship Id="rId177" Type="http://schemas.openxmlformats.org/officeDocument/2006/relationships/slide" Target="slides/slide53.xml"/><Relationship Id="rId182" Type="http://schemas.openxmlformats.org/officeDocument/2006/relationships/slide" Target="slides/slide56.xml"/><Relationship Id="rId184" Type="http://schemas.openxmlformats.org/officeDocument/2006/relationships/slide" Target="slides/slide75.xml"/><Relationship Id="rId233" Type="http://schemas.openxmlformats.org/officeDocument/2006/relationships/slide" Target="slides/slide120.xml"/><Relationship Id="rId234" Type="http://schemas.openxmlformats.org/officeDocument/2006/relationships/slide" Target="slides/slide121.xml"/><Relationship Id="rId235" Type="http://schemas.openxmlformats.org/officeDocument/2006/relationships/slide" Target="slides/slide1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image" Target="../media/diag01_seq_anatomia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4.png"/><Relationship Id="rId6" Type="http://schemas.openxmlformats.org/officeDocument/2006/relationships/image" Target="../media/diag02_seq_login_simples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5.png"/><Relationship Id="rId6" Type="http://schemas.openxmlformats.org/officeDocument/2006/relationships/image" Target="../media/diag03_seq_alt_login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diag04_seq_opt_pix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7.png"/><Relationship Id="rId6" Type="http://schemas.openxmlformats.org/officeDocument/2006/relationships/image" Target="../media/diag05_seq_loop_itens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8.png"/><Relationship Id="rId6" Type="http://schemas.openxmlformats.org/officeDocument/2006/relationships/image" Target="../media/diag06_biblioteca_emprestimo_sequencia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7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8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39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9.png"/><Relationship Id="rId6" Type="http://schemas.openxmlformats.org/officeDocument/2006/relationships/image" Target="../media/diag07_techburger_fidelidade_sequencia.sv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0.png"/><Relationship Id="rId6" Type="http://schemas.openxmlformats.org/officeDocument/2006/relationships/image" Target="../media/diag08_techburger_pedido_sequencia_parte1.sv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1.png"/><Relationship Id="rId6" Type="http://schemas.openxmlformats.org/officeDocument/2006/relationships/image" Target="../media/diag09_techburger_pedido_sequencia_parte2.sv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3.png"/><Relationship Id="rId6" Type="http://schemas.openxmlformats.org/officeDocument/2006/relationships/image" Target="../media/diag11_encontre_erro_sequencia.sv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4.png"/><Relationship Id="rId6" Type="http://schemas.openxmlformats.org/officeDocument/2006/relationships/image" Target="../media/diag12_encontre_erro_sequencia_marcado.sv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5.png"/><Relationship Id="rId6" Type="http://schemas.openxmlformats.org/officeDocument/2006/relationships/image" Target="../media/diag13_cinevila_atividades.sv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6.png"/><Relationship Id="rId6" Type="http://schemas.openxmlformats.org/officeDocument/2006/relationships/image" Target="../media/diag14_cinevila_sequencia.sv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8</a:t>
            </a:r>
          </a:p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UML — Diagrama de Sequência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09/10/2026  ·  07:30–11:30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07:30 - 07:50  Abertura, revisão da Aula 7 (diagrama de atividades) e quiz relâmpago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07:50 - 08:35  Novo assunto: Diagrama de Sequência - conceito e elementos (participantes, linha de vida, ativação, mensagens)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08:35 - 08:50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08:50 - 09:20  Fragmentos (alt, opt, loop), a ligação com as Aulas 1 a 7 e o exemplo da Biblioteca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09:20 - 09:40  Atividade guiada: mapa do draw.io e pontos de fidelidade do TechBurger, ao vivo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09:40 - 10:18  Atividade 1 em grupo: pedido pelo app com PIX (TechBurger) + correção coletiva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10:18 - 10:28  Intervalo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10:28 - 10:38  Encontre o erro (em duplas)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10:38 - 11:18  Atividade 2 - revisão final em duplas: Aulas 1 a 8 (CineVila)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11:18 - 11:30  Erros comuns, síntese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REVISÃO RÁPIDA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Retomando a Aula 7: Diagrama de Atividades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Uns 15 minutos para reativar a memória antes de ver o mesmo processo por outro ângulo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na Aula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atividades: o FLUXO de um processo, passo a passo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Ações (verbo + complemento) ligadas por setas, do nó inicial até um nó final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Decisão com guardas completas e exclusivas; junção reúne caminhos alternativos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Bifurcação e união (barras) para passos em paralelo; laço = decisão + seta de volta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Raias mostram QUEM executa cada ação: Cliente, Sistema, Cozinha...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regras de negócio no fluxo - relembrando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Valor mínimo de R$ 15,00 → decisão [valor total ≥ R$ 15,00?]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Item em falta → decisão [em estoque?] + ação “Sugere item substituto”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Entrega só até 5 km → decisão [endereço a até 5 km?]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PIX no app → ação “Aplica 5% de desconto”; mais de 10 itens → confirmação do gerente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vai para a cozinha com pagamento confirmado → decisão antes de “Envia o pedido”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estamos na UML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Diagramas estruturais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Mostram o que o sistema É e GUARDA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Aulas 5 e 6: Diagrama de Classes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Pergunta: “quais dados e como se ligam?”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Diagramas comportamentais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Aula 4: Casos de Uso · Aula 7: Atividades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Aula 8 (hoje): Sequência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Pergunta de hoje: “QUEM conversa com QUEM, e em que ORDEM?”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- revisão da Aula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a diferença entre decisão e bifurcação?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O que é uma condição de guarda? Por que ela precisa ser completa?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Qual a diferença entre nó final da atividade e nó final de fluxo?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Como se representa um laço no diagrama de atividades?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Em que raia vai a ação “Aplica 5% de desconto”?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Qual elemento espera TODOS os caminhos paralelos terminarem?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quiz da Aula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Decisão segue UM caminho (com guardas); bifurcação segue TODOS em paralelo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É a condição entre colchetes na saída da decisão; completa para nenhum caso ficar sem caminho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O final da atividade encerra tudo; o final de fluxo encerra só aquele ramo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Com uma decisão cuja saída volta para uma junção antes dos passos repetidos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Na raia do Sistema: quem EXECUTA o desconto é o sistema, não 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A união (join): a barra que fecha o paralelismo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NOVO ASSUNTO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Sequência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Do fluxo do processo para a conversa entre os objetos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vamos pensar juntos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Aula 7 desenhamos O QUE acontece no pedido. Mas QUEM chama QUEM dentro do sistema?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 o cliente paga com PIX, o app fala direto com o banco? Com o objeto Pagamento? Com os dois?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espera a resposta do pagamento antes de mandar o pedido para a cozinha?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espera a cozinha terminar o hambúrguer antes de responder ao cliente?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Anotem suas respostas: hoje vamos desenhar exatamente essa conversa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 Diagrama de Sequência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COMPORTAMENTAL da UML que mostra a TROCA DE MENSAGENS entre participantes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participantes (objetos e atores) ficam lado a lado no topo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tempo corre de CIMA para BAIXO: a ordem vertical das mensagens é parte do significado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Costuma mostrar UM cenário de um caso de uso (ex.: pedido pago com PIX e aprovado)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diagrama UML mais próximo do código: cada mensagem vira uma chamada de método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Para que 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Detalhar COMO os objetos colaboram para realizar um caso de uso da Aula 4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Descobrir os métodos que cada classe precisa ter (e conferir o diagrama de classes)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Deixar clara a ORDEM das chamadas: validar antes de cobrar, cobrar antes de enviar à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Documentar integrações: o app conversando com o sistema de pagamento, com a cozinha...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Guiar quem programa e quem testa: cada mensagem é uma chamada a implementar e verificar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aparece no mercado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Documentação de APIs e integrações: app ↔ servidor ↔ gateway de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Fluxos de login e autorização (ex.: “Entrar com Google”)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Microsserviços: qual serviço chama qual, em que ordem, e o que acontece se um falhar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Combinação entre times: o front-end e o back-end acertam as chamadas antes de programar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Investigação de bugs: “a resposta chegou antes da chamada terminar?”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Atividades x Sequência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 de Atividades (Aula 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Foco no FLUXO do processo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Raias = quem executa cada ação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Bom para regras e decisões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Lido facilmente por quem é do negócio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 de Sequência (hoje)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Foco na CONVERSA entre objetos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Linhas de vida = participantes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Bom para ordem das chamadas e integrações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Mais próximo do código (mensagens = métodos)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Classes x Sequência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 de Classes (Aulas 5 e 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Estrutura: fotografia do sistema parado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Lista os métodos de cada classe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Pagamento + aplicarDesconto()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 de Sequência (hoje)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Comportamento: o filme do sistema em ação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 os métodos SENDO CHAMADOS, em ordem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:App → :Pagamento: aplicarDesconto()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Anatomia de um diagrama de sequência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5748" y="2900000"/>
            <a:ext cx="12408504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peças do diagrama: o que cada uma pode 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QUEM conversa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Ator (bonequinho): a pessoa de fora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Participante (caixa “:Classe”): um objeto do sistema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Linha de vida (tracejado): o participante ao longo do tempo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Ativação (barrinha): o participante trabalhando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Mais adiante: fragmentos (alt, opt, loop) para o SE e a REPETIÇÃO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COMO conversam (mensagens)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Síncrona (ponta cheia): chama e espera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Retorno (tracejada): a resposta que volta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Assíncrona (ponta aberta): manda e não espera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Auto-mensagem: o objeto chama a si mesmo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Criação e destruição: o objeto nasce e some (X)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Quem pode ser participante?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ATOR: a pessoa (ou papel) de fora que começa a conversa - Cliente, Bibliotecário (vem da Aula 4)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“porta de entrada” do sistema: o app ou tela que atende o ator - :App, :SistemaBiblioteca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OBJETO de uma classe do diagrama de classes (Aulas 5 e 6) - :Pedido, :Carrinho, :Livro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SISTEMA EXTERNO com quem o nosso conversa - :SistemaPagamento (o banco do PIX)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é participante: uma ação (“Pagar”) ou um dado (valorTotal) - eles viram mensagens e retornos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seguir: uma peça de cada vez, sempre com um mini-exemplo ao lado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Participante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Caixa no topo do diagrama: um OBJETO que participa da conversa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Escrito como “:NomeDaClasse” - ex.: :Pedido, :Pagamento (o “:” indica um objeto da classe)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Pode ter nome próprio: “p1:Pedido”; na maioria das vezes basta “:Pedido”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classe precisa existir no diagrama de classes das Aulas 5 e 6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Sistemas externos também podem ser participantes: :SistemaPagamento</a:t>
            </a:r>
          </a:p>
        </p:txBody>
      </p:sp>
      <p:pic>
        <p:nvPicPr>
          <p:cNvPr id="13" name="Elemento 1" descr="m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114831"/>
            <a:ext cx="7200000" cy="60203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Ator x objeto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ator (bonequinho) é quem está FORA do sistema e inicia a conversa: Cliente, Bibliotecário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objeto (caixa) é algo DENTRO do sistema: :App, :Pedido, :Cliente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Cuidado: o ator Cliente é a PESSOA; o objeto :Cliente são os DADOS dela no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atores vêm do diagrama de casos de uso da Aula 4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Normalmente o ator fica na primeira coluna, à esquerda</a:t>
            </a:r>
          </a:p>
        </p:txBody>
      </p:sp>
      <p:pic>
        <p:nvPicPr>
          <p:cNvPr id="13" name="Elemento 1" descr="m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630085"/>
            <a:ext cx="7200000" cy="49898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Linha de vida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Linha tracejada vertical que desce de cada participante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Representa a existência do participante ao longo do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mensagem sai de uma linha de vida e chega em outra (ou na mesma)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o objeto é criado no meio do cenário, a caixa aparece naquela altura, e não no topo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o objeto é destruído, a linha termina num X</a:t>
            </a:r>
          </a:p>
        </p:txBody>
      </p:sp>
      <p:pic>
        <p:nvPicPr>
          <p:cNvPr id="13" name="Elemento 1" descr="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540385"/>
            <a:ext cx="7200000" cy="51692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Retângulo fino sobre a linha de vida: o período em que o participante está TRABALHANDO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Começa quando ele recebe uma mensagem e termina quando ele devolve o resultado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Enquanto a ativação do :App está aberta, ele está “ocupado” atendendo 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Ativações podem se empilhar: um objeto chama a si mesmo e abre uma barrinha por cima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Ajuda a ler quem está esperando quem</a:t>
            </a:r>
          </a:p>
        </p:txBody>
      </p:sp>
      <p:pic>
        <p:nvPicPr>
          <p:cNvPr id="13" name="Elemento 1" descr="m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631587"/>
            <a:ext cx="7200000" cy="498682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tempo corre de cima para baixo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mensagem desenhada mais ABAIXO acontece DEPOIS da que está mais acima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isso a resposta (retorno) fica sempre abaixo da chamada que a gerou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Numerar as mensagens (1, 2, 3...) ajuda a leitura e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retornos normalmente não recebem número: eles fecham a chamada de cima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distância vertical não é tempo real: só a ORDEM importa</a:t>
            </a:r>
          </a:p>
        </p:txBody>
      </p:sp>
      <p:pic>
        <p:nvPicPr>
          <p:cNvPr id="13" name="Elemento 1" descr="m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470763"/>
            <a:ext cx="7200000" cy="530847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Mensagem síncrona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Seta contínua com ponta CHEIA (triângulo preenchido)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envia ESPERA a resposta antes de continuar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uma chamada de método: “:App → :Pedido: calcularValorTotal()”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 = verbo + parênteses, igual ao método da classe; parâmetros dentro dos parênteses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a mensagem mais comum do diagrama</a:t>
            </a:r>
          </a:p>
        </p:txBody>
      </p:sp>
      <p:pic>
        <p:nvPicPr>
          <p:cNvPr id="13" name="Elemento 1" descr="m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269976"/>
            <a:ext cx="7199999" cy="571004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Mensagem de retorno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Seta TRACEJADA com ponta aberta, voltando para quem chamou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Leva o resultado da chamada: “valorTotal”, “senhaOk”, “resultado”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 = o que volta (um substantivo ou valor), não um verbo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Fica sempre ABAIXO da chamada que respondeu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UML é opcional; neste curso vamos desenhar sempre que o resultado importar</a:t>
            </a:r>
          </a:p>
        </p:txBody>
      </p:sp>
      <p:pic>
        <p:nvPicPr>
          <p:cNvPr id="13" name="Elemento 1" descr="m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558493"/>
            <a:ext cx="7199999" cy="513301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Mensagem assíncrona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Seta contínua com ponta ABERTA (duas linhas, sem preenchimento)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Quem envia NÃO espera: manda e segue em frente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o :App envia o pedido para a :Cozinha e responde ao cliente sem esperar o preparo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Comum em notificações: e-mail, SMS, aviso no celular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tem retorno imediato; se houver resposta, ela chega depois como outra mensagem</a:t>
            </a:r>
          </a:p>
        </p:txBody>
      </p:sp>
      <p:pic>
        <p:nvPicPr>
          <p:cNvPr id="13" name="Elemento 1" descr="m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661842"/>
            <a:ext cx="7200000" cy="49263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Síncrona x assíncrona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Síncrona (ponta cheia)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Espera a resposta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cobrar o PIX e aguardar “aprovado”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Geralmente tem retorno tracejado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Assíncrona (ponta aberta)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Não espera: dispara e continua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mandar o pedido para a cozinha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Sem retorno imediato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Auto-mensagem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Seta que sai e volta para a MESMA linha de vida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objeto chama um método dele mesmo: dentro de calcularValorTotal(), o :Pedido chama “somarItens()”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Abre uma pequena ativação por cima da ativação atual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Útil para mostrar um cálculo interno importante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exagerem: só vale a pena quando o passo interno ajuda a entender o cenário</a:t>
            </a:r>
          </a:p>
        </p:txBody>
      </p:sp>
      <p:pic>
        <p:nvPicPr>
          <p:cNvPr id="13" name="Elemento 1" descr="m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706308"/>
            <a:ext cx="7200000" cy="483738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Criação e destruição de objetos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Criação: seta tracejada que chega na CAIXA do novo objeto - ele nasce naquela altura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Rótulo: «create» ou “criar(...)”; ex.: “:App → :Pagamento: criar(valorTotal, "PIX")”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Antes da seta de criação o objeto ainda não existe: nenhuma mensagem pode chegar nele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Destruição: um X no fim da linha de vida - dali para baixo o objeto não existe mais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para um objeto depois do X é erro de modelagem</a:t>
            </a:r>
          </a:p>
        </p:txBody>
      </p:sp>
      <p:pic>
        <p:nvPicPr>
          <p:cNvPr id="13" name="Elemento 1" descr="m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616613"/>
            <a:ext cx="7200000" cy="50167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nomear as mensagens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91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Chamadas: verbo no infinitivo + parênteses → validar(), cobrar(valor), aplicarDesconto()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 os nomes dos MÉTODOS do diagrama de classes (Aula 5): mesma palavra, mesma grafia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Retornos: o que volta → valorTotal, resultado, pedidoConfirmado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Nunca um substantivo solto numa chamada: “pagamento” não diz o que fazer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seta tem nome: seta sem rótulo não comunica nada</a:t>
            </a:r>
          </a:p>
        </p:txBody>
      </p:sp>
      <p:pic>
        <p:nvPicPr>
          <p:cNvPr id="13" name="Elemento 1" descr="m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000" y="3730357"/>
            <a:ext cx="7200000" cy="478928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rápido: qual elemento?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 caixa no topo com “:Pedido” e a linha tracejada que desce dela?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O retângulo fino sobre a linha tracejada?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A seta contínua com ponta cheia?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A seta tracejada que volta com o resultado?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O X no fim de uma linha de vida?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A seta que sai e volta para o mesmo objeto?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qual elemento?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Participante (objeto da classe Pedido) e sua linha de vida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Ativação: o período em que o participante está trabalhando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Mensagem síncrona: quem envia espera a resposta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Mensagem de retorno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Destruição do objeto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Auto-mensagem: o objeto chama um método dele mesmo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simples: login no app do TechBurger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0000" y="2900000"/>
            <a:ext cx="16488000" cy="57675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exemplo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ator Cliente chama o :App: “1: entrar(email, senha)” - a ativação do :App começa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:App pede ao :Cliente (os dados da pessoa): “2: validarSenha(senha)”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:Cliente devolve “senhaOk” (retorno tracejado) e sua ativação termina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:App devolve o “cardapio” ao cliente: fim do cenário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Reparem: é o mesmo login da Aula 7, agora como conversa entre objetos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Fragmentos combinados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quando o cenário tem SE, SENÃO ou REPETIÇÃO? Usamos fragmentos combinados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fragmento é uma moldura retangular em volta de um trecho das mensagens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canto, a etiqueta diz o tipo: alt, opt, loop, par, ref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Junto da etiqueta vem a condição de guarda, entre colchetes - como na Aula 7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vamos usar os três mais comuns: alt, opt e loop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alt - alternativas (se / senão)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moldura é dividida por uma linha tracejada em dois ou mais trechos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trecho tem a sua guarda: [senhaOk = verdadeiro] / [senhaOk = falso]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UM dos trechos acontece - exatamente como a decisão do diagrama de atividades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guardas seguem a regra de ouro da Aula 7: completas e exclusivas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[senão] pode ser usado no último trecho para “todos os outros casos”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alt no login: senha certa ou errada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07397" y="2900000"/>
            <a:ext cx="1298520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alt do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Mensagens 1 e 2 acontecem sempre, antes da moldura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[senhaOk = verdadeiro]: o :App devolve o cardápio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[senhaOk = falso]: o :App registra a tentativa falha no :Cliente e devolve a mensagem de erro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nota amarela lembra a regra do laço de login da Aula 7: 3 tentativas erradas bloqueiam por 15 minutos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Comparem com o laço de login da Aula 7: a decisão virou o alt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opt - opcional (só 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único trecho, com uma guarda: só acontece SE a condição for verdadeira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um alt sem o “senão”: se a guarda for falsa, o trecho é simplesmente pulado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[forma = PIX] → o :App pede ao :Pagamento para aplicar o desconto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Lembram do «extend» da Aula 4? Algo que acontece “só às vezes” costuma virar opt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Aplicar Desconto PIX estende Confirmar Pagamento → aqui ele aparece como opt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opt: o desconto do PIX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7553" y="2900000"/>
            <a:ext cx="16472894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loop - repetição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trecho dentro da moldura se REPETE enquanto a guarda for verdadeira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guarda diz quantas vezes: [para cada item escolhido], [até 3 tentativas]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para cada item, o :App confere o estoque no :Produto e adiciona no :Pedido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o “laço” da Aula 7 - lá era uma seta que voltava; aqui é uma moldura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Tudo depois da moldura acontece uma vez só, quando a repetição termina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loop: adicionando itens ao carrinho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0845" y="2900000"/>
            <a:ext cx="1367831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Outros fragmentos (para reconhecer)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 - trechos em PARALELO: o equivalente à bifurcação/união da Aula 7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ref - referência a outro diagrama: “ref Fazer Login” em vez de redesenhar o login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break - interrompe o cenário quando a guarda é verdadeira (ex.: pagamento recusado)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Fragmentos podem ficar um dentro do outro: um opt dentro de um alt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dúvida, comecem por alt, opt e loop: resolvem a maioria dos casos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Diagrama de atividades x fragmentos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Na Aula 7 (atividades)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Decisão com duas saídas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Decisão com uma saída que “pula”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Seta que volta (laço)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Bifurcação e união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Hoje (sequência)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alt com dois trechos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opt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loop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rápido: qual fragmento?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“Se o pagamento for aprovado, confirma o pedido; senão, cancela”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“Para cada item do carrinho, verifica o estoque”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“Se o cliente tiver cupom, aplica o desconto” (não há o que fazer se não tiver)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“O sistema envia o e-mail e o SMS ao mesmo tempo”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“O login completo está em outro diagrama; aqui só apontamos para ele”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Respostas - qual fragmento?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alt - dois trechos: [aprovado] / [senão]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loop - [para cada item do carrinho]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opt - [tem cupom]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par - os dois envios em paralelo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ref - referência ao diagrama “Fazer Login”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Das classes às mensagens (Aulas 5 e 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Todo participante “:X” é um objeto de uma classe X do diagrama de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 mensagem RECEBIDA por um objeto deve ser um MÉTODO da classe dele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“:App → :Pagamento: aplicarDesconto()” exige Pagamento + aplicarDesconto()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a mensagem não existe como método, falta algo no diagrama de classes - hora de corrigir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atributos derivados aparecem nas perguntas: /livrosEmprestados, /vagasDisponiveis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Dos casos de uso aos cenários (Aula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caso de uso importante pode ganhar um ou mais diagramas de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ator do caso de uso é o primeiro participante (à esquerda)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diagrama = um cenário: “pedido pago com PIX e aprovado”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«include» (sempre acontece) → mensagens sempre presentes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«extend» (só às vezes) → um fragmento opt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Das regras de negócio às guardas (Aula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regras continuam lá - agora como guardas dos fragmentos e como notas amarelas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3 cancelamentos no mês bloqueiam o app → alt [estaBloqueado() = verdadeiro]: o pedido é recusado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PIX com 5% de desconto → opt [forma = PIX]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Pagamento confirmado antes da cozinha → alt [resultado = aprovado]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Mais de 10 itens → opt [mais de 10 itens] com a confirmação do gerente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Atividades e sequência: o mesmo processo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diagrama de atividades da Aula 7 e o de sequência de hoje descrevem o MESMO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ação importante das raias vira uma ou mais mensagens entre objetos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decisões viram fragmentos alt/opt; o laço vira loop; o paralelo vira par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diagrama de sequência vai além: mostra QUAL objeto faz o quê e em que ordem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dois precisam concordar: se um cobra antes de validar, o outro também está errado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a passo para construir um diagrama de sequência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Escolham UM cenário de um caso de uso e escrevam o nome dele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Listem os participantes: o ator primeiro, depois :App e os objetos das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Coloquem os participantes lado a lado, na ordem em que entram na conversa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Desenhem as mensagens de cima para baixo, numeradas, com os nomes dos métodos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Acrescentem os retornos tracejados e as ativações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Envolvam os trechos condicionais ou repetidos com alt, opt ou loop, com guardas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Confiram: toda mensagem recebida é um método da classe? A ordem respeita as regras?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nível de detalhe 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Detalhado demais: cada getter, cada clique, cada consulta ao banco → ninguém lê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Genérico demais: “:App → :Sistema: fazTudo()” → não mostra a colaboração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ponto certo: as chamadas que mostram as REGRAS e as INTEGRAÇÕES do cenário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muito comprido? Separem em cenários ou usem ref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 3 a 6 participantes costumam bastar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Biblioteca “Ler Mais”: emprestar um livro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Ator: Bibliotecário; participantes: :SistemaBiblioteca, :Associado, :Livro, :Emprestimo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sistema pergunta ao :Associado se ele pode pegar mais um livro (limite de 3)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ao :Livro se ele está disponível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as duas respostas forem sim: pega o prazo (14 ou 30 dias) e CRIA o :Emprestimo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Senão: devolve a recusa ao bibliotecário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Biblioteca: diagrama de sequência “Emprestar livro”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24813" y="2900000"/>
            <a:ext cx="1355037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diagrama da Biblioteca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“2: podePegarLivro()” usa o atributo derivado /livrosEmprestados (a regra dos 3 livros)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alt tem duas guardas: [pode e disponivel] / [senão]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“4: prazoEmprestimo()” devolve 14 dias - ou 30, porque Professor redefine o método (herança)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“5: criar(...)”: o :Emprestimo nasce ali, por isso a caixa dele fica mais abaixo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Comparem com a Aula 7: as mesmas regras, agora distribuídas entre os objetos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GUIADA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Pontos de fidelidade do TechBurger - ao vivo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A ação “Credita os pontos de fidelidade” da Aula 7, aberta como conversa entre objetos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Mapa do draw.io: as partes da tela</a:t>
            </a:r>
          </a:p>
        </p:txBody>
      </p:sp>
      <p:pic>
        <p:nvPicPr>
          <p:cNvPr id="12" name="Picture 11" descr="seq_tela_ge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605" y="2900000"/>
            <a:ext cx="10662790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o mapa da tela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Pesquisa de formas: digite o nome (em inglês) e aperte Enter - ex.: "lifeline"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Paleta UML: clique em "UML" e role até o FIM da lista - lá estão as formas de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Menu Arquivo: Abrir (o ponto de partida), Salvar como (.drawio) e Exportar como › PNG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Área de desenho: os pontos de partida já trazem as linhas de vida prontas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Painel da direita: com uma seta selecionada, mostra Estilo, Texto e Organizar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Páginas: as abas de baixo; o "+" cria outra página no mesmo arquivo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Onde ficam as formas de sequência: o fim da paleta UML</a:t>
            </a:r>
          </a:p>
        </p:txBody>
      </p:sp>
      <p:pic>
        <p:nvPicPr>
          <p:cNvPr id="12" name="Picture 11" descr="seq_paleta_um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557" y="2900000"/>
            <a:ext cx="12132885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 peças num diagrama pronto</a:t>
            </a:r>
          </a:p>
        </p:txBody>
      </p:sp>
      <p:pic>
        <p:nvPicPr>
          <p:cNvPr id="12" name="Picture 11" descr="seq_demo_marc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991" y="2900000"/>
            <a:ext cx="11308018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as peças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Mensagem síncrona: UML › "Message" - arraste e prenda cada ponta numa linha de vida (ou ativação)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Ativação: UML › "Activation Bar" - solte sobre a linha de vida e estique pelas alças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Retorno: UML › "Return" - de quem responde para quem chamou, logo abaixo da chamada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Fragmento: UML › "Frame" - estique em volta das mensagens; duplo clique no canto: alt, opt, loop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Guarda: Geral › "Text" - escreva [condição] logo ao lado da etiqueta do fragmento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Divisória do alt: Geral › linha tracejada, atravessando a moldura de lado a lado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Assíncrona e criação: mudando a seta no painel Estilo</a:t>
            </a:r>
          </a:p>
        </p:txBody>
      </p:sp>
      <p:pic>
        <p:nvPicPr>
          <p:cNvPr id="12" name="Picture 11" descr="seq_estilo_se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00" y="4505539"/>
            <a:ext cx="16400000" cy="333892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Mudando o tipo da seta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Clique na seta para selecioná-la: o painel da direita mostra a aba Estilo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Padrão da linha: contínua (chamada) ou tracejada (retorno e criação)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Fim da linha: ponta cheia (síncrona) ou ponta aberta (assíncrona e retorno)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Assíncrona = "Message" com o Fim da linha trocado para ponta aberta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Criação = "Return" (tracejada) indo até a CAIXA do novo objeto, com o rótulo criar(...)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O objeto criado nasce no meio: arraste a caixa dele para baixo, até a altura da seta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Cola do draw.io: onde fica cada elemento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Participante → UML › "Lifeline"  ·  ator → UML › "Actor Lifeline"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Ativação → UML › "Activation Bar"  ·  auto-mensagem → UML › "Self Call"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Síncrona → UML › "Message"  ·  retorno → UML › "Return"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Assíncrona → "Message" + Estilo › Fim da linha com ponta aberta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Criação → "Return" até a caixa do novo objeto  ·  destruição → UML › "Destruction" (X)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alt / opt / loop → UML › "Frame"  ·  guarda → Geral › "Text"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Divisória do alt → Geral › linha tracejada  ·  nota da regra → Geral › nota (folha dobrada)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Atalhos e cuidados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Abrir o ponto de partida: Arquivo › Abrir - as linhas de vida já estão lá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Número e nome juntos no rótulo: duplo clique na seta → "1: entrar(email, senha)"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Ponta solta? Arraste até a linha de vida ficar destacada: só então a seta está presa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Precisa de espaço? Estique as linhas de vida para baixo pelas alças azuis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Moldura escondendo as setas: Ordenar › Para trás (Ctrl+Shift+B)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Ctrl+D duplica  ·  Ctrl+Z desfaz  ·  salvem como "Atividade1_Grupo3.drawio"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guiada: a história que vamos desenhar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Aula 7, o pedido pelo app tinha uma ação só: “Credita os pontos de fidelidade”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vamos ABRIR essa caixa: quem faz o quê, e em que ordem, para os pontos entrarem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2 (Aula 1): 1 ponto a cada R$ 10,00; ao chegar a 100 pontos, combo grátis na próxima compra e pontos zerados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Nosso caso: a Maria tem 95 pontos e acabou de pagar uma compra de R$ 62,00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Recorte: o pagamento já foi aprovado e fica de fora - ele é a Atividade 1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professor desenha no projetor; a turma dita cada mensagem e repete no próprio draw.io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Quem é quem no diagrama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(boneco, à esquerda) = a PESSOA Maria, com o celular na mão - é o ator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:App = o aplicativo do TechBurger: recebe o toque e repassa o trabalho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:Cliente (caixa) = os DADOS da Maria dentro do sistema: pontosFidelidade = 95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 Cliente (Aula 5): - pontosFidelidade  ·  + acumularPontos(valor: Real)  ·  + resgatarCombo(): Booleano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que é o :Cliente que calcula? Os pontos são privados (-): só ele mexe neles (encapsulamento)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Primeiro no quadro: as mensagens em ordem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1:  Cliente → :App  ·  finalizarCompra()  - a Maria toca no botão e espera a resposta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2:  :App → :Cliente  ·  acumularPontos(valorPago)  - o app pede aos dados da Maria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3:  :Cliente → :Cliente  ·  calcularPontos(valorPago)  - auto-mensagem: 62 ÷ 10 = 6 pontos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4:  só se [saldo ≥ 100 pontos]: :Cliente → :Cliente  ·  resgatarCombo()  - 95 + 6 = 101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retornos:  :Cliente ⇢ :App  ·  saldoAtualizado      e      :App ⇢ Cliente  ·  saldo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Escrevam essa lista no quadro com a turma ditando; depois é só passar para o draw.io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0 de 5: abrir o ponto de partida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Arquivo › Abrir › “Aula 8 - Exemplo Guiado (ponto de partida).drawio”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Confiram as 3 linhas de vida: o boneco Cliente (a pessoa), :App e :Cliente (os dados dela)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Não é preciso criar participantes: hoje desenhamos só as mensagens</a:t>
            </a:r>
          </a:p>
        </p:txBody>
      </p:sp>
      <p:pic>
        <p:nvPicPr>
          <p:cNvPr id="13" name="Picture 11" descr="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72" y="4600000"/>
            <a:ext cx="10889256" cy="4880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 de 5: a Maria toca em “Finalizar compra”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UML › "Message": prendam uma ponta no tracejado do boneco e a outra no tracejado do :App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Duplo clique na seta e escrevam: 1: finalizarCompra()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UML › "Activation Bar" sobre o :App, a partir da ponta da seta; estiquem bem para baixo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Pergunte à turma: quem começa a conversa? (o ator, sempre à esquerda)</a:t>
            </a:r>
          </a:p>
        </p:txBody>
      </p:sp>
      <p:pic>
        <p:nvPicPr>
          <p:cNvPr id="13" name="Picture 11" descr="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72" y="4600000"/>
            <a:ext cx="10889256" cy="4880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 de 5: o app pede ao :Cliente para acumular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Outra "Message", um pouco abaixo: da ativação do :App até o tracejado do :Cliente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Rótulo: 2: acumularPontos(valorPago) - aqui, valorPago = R$ 62,00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"Activation Bar" no :Cliente, a partir da ponta da seta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Pergunte: esse método existe na classe Cliente? (sim: + acumularPontos(valor: Real), Aula 5)</a:t>
            </a:r>
          </a:p>
        </p:txBody>
      </p:sp>
      <p:pic>
        <p:nvPicPr>
          <p:cNvPr id="13" name="Picture 11" descr="p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72" y="4600000"/>
            <a:ext cx="10889256" cy="4880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 de 5: o :Cliente calcula os próprios pontos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UML › "Self Call" sobre a ativação do :Cliente: a seta sai e volta para ele mesmo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Rótulo: 3: calcularPontos(valorPago) + nota amarela (Geral › Note) com a regra do R$ 10,00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Pergunte: R$ 62,00 dá quantos pontos? (6 → 95 + 6 = 101)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Esse método NÃO existia na Aula 5: anotem na classe Cliente - calcularPontos(valor: Real): Inteiro</a:t>
            </a:r>
          </a:p>
        </p:txBody>
      </p:sp>
      <p:pic>
        <p:nvPicPr>
          <p:cNvPr id="13" name="Picture 11" descr="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72" y="4600000"/>
            <a:ext cx="10889256" cy="4880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4 de 5: só se chegar a 100 - o combo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UML › "Frame" abaixo da mensagem 3; duplo clique no canto → opt; guarda com Geral › "Text": [saldo ≥ 100 pontos]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Dentro da moldura, outro "Self Call": 4: resgatarCombo() + nota “100 pontos = combo grátis e saldo zerado”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Moldura cobrindo as setas? Selecionem e usem Ctrl+Shift+B (para trás)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Pergunte: por que opt e não alt? (se não chegar a 100, não acontece nada - não há “senão”)</a:t>
            </a:r>
          </a:p>
        </p:txBody>
      </p:sp>
      <p:pic>
        <p:nvPicPr>
          <p:cNvPr id="13" name="Picture 11" descr="p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72" y="4600000"/>
            <a:ext cx="10889256" cy="4880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5 de 5: as respostas voltam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2900000"/>
            <a:ext cx="16400000" cy="17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UML › "Return" do :Cliente para o :App, abaixo da moldura: saldoAtualizado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Outro "Return" do :App para o boneco: saldo - retornos são tracejados e voltam para quem chamou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Ajustem as ativações para terminarem onde sai o retorno</a:t>
            </a:r>
          </a:p>
          <a:p>
            <a:pPr>
              <a:spcAft>
                <a:spcPts val="400"/>
              </a:spcAft>
            </a:pPr>
            <a:r>
              <a:rPr sz="1900" b="0" i="0">
                <a:solidFill>
                  <a:srgbClr val="333333"/>
                </a:solidFill>
                <a:latin typeface="Calibri"/>
              </a:rPr>
              <a:t>•  Pergunte: qual saldo a Maria vê? (0 - os pontos zeraram quando ela ganhou o combo)</a:t>
            </a:r>
          </a:p>
        </p:txBody>
      </p:sp>
      <p:pic>
        <p:nvPicPr>
          <p:cNvPr id="13" name="Picture 11" descr="p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372" y="4600000"/>
            <a:ext cx="10889256" cy="4880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Resultado: acumular pontos de fidelidade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00431" y="2900000"/>
            <a:ext cx="14487138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Conferindo o diagrama com dois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Maria: 95 pontos + compra de R$ 62,00 → 6 pontos → 101 → a guarda é verdadeira: entra no opt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 → combo grátis na próxima compra e saldo 0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João: 40 pontos + compra de R$ 35,00 → 3 pontos → 43 → a guarda é falsa: o opt é PULADO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       → acontecem as mensagens 1, 2, 3 e os retornos (saldo 43); a 4 não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MESMO diagrama serve para os dois clientes: é para isso que existe a guarda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Aula 7 era uma caixa só; agora sabemos quem calcula, quem guarda os pontos e quem avisa a pessoa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guiada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ator Cliente está à esquerda e inicia a conversa com “1: finalizarCompra()”?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Todas as setas têm número e nome, e as pontas estão presas nas linhas de vida?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acumularPontos e resgatarCombo são da classe Cliente (Aula 5)? calcularPontos foi anotado como método novo?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retornos são tracejados, logo abaixo, voltando para quem chamou?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opt envolve só o resgatarCombo() e tem a guarda [saldo ≥ 100 pontos]?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ação “Credita os pontos de fidelidade” da Aula 7 virou as mensagens 2 a 4?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Diagrama de Sequência: pedido pelo app com PIX (TechBurger)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30 minutos, em grupo, no draw.io ou no papel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 1 -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grupos de 3 a 4: desenhem o diagrama de sequência do cenário “pedido para entrega, pago com PIX”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Partam do arquivo “Aula 8 - Atividade 1 TechBurger (ponto de partida).drawio”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Participantes: Cliente (ator), :App, :Pedido, :Pagamento, :SistemaPagamento e :Cozinha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Exigido: mensagens numeradas, retornos, 1 loop, 1 alt (aprovado/recusado) e a criação do :Pagamento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Usem a seção 7 da Apostila: ela traz o roteiro e os métodos das classes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 draw.io, para a atividade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Arquivo › Abrir: “Aula 8 - Atividade 1 TechBurger (ponto de partida).drawio”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loop e alt: UML › "Frame" - duplo clique no canto para escrever loop / alt; guardas com Geral › "Text"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cobrar(...) e o seu "resultado": "Message" + "Return", o retorno logo abaixo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Envio à :Cozinha é assíncrono: "Message" e, no Estilo, Fim da linha com ponta aberta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Criação do :Pagamento: "Return" até a caixa - e desçam a caixa até a altura do criar(...)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Linha tracejada do alt ([aprovado] / [recusado]): Geral › linha tracejada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Esqueceu onde fica? Cola do draw.io no slide 64 e seção 6.1 da Apostila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cenário contado pela gerente (parte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adiciona itens ao carrinho, um de cada vez; o app repassa cada item ao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Depois finaliza, informando entrega e endereço; o app pede ao pedido para se validar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pedido calcula o próprio valor total (as regras de R$ 15,00, estoque e 5 km já valeram)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escolhe pagar com PIX: nesse momento o app CRIA o objeto 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pede ao pagamento para aplicar o desconto de 5%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cenário contado pela gerente (parte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cobra o valor com desconto no Sistema de Pagamento e espera o resultado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aprovado: confirma o pagamento e o pedido; com mais de 10 itens, aguarda o gerente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Aprovado: o app envia o pedido para a cozinha SEM esperar o preparo e avisa 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recusado: o app cancela o pedido e avisa 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Métodos da Aula 5: Pedido.confirmar(), Pagamento.aplicarDesconto(), Pagamento.confirmar() - os que faltarem, anotem como novos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Pistas para 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Comecem pelo loop: [para cada item escolhido]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:Pagamento só existe depois do pagamento com PIX: a caixa dele nasce no meio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cobrar(...) no :SistemaPagamento é síncrona: o app precisa do resultado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enviarPedido(...) para a :Cozinha é assíncrona: o app não espera o hambúrguer ficar pronto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alt tem duas guardas: [resultado = aprovado] / [senão]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Dicas para o grupo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Primeiro escrevam a lista numerada de mensagens no papel: quem → quem: o quê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Dividam as tarefas: um lê o cenário, outro desenha, outro confere o checklist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cada seta perguntem: “quem espera a resposta?” - isso decide síncrona ou assíncrona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Leiam o diagrama em voz alta, de cima para baixo, antes de apresentar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6 participantes, com o ator à esquerda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Mensagens numeradas, com nomes de métodos (verbo + parênteses)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Retornos tracejados logo abaixo das chamadas síncronas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loop, alt e (bônus) opt com guardas entre colchetes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:Pagamento criado no meio do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 que respeita as regras: validar → pagar → só então a cozinha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para os grupos apresentarem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 mensagem foi mais difícil de encaixar na ordem?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que a mensagem para a cozinha é assíncrona e a cobrança não?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muda no diagrama se o pagamento for recusado?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 métodos o grupo precisou usar que já estavam no diagrama de classes da Aula 5?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CORREÇÃO COLETIVA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Resposta-modelo: pedido pelo app com PIX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Projetar e comparar com o que cada grupo produziu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(parte 1): do carrinho ao desconto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02859" y="2900000"/>
            <a:ext cx="1379428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Resposta-modelo (parte 2): da cobrança à cozinha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5277" y="2900000"/>
            <a:ext cx="14529446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 resposta-modelo (parte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loop repete as mensagens 1 e 2 para cada item escolhido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“4: validar()” e a auto-mensagem “5: calcularValorTotal()” ficam no :Pedido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nota lembra: este é o cenário principal - os desvios estão no diagrama de atividades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“7: criar(valorTotal, "PIX")”: o :Pagamento nasce ali, por isso a caixa está mais abaixo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“8: aplicarDesconto()” é o método do Pagamento (Aula 5)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Lendo a resposta-modelo (parte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“9: cobrar(...)” é síncrona: o :App espera o “resultado” do :SistemaPagamento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alt [resultado = aprovado]: confirma :Pagamento e :Pedido; opt [mais de 10 itens] aguarda o gerente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“13: enviarPedido(pedido)” é assíncrona: o :App responde ao cliente sem esperar a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[senão]: “14: cancelar()” no :Pedido e o aviso “pagamentoRecusado”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ordem garante a regra da Aula 1: só vai para a cozinha com pagamento confirmado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Diferenças plausíveis entre grupos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Validar cada regra com uma mensagem própria (validarRaio(), verificarDisponibilidade()) - ótimo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Participantes extras, como :Produto ou :Entrega, são uma boa melhoria, não um erro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opt dos 10 itens antes da cobrança também é aceitável, se o grupo justificar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Retornos com nomes diferentes (ok, aprovado) - desde que tracejados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que NÃO pode: cobrar antes de validar, cozinha antes do pagamento, retorno contínuo, seta sem nome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ENCONTRE O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Um diagrama de sequência com 6 erros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Em duplas: 6 minutos para achar, explicar e corrigir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 erro - o que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Analisem o diagrama do próximo slide: ele tem 6 erros propositais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Marquem onde está cada erro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Expliquem POR QUE é um erro (qual regra da aula foi violada)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Escrevam como ficaria a correção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Sem consultar a Apostila nos primeiros 5 minutos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os 6 erros (em duplas)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0873" y="2900000"/>
            <a:ext cx="797825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6 erros marcados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10873" y="2900000"/>
            <a:ext cx="797825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encontrados e correções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“resultado” volta com seta contínua de ponta cheia - retorno é TRACEJADO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“pagamento” é substantivo - a chamada deve ser um método: cobrar(valorTotal)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“valorTotal” aparece ACIMA de “5: calcularValorTotal()” - o retorno vem depois da chamada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alt sem guardas - usar [resultado = aprovado] / [senão]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“8: removerCupom()” vai para o :Carrinho depois do X - objeto destruído não recebe mensagens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Seta de retorno sem nome no [senão] - nomear: pagamentoRecusado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ATIVIDADE PRÁTICA 2 - REVISÃO FINAL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Do texto ao modelo: CineVila, das Aulas 1 a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40 minutos, em duplas, no caderno e no draw.io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uma revisão agora?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Já temos 8 aulas: regras, requisitos, critérios de aceite, UML, casos de uso, classes, cardinalidade, atividades 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prática profissional, tudo isso é feito EM SEQUÊNCIA, sobre o mesmo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em um domínio novo: o cinema CineVila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próxima aula (15/10) faremos a revisão integradora completa, com a EcoBike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um ótimo treino para o Projeto Integrador (Aulas 16 a 19) e para a avaliação final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Cenário CineVila (parte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CineVila é um cinema de bairro que quer vender ingressos pelo aplicativo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escolhe um filme, uma sessão (data, horário e sala) e os assentos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compra tem no máximo 6 ingressos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assentos escolhidos ficam reservados por 10 minutos, esperando o pagamento; depois disso são liberados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Estudantes e idosos pagam meia-entrada (50%) e apresentam o documento na entrada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Cenário CineVila (parte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pagamento é feito no app, por cartão ou PIX, num sistema de pagamento externo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 o pagamento aprovado, o app emite os ingressos com QR code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cliente pode cancelar a compra até 2 horas antes da sessão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mapa de assentos precisa abrir em até 2 segundos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app deve funcionar em Android e iOS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Tarefas - partes A, B e C (Aulas 1 a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(Aula 1): identifiquem 3 regras de negócio e escrevam cada uma como Condição / Ação / Exceção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 (Aula 2): escrevam 3 requisitos funcionais e 2 requisitos não funcionais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 (Aula 3): escrevam 1 critério de aceite (Dado / Quando / Então) para a regra dos 10 minutos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 (Aula 3): classifiquem casos de uso, classes, atividades e sequência em estruturais ou comportamentais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Tarefas - partes D a G (Aulas 4 a 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 (Aula 4): atores e pelo menos 4 casos de uso, com 1 «include» ou «extend»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 (Aulas 5 e 6): pelo menos 4 classes com 2 atributos e 1 método cada, e os relacionamentos COM cardinalidade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 (Aula 7): diagrama de atividades “Comprar ingresso”, com raias e pelo menos 2 decisões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 (Aula 8): diagrama de sequência “Comprar ingresso” (pagamento aprovado ou recusado), com 1 alt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 sugerido: 6 min A-C, 9 min D-E, 9 min F, 10 min G; os últimos 6 minutos são da correção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No draw.io, para a atividade 2 (partes F e 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Arquivo › Novo; usem duas páginas (botão "+" embaixo): uma para F, outra para G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 (atividades, Aula 7): UML › "Start", "Activity", "Condition", "End"; raias: Geral › "Vertical Container"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 (sequência): UML › "Actor Lifeline" para o Cliente e "Lifeline" para cada objeto (:Compra, :Sessao...)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G: alt [aprovado] / [recusado] com UML › "Frame" + Geral › "Text" + linha tracejada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Salvem como "Atividade2_" + nome da dupla + ".drawio"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Esqueceu onde fica? Cola do draw.io no slide 64 e seção 6.1 da Apostila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Checklist da atividade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regra tem condição e ação claras (e exceção, quando existir)?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RF dizem O QUE o sistema faz; os RNF dizem COMO ele se comporta (tempo, plataforma)?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dos 6 ingressos aparece como cardinalidade (E) e como decisão (F)?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mensagens do diagrama de sequência (G) são métodos das classes da parte E?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dos 10 minutos aparece nas partes A, C, F e G?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CORREÇÃO COLETIVA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Resposta-modelo: CineVila de ponta a ponta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Comparem parte por parte - o importante é a coerência entre as partes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A: regras de negócio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Limite: Condição - compra com mais de 6 ingressos · Ação - recusar e pedir para reduzir · Exceção - nenhuma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Reserva: Condição - 10 minutos sem pagamento · Ação - liberar os assentos · Exceção - nenhuma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Meia-entrada: Condição - estudante ou idoso · Ação - cobrar 50% · Exceção - sem documento na entrada, paga a diferença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Outras aceitáveis: cancelamento até 2 horas antes da sessão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partes B e C: requisitos e critério de aceite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RF: escolher sessão e assentos · pagar por cartão ou PIX · emitir ingressos com QR code · cancelar até 2 h antes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RNF: mapa de assentos em até 2 segundos (desempenho) · Android e iOS (portabilidade)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 que o cliente reservou 2 assentos às 19:00, Quando ele não paga até 19:10, Então o sistema libera os assentos e cancela a compra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Estruturais: classes · Comportamentais: casos de uso, atividades e sequência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D: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Atores: Cliente e Sistema de Pagamento (ator externo)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Cliente: Consultar Sessões, Comprar Ingresso, Cancelar Compra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«include»: Comprar Ingresso inclui Escolher Assentos e Pagar (sempre acontecem)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«extend»: Solicitar Meia-Entrada estende Comprar Ingresso (só para estudantes e idosos)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E: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Filme: - titulo, - classificacao; + sessoesDisponiveis()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Sessao: - dataHora, - sala, - /assentosLivres; + reservarAssentos(), + liberarAssentos()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Compra: - dataHora, - status, - /valorTotal; + calcularTotal(), + emitirIngressos()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Ingresso: - assento, - tipo (inteira/meia), - valor; + gerarQrCode()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Cliente: - nome, - email, - cpf; + cancelarCompra()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E: relacionamentos e cardinalidade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Filme 1 —— 0..* Sessao (um filme tem várias sessões; cada sessão é de um filme)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1 —— 0..* Compra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Compra 1 ◆—— 1..6 Ingresso (composição; o 6 vem da regra do limite!)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Sessao 1 —— 0..* Ingresso (cada ingresso é para uma sessão)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herança obrigatória - aceitar “Meia” e “Inteira” como subclasses de Ingresso, se justificado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F: diagrama de atividades “Comprar ingresso”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7923" y="2900000"/>
            <a:ext cx="6832153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 - parte G: diagrama de sequência “Comprar ingresso”</a:t>
            </a:r>
          </a:p>
        </p:txBody>
      </p:sp>
      <p:pic>
        <p:nvPicPr>
          <p:cNvPr id="12" name="Picture 11" descr="techburger_classes_cardinalidad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33899" y="2900000"/>
            <a:ext cx="9732201" cy="6550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fio condutor da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dos 10 minutos aparece como regra (A), critério de aceite (C), decisão (F) e alt (G)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dos 6 ingressos vira a cardinalidade 1..6 (E) e uma decisão (F)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meia-entrada é um «extend» (D) e um atributo “tipo” do Ingresso (E)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métodos da parte E são exatamente as mensagens da parte G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Modelar é isso: o mesmo sistema, visto de ângulos diferentes, sempre coerente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ao modelar sequência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Retorno desenhado com seta contínua, ou chamada síncrona com linha tracejada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com substantivo (“pagamento”) ou sem nome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Ordem errada: resposta acima da chamada, ou cobrar antes de validar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para um método que não existe na classe do receptor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Objeto recebendo mensagens antes de ser criado ou depois do 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Fragmento sem guarda, ou alt usado onde bastava um opt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Boas práticas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diagrama por cenário, com um nome claro (“Pedido com PIX aprovado”)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 à esquerda; participantes na ordem em que entram na conversa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Mensagens numeradas e com os nomes exatos dos métodos das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Retornos só quando o resultado importa, sempre tracejados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Revisar junto com o diagrama de classes: um corrige o outro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Resumo visual: os elementos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Participantes no topo (ator ou “:Classe”) com a linha de vida tracejada descendo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Ativação: retângulo fino sobre a linha de vida enquanto o participante trabalha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Síncrona: ponta cheia  ·  Assíncrona: ponta aberta  ·  Retorno: tracejada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Auto-mensagem volta para o mesmo objeto  ·  Criação chega na caixa  ·  Destruição: 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Fragmentos: alt (se/senão), opt (só se), loop (repete), par (paralelo), ref (outro diagrama)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sequência - diagrama comportamental que mostra a troca de mensagens no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Participante / linha de vida - objeto (ou ator) da conversa / sua existência no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Ativação - período em que o participante está executando algo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Mensagem síncrona / assíncrona / de retorno - espera / não espera / devolve o resultado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Auto-mensagem - o objeto chama um método dele mesmo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Criação / destruição - o objeto nasce na altura da seta / termina no 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Fragmento combinado - moldura alt, opt, loop, par ou ref com guarda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Qual a diferença entre o diagrama de atividades e o de sequência? Quando usar cada um?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O que representa a linha de vida? E a ativação?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Qual a diferença entre mensagem síncrona, assíncrona e de retorno? Dê um exemplo de cada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Por que a mensagem para a cozinha é assíncrona e a cobrança do PIX é síncrona?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Como se representa a criação de um objeto? E a destruição?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6.  Qual a diferença entre os fragmentos alt, opt e loop?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7.  Qual a relação entre as mensagens do diagrama de sequência e os métodos das classes?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8.  Como uma regra de negócio da Aula 1 aparece no diagrama de sequência?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para casa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Para que lado corre o tempo no diagrama de sequência?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Qual seta tem ponta cheia: a síncrona ou a assíncrona?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Como é desenhado o retorno?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4.  Qual fragmento usar para “se o cliente tiver cupom, aplica desconto”?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5.  Cite uma mensagem de hoje que é um método do diagrama de classes da Aula 5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sequência: a conversa entre os objetos, em ordem, de cima para baixo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Elementos: participantes, linhas de vida, ativações, mensagens síncronas, assíncronas e de retorno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Auto-mensagem, criação e destruição; fragmentos alt, opt e loop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ligação com regras (Aula 1), casos de uso (Aula 4), classes (Aulas 5 e 6) e atividades (Aula 7)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Praticamos três vezes: a atividade guiada (pontos de fidelidade, todos juntos), o TechBurger (em grupo) e a revisão final CineVila (em duplas)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(15/10): revisão integradora dos 4 diagramas UML - EcoBike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755</Words>
  <Application>Microsoft Office PowerPoint</Application>
  <PresentationFormat>Personalizar</PresentationFormat>
  <Paragraphs>94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Unbounded 1 Ultra-Bold</vt:lpstr>
      <vt:lpstr>Calibri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14</cp:revision>
  <dcterms:created xsi:type="dcterms:W3CDTF">2006-08-16T00:00:00Z</dcterms:created>
  <dcterms:modified xsi:type="dcterms:W3CDTF">2026-08-30T15:39:53Z</dcterms:modified>
  <dc:identifier>DAGGnDa8uXQ</dc:identifier>
</cp:coreProperties>
</file>