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1_tarefas.svg" ContentType="image/svg+xml"/>
  <Override PartName="/ppt/media/diag_002_pegar1.svg" ContentType="image/svg+xml"/>
  <Override PartName="/ppt/media/diag_003_pegar2.svg" ContentType="image/svg+xml"/>
  <Override PartName="/ppt/media/diag_004_canvas_p0.svg" ContentType="image/svg+xml"/>
  <Override PartName="/ppt/media/diag_005_canvas_p0.svg" ContentType="image/svg+xml"/>
  <Override PartName="/ppt/media/diag_006_canvas_p1.svg" ContentType="image/svg+xml"/>
  <Override PartName="/ppt/media/diag_007_canvas_p2.svg" ContentType="image/svg+xml"/>
  <Override PartName="/ppt/media/diag_008_canvas_p3.svg" ContentType="image/svg+xml"/>
  <Override PartName="/ppt/media/diag_009_canvas_p4.svg" ContentType="image/svg+xml"/>
  <Override PartName="/ppt/media/diag_010_canvas_p5.svg" ContentType="image/svg+xml"/>
  <Override PartName="/ppt/media/diag_011_canvas_p6.svg" ContentType="image/svg+xml"/>
  <Override PartName="/ppt/media/diag_012_canvas_p7.svg" ContentType="image/svg+xml"/>
  <Override PartName="/ppt/media/diag_013_canvas_p8.svg" ContentType="image/svg+xml"/>
  <Override PartName="/ppt/media/diag_014_canvas_p9.svg" ContentType="image/svg+xml"/>
  <Override PartName="/ppt/media/diag_015_canvas_full.svg" ContentType="image/svg+xml"/>
  <Override PartName="/ppt/media/diag_016_fluxo.svg" ContentType="image/svg+xml"/>
  <Override PartName="/ppt/media/diag_017_enc.svg" ContentType="image/svg+xml"/>
  <Override PartName="/ppt/media/diag_018_encm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927" r:id="rId96"/>
    <p:sldId id="928" r:id="rId84"/>
    <p:sldId id="929" r:id="rId83"/>
    <p:sldId id="930" r:id="rId78"/>
    <p:sldId id="931" r:id="rId77"/>
    <p:sldId id="932" r:id="rId76"/>
    <p:sldId id="933" r:id="rId75"/>
    <p:sldId id="934" r:id="rId74"/>
    <p:sldId id="935" r:id="rId73"/>
    <p:sldId id="936" r:id="rId67"/>
    <p:sldId id="937" r:id="rId66"/>
    <p:sldId id="938" r:id="rId65"/>
    <p:sldId id="939" r:id="rId64"/>
    <p:sldId id="940" r:id="rId63"/>
    <p:sldId id="941" r:id="rId62"/>
    <p:sldId id="942" r:id="rId61"/>
    <p:sldId id="943" r:id="rId60"/>
    <p:sldId id="944" r:id="rId59"/>
    <p:sldId id="945" r:id="rId58"/>
    <p:sldId id="946" r:id="rId57"/>
    <p:sldId id="947" r:id="rId56"/>
    <p:sldId id="948" r:id="rId55"/>
    <p:sldId id="949" r:id="rId54"/>
    <p:sldId id="950" r:id="rId119"/>
    <p:sldId id="951" r:id="rId120"/>
    <p:sldId id="952" r:id="rId121"/>
    <p:sldId id="953" r:id="rId122"/>
    <p:sldId id="954" r:id="rId123"/>
    <p:sldId id="955" r:id="rId124"/>
    <p:sldId id="956" r:id="rId125"/>
    <p:sldId id="957" r:id="rId126"/>
    <p:sldId id="958" r:id="rId127"/>
    <p:sldId id="959" r:id="rId128"/>
    <p:sldId id="960" r:id="rId129"/>
    <p:sldId id="961" r:id="rId130"/>
    <p:sldId id="962" r:id="rId131"/>
    <p:sldId id="963" r:id="rId132"/>
    <p:sldId id="964" r:id="rId133"/>
    <p:sldId id="965" r:id="rId134"/>
    <p:sldId id="966" r:id="rId53"/>
    <p:sldId id="967" r:id="rId52"/>
    <p:sldId id="968" r:id="rId137"/>
    <p:sldId id="969" r:id="rId138"/>
    <p:sldId id="970" r:id="rId139"/>
    <p:sldId id="971" r:id="rId140"/>
    <p:sldId id="972" r:id="rId141"/>
    <p:sldId id="973" r:id="rId51"/>
    <p:sldId id="974" r:id="rId50"/>
    <p:sldId id="975" r:id="rId49"/>
    <p:sldId id="976" r:id="rId48"/>
    <p:sldId id="977" r:id="rId47"/>
    <p:sldId id="978" r:id="rId46"/>
    <p:sldId id="979" r:id="rId45"/>
    <p:sldId id="980" r:id="rId44"/>
    <p:sldId id="981" r:id="rId43"/>
    <p:sldId id="982" r:id="rId42"/>
    <p:sldId id="983" r:id="rId41"/>
    <p:sldId id="984" r:id="rId40"/>
    <p:sldId id="985" r:id="rId39"/>
    <p:sldId id="986" r:id="rId38"/>
    <p:sldId id="987" r:id="rId37"/>
    <p:sldId id="988" r:id="rId36"/>
    <p:sldId id="989" r:id="rId35"/>
    <p:sldId id="990" r:id="rId34"/>
    <p:sldId id="991" r:id="rId33"/>
    <p:sldId id="992" r:id="rId32"/>
    <p:sldId id="993" r:id="rId31"/>
    <p:sldId id="994" r:id="rId30"/>
    <p:sldId id="995" r:id="rId24"/>
    <p:sldId id="996" r:id="rId23"/>
    <p:sldId id="997" r:id="rId22"/>
    <p:sldId id="998" r:id="rId21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21" Type="http://schemas.openxmlformats.org/officeDocument/2006/relationships/slide" Target="slides/slide72.xml"/><Relationship Id="rId22" Type="http://schemas.openxmlformats.org/officeDocument/2006/relationships/slide" Target="slides/slide71.xml"/><Relationship Id="rId23" Type="http://schemas.openxmlformats.org/officeDocument/2006/relationships/slide" Target="slides/slide70.xml"/><Relationship Id="rId24" Type="http://schemas.openxmlformats.org/officeDocument/2006/relationships/slide" Target="slides/slide69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68.xml"/><Relationship Id="rId31" Type="http://schemas.openxmlformats.org/officeDocument/2006/relationships/slide" Target="slides/slide67.xml"/><Relationship Id="rId32" Type="http://schemas.openxmlformats.org/officeDocument/2006/relationships/slide" Target="slides/slide66.xml"/><Relationship Id="rId33" Type="http://schemas.openxmlformats.org/officeDocument/2006/relationships/slide" Target="slides/slide65.xml"/><Relationship Id="rId34" Type="http://schemas.openxmlformats.org/officeDocument/2006/relationships/slide" Target="slides/slide64.xml"/><Relationship Id="rId35" Type="http://schemas.openxmlformats.org/officeDocument/2006/relationships/slide" Target="slides/slide63.xml"/><Relationship Id="rId36" Type="http://schemas.openxmlformats.org/officeDocument/2006/relationships/slide" Target="slides/slide62.xml"/><Relationship Id="rId37" Type="http://schemas.openxmlformats.org/officeDocument/2006/relationships/slide" Target="slides/slide61.xml"/><Relationship Id="rId38" Type="http://schemas.openxmlformats.org/officeDocument/2006/relationships/slide" Target="slides/slide60.xml"/><Relationship Id="rId39" Type="http://schemas.openxmlformats.org/officeDocument/2006/relationships/slide" Target="slides/slide59.xml"/><Relationship Id="rId40" Type="http://schemas.openxmlformats.org/officeDocument/2006/relationships/slide" Target="slides/slide58.xml"/><Relationship Id="rId41" Type="http://schemas.openxmlformats.org/officeDocument/2006/relationships/slide" Target="slides/slide57.xml"/><Relationship Id="rId42" Type="http://schemas.openxmlformats.org/officeDocument/2006/relationships/slide" Target="slides/slide56.xml"/><Relationship Id="rId43" Type="http://schemas.openxmlformats.org/officeDocument/2006/relationships/slide" Target="slides/slide55.xml"/><Relationship Id="rId44" Type="http://schemas.openxmlformats.org/officeDocument/2006/relationships/slide" Target="slides/slide54.xml"/><Relationship Id="rId45" Type="http://schemas.openxmlformats.org/officeDocument/2006/relationships/slide" Target="slides/slide53.xml"/><Relationship Id="rId46" Type="http://schemas.openxmlformats.org/officeDocument/2006/relationships/slide" Target="slides/slide52.xml"/><Relationship Id="rId47" Type="http://schemas.openxmlformats.org/officeDocument/2006/relationships/slide" Target="slides/slide51.xml"/><Relationship Id="rId48" Type="http://schemas.openxmlformats.org/officeDocument/2006/relationships/slide" Target="slides/slide50.xml"/><Relationship Id="rId49" Type="http://schemas.openxmlformats.org/officeDocument/2006/relationships/slide" Target="slides/slide49.xml"/><Relationship Id="rId50" Type="http://schemas.openxmlformats.org/officeDocument/2006/relationships/slide" Target="slides/slide48.xml"/><Relationship Id="rId51" Type="http://schemas.openxmlformats.org/officeDocument/2006/relationships/slide" Target="slides/slide47.xml"/><Relationship Id="rId52" Type="http://schemas.openxmlformats.org/officeDocument/2006/relationships/slide" Target="slides/slide41.xml"/><Relationship Id="rId53" Type="http://schemas.openxmlformats.org/officeDocument/2006/relationships/slide" Target="slides/slide40.xml"/><Relationship Id="rId54" Type="http://schemas.openxmlformats.org/officeDocument/2006/relationships/slide" Target="slides/slide23.xml"/><Relationship Id="rId55" Type="http://schemas.openxmlformats.org/officeDocument/2006/relationships/slide" Target="slides/slide22.xml"/><Relationship Id="rId56" Type="http://schemas.openxmlformats.org/officeDocument/2006/relationships/slide" Target="slides/slide21.xml"/><Relationship Id="rId57" Type="http://schemas.openxmlformats.org/officeDocument/2006/relationships/slide" Target="slides/slide20.xml"/><Relationship Id="rId58" Type="http://schemas.openxmlformats.org/officeDocument/2006/relationships/slide" Target="slides/slide19.xml"/><Relationship Id="rId59" Type="http://schemas.openxmlformats.org/officeDocument/2006/relationships/slide" Target="slides/slide18.xml"/><Relationship Id="rId60" Type="http://schemas.openxmlformats.org/officeDocument/2006/relationships/slide" Target="slides/slide17.xml"/><Relationship Id="rId61" Type="http://schemas.openxmlformats.org/officeDocument/2006/relationships/slide" Target="slides/slide16.xml"/><Relationship Id="rId62" Type="http://schemas.openxmlformats.org/officeDocument/2006/relationships/slide" Target="slides/slide15.xml"/><Relationship Id="rId63" Type="http://schemas.openxmlformats.org/officeDocument/2006/relationships/slide" Target="slides/slide14.xml"/><Relationship Id="rId64" Type="http://schemas.openxmlformats.org/officeDocument/2006/relationships/slide" Target="slides/slide13.xml"/><Relationship Id="rId65" Type="http://schemas.openxmlformats.org/officeDocument/2006/relationships/slide" Target="slides/slide12.xml"/><Relationship Id="rId66" Type="http://schemas.openxmlformats.org/officeDocument/2006/relationships/slide" Target="slides/slide11.xml"/><Relationship Id="rId67" Type="http://schemas.openxmlformats.org/officeDocument/2006/relationships/slide" Target="slides/slide10.xml"/><Relationship Id="rId73" Type="http://schemas.openxmlformats.org/officeDocument/2006/relationships/slide" Target="slides/slide9.xml"/><Relationship Id="rId74" Type="http://schemas.openxmlformats.org/officeDocument/2006/relationships/slide" Target="slides/slide8.xml"/><Relationship Id="rId75" Type="http://schemas.openxmlformats.org/officeDocument/2006/relationships/slide" Target="slides/slide7.xml"/><Relationship Id="rId76" Type="http://schemas.openxmlformats.org/officeDocument/2006/relationships/slide" Target="slides/slide6.xml"/><Relationship Id="rId77" Type="http://schemas.openxmlformats.org/officeDocument/2006/relationships/slide" Target="slides/slide5.xml"/><Relationship Id="rId78" Type="http://schemas.openxmlformats.org/officeDocument/2006/relationships/slide" Target="slides/slide4.xml"/><Relationship Id="rId83" Type="http://schemas.openxmlformats.org/officeDocument/2006/relationships/slide" Target="slides/slide3.xml"/><Relationship Id="rId84" Type="http://schemas.openxmlformats.org/officeDocument/2006/relationships/slide" Target="slides/slide2.xml"/><Relationship Id="rId96" Type="http://schemas.openxmlformats.org/officeDocument/2006/relationships/slide" Target="slides/slide1.xml"/><Relationship Id="rId119" Type="http://schemas.openxmlformats.org/officeDocument/2006/relationships/slide" Target="slides/slide24.xml"/><Relationship Id="rId120" Type="http://schemas.openxmlformats.org/officeDocument/2006/relationships/slide" Target="slides/slide25.xml"/><Relationship Id="rId121" Type="http://schemas.openxmlformats.org/officeDocument/2006/relationships/slide" Target="slides/slide26.xml"/><Relationship Id="rId122" Type="http://schemas.openxmlformats.org/officeDocument/2006/relationships/slide" Target="slides/slide27.xml"/><Relationship Id="rId123" Type="http://schemas.openxmlformats.org/officeDocument/2006/relationships/slide" Target="slides/slide28.xml"/><Relationship Id="rId124" Type="http://schemas.openxmlformats.org/officeDocument/2006/relationships/slide" Target="slides/slide29.xml"/><Relationship Id="rId125" Type="http://schemas.openxmlformats.org/officeDocument/2006/relationships/slide" Target="slides/slide30.xml"/><Relationship Id="rId126" Type="http://schemas.openxmlformats.org/officeDocument/2006/relationships/slide" Target="slides/slide31.xml"/><Relationship Id="rId127" Type="http://schemas.openxmlformats.org/officeDocument/2006/relationships/slide" Target="slides/slide32.xml"/><Relationship Id="rId128" Type="http://schemas.openxmlformats.org/officeDocument/2006/relationships/slide" Target="slides/slide33.xml"/><Relationship Id="rId129" Type="http://schemas.openxmlformats.org/officeDocument/2006/relationships/slide" Target="slides/slide34.xml"/><Relationship Id="rId130" Type="http://schemas.openxmlformats.org/officeDocument/2006/relationships/slide" Target="slides/slide35.xml"/><Relationship Id="rId131" Type="http://schemas.openxmlformats.org/officeDocument/2006/relationships/slide" Target="slides/slide36.xml"/><Relationship Id="rId132" Type="http://schemas.openxmlformats.org/officeDocument/2006/relationships/slide" Target="slides/slide37.xml"/><Relationship Id="rId133" Type="http://schemas.openxmlformats.org/officeDocument/2006/relationships/slide" Target="slides/slide38.xml"/><Relationship Id="rId134" Type="http://schemas.openxmlformats.org/officeDocument/2006/relationships/slide" Target="slides/slide39.xml"/><Relationship Id="rId137" Type="http://schemas.openxmlformats.org/officeDocument/2006/relationships/slide" Target="slides/slide42.xml"/><Relationship Id="rId138" Type="http://schemas.openxmlformats.org/officeDocument/2006/relationships/slide" Target="slides/slide43.xml"/><Relationship Id="rId139" Type="http://schemas.openxmlformats.org/officeDocument/2006/relationships/slide" Target="slides/slide44.xml"/><Relationship Id="rId140" Type="http://schemas.openxmlformats.org/officeDocument/2006/relationships/slide" Target="slides/slide45.xml"/><Relationship Id="rId141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diag_001_tarefas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diag_002_pegar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diag_003_pegar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diag_004_canvas_p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diag_005_canvas_p0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diag_006_canvas_p1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diag_007_canvas_p2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diag_008_canvas_p3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diag_009_canvas_p4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diag_010_canvas_p5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diag_011_canvas_p6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diag_012_canvas_p7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diag_013_canvas_p8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diag_014_canvas_p9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6.png"/><Relationship Id="rId5" Type="http://schemas.openxmlformats.org/officeDocument/2006/relationships/image" Target="../media/diag_015_canvas_full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diag_016_fluxo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5" Type="http://schemas.openxmlformats.org/officeDocument/2006/relationships/image" Target="../media/diag_017_enc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diag_018_encm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14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Sprint 1: Descoberta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30/10/2026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07:30 - 07:50  Sprint Planning: objetivo da sprint e cada dev pega a sua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07:50 - 08:25  Business Model Canvas: os 9 blocos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08:25 - 08:40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08:40 - 09:20  Exemplo guiado: o Canvas do TechBurger, bloco a bloco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09:20 - 10:10  Preparar as perguntas e entrevistar a cliente (8 minutos por squad)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10:10 - 10:20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10:20 - 11:30  Encontre os problemas, daily, mão na massa, Sprint Review e retrospectiva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Descoberta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Entender o negócio antes de construir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 Fernanda pedisse só “um app de pedidos”, vocês já saberiam o que construir?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acontece se o time programar o que ACHA que a cliente quer?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conhece as regras do TechBurger: o time ou a cliente?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perguntas vocês fariam para não errar o seu módulo?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entender o negócio (Canvas), ouvir a cliente (entrevista) e registrar os requisitos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SPRINT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que entra na 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20 minutos para combinar a sprint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Objetivo da 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Entender o negócio do TechBurger antes de construir qualquer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Montar juntos o Business Model Canvas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Entrevistar a cliente: cada squad pergunta sobre o seu módulo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dev registra UMA parte do seu módulo: entrevista, regras, RF ou RNF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Entrega: um pull request por dev, até o fim da aula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19 tarefas da Sprint 1</a:t>
            </a:r>
          </a:p>
        </p:txBody>
      </p:sp>
      <p:pic>
        <p:nvPicPr>
          <p:cNvPr id="12" name="Picture 11" descr="tarefas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508407"/>
            <a:ext cx="16400000" cy="5333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Minha tarefa: o portal mostra o seu próximo passo</a:t>
            </a:r>
          </a:p>
        </p:txBody>
      </p:sp>
      <p:pic>
        <p:nvPicPr>
          <p:cNvPr id="12" name="Picture 11" descr="cap_sprint_to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537" y="2900000"/>
            <a:ext cx="790692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Depois de pegar: o botão Editar abre o seu arquivo</a:t>
            </a:r>
          </a:p>
        </p:txBody>
      </p:sp>
      <p:pic>
        <p:nvPicPr>
          <p:cNvPr id="12" name="Picture 11" descr="cap_sprint_carto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052349"/>
            <a:ext cx="16400000" cy="6245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Pegar a sua tarefa (1 de 2): comentar /eu-pego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Em Minha tarefa, digite o seu usuário do GitHub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Numa tarefa Livre do SEU squad, clique em Pegar esta tarefa: o /eu-pego já fica copiado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Na Issue, cole (Ctrl+V) no comentário e clique em Comment</a:t>
            </a:r>
          </a:p>
        </p:txBody>
      </p:sp>
      <p:pic>
        <p:nvPicPr>
          <p:cNvPr id="13" name="Picture 11" descr="pegar1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Pegar a sua tarefa (2 de 2): o robô responde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Em alguns segundos, o robô do time responde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 tarefa fica com você, e a resposta traz o link para editar o arquivo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Ele recusa se a tarefa tem dono, é de outro squad ou você já tem outra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Mudou de ideia? Comente /largar</a:t>
            </a:r>
          </a:p>
        </p:txBody>
      </p:sp>
      <p:pic>
        <p:nvPicPr>
          <p:cNvPr id="13" name="Picture 11" descr="pegar2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Regras da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 tarefa por dev: todo mundo sai da planning com UMA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squad combina entre si quem faz o quê (2 minutos) e depois comenta /eu-pego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Squad Cliente tem 3 devs: uma das tarefas junta entrevista e regras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participam da entrevista e anotam - mas só um registra no entrevista.md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conta ou sem card no portal? Fale com o professor agora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DESCOBERTA · PARTE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Business Model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negócio inteiro em uma página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o dev precisa entender o negócio?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Software existe para resolver um problema do negócio, não para ser bonito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entende o negócio faz as perguntas certas na entrevista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sem saber que o TechBurger perde dinheiro com pedido não pago, ninguém pensa na Regra 3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Canvas mostra o negócio numa folha só: cliente, valor, canais, dinheiro, operação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Criado por Alexander Osterwalder; muito usado em startups e empresas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grade do Canvas: 9 blocos</a:t>
            </a:r>
          </a:p>
        </p:txBody>
      </p:sp>
      <p:pic>
        <p:nvPicPr>
          <p:cNvPr id="12" name="Picture 11" descr="canvas_p0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306" y="2900000"/>
            <a:ext cx="11549387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ler a 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Lado DIREITO: o cliente - quem é, como chega até ele, como se relaciona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CENTRO: a proposta de valor - por que o cliente escolhe você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Lado ESQUERDO: a operação - recursos, atividades e parceiros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EMBAIXO: o dinheiro - custos à esquerda, receitas à direita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para preencher: cliente → valor → canais e relação → receita → operação → custos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1 · Segmentos de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PARA QUEM o negócio cria valor?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Grupos de pessoas com necessidades parecidas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Seja específico: “todo mundo” não é segmento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daqui nasce a persona (Aula 10)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2 · Proposta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POR QUE o cliente escolhe você, e não o concorrente?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problema resolve? Que ganho entrega?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Evite o genérico: “qualidade” e “bom atendimento” todo mundo diz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as funcionalidades principais vêm daqui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3 · Canais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COMO a proposta chega até o cliente?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Divulgação, venda e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Canal NÃO é relacionamento: canal é o caminho, relacionamento é o vínculo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o próprio app é um canal novo do TechBurger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4 · Relacionamento com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que RELAÇÃO o negócio mantém com cada cliente?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Atendimento pessoal, autoatendimento, comunidade, fidelidade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faz o cliente VOLTAR?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fidelidade e status do pedido (Squads Cliente e Cozinha)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5 · Fontes de 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COMO o negócio ganha dinheiro?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o cliente paga, quanto e de que forma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formas de pagamento também entram aqui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Regras 1 e 4 - pedido mínimo e desconto no PIX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6 · Recursos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o que o negócio PRECISA TER para funcionar?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Físicos, humanos, intelectuais e tecnológicos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Teste: se faltar isso, o negócio para?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o próprio app passa a ser um recurso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7 · Atividades-chave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o que o negócio PRECISA FAZER bem, todo dia?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Produzir, vender, entregar, resolver problemas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São verbos: preparar, entregar, atualizar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viram processos - diagrama de atividades (Aula 7)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8 · Parcerias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QUEM ajuda o negócio de fora?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Fornecedores e outras empresas que fazem parte do trabalho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Comprar fora o que não é o forte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os sistemas externos da Aula 11 - gateway de pagamento, mapas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9 · Estrutura de custos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QUANTO custa fazer tudo isso funcionar?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Sai dos recursos, das atividades e das parcerias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é o último bloco a preencher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app: a taxa do gateway por pedido é um custo do negócio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Canvas do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Todos juntos, bloco a bloco, no draw.io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9: a grade vazia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Abram “Aula 14 - Canvas TechBurger (ponto de partida).drawio”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bloco tem o número da ordem e a pergunta que ele responde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professor preenche no projetor; a turma dita as respostas</a:t>
            </a:r>
          </a:p>
        </p:txBody>
      </p:sp>
      <p:pic>
        <p:nvPicPr>
          <p:cNvPr id="13" name="Picture 11" descr="canvas_p0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36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9: segmentos de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Para quem o TechBurger cria valor?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Lembrem da entrega até 5 km (Regra 5) e da persona da Aula 10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Clientes fiéis também são um grupo: existem por causa da fidelidade</a:t>
            </a:r>
          </a:p>
        </p:txBody>
      </p:sp>
      <p:pic>
        <p:nvPicPr>
          <p:cNvPr id="13" name="Picture 11" descr="canvas_p1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098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9: proposta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Por que o cliente escolhe o TechBurger?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Nada de “qualidade”: o que é concreto? 4 toques, desconto PIX, combo grátis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Acompanhar o pedido em tempo real também é valor (heurística 1, Aula 10)</a:t>
            </a:r>
          </a:p>
        </p:txBody>
      </p:sp>
      <p:pic>
        <p:nvPicPr>
          <p:cNvPr id="13" name="Picture 11" descr="canvas_p2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74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9: canais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Como o TechBurger chega até o cliente?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app que vamos construir é um CANAL novo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entrega própria também é canal: a proposta chega quente na casa do cliente</a:t>
            </a:r>
          </a:p>
        </p:txBody>
      </p:sp>
      <p:pic>
        <p:nvPicPr>
          <p:cNvPr id="13" name="Picture 11" descr="canvas_p3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363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9: relacionamento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faz o cliente voltar?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Fidelidade (Regra 2), status do pedido, atendimento no balcão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Avaliar o pedido mostra que a opinião do cliente importa</a:t>
            </a:r>
          </a:p>
        </p:txBody>
      </p:sp>
      <p:pic>
        <p:nvPicPr>
          <p:cNvPr id="13" name="Picture 11" descr="canvas_p4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74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9: fontes de 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Como o TechBurger ganha dinheiro?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Venda dos itens + taxa de entrega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Formas de pagamento e o pedido mínimo (Regra 1) também entram aqui</a:t>
            </a:r>
          </a:p>
        </p:txBody>
      </p:sp>
      <p:pic>
        <p:nvPicPr>
          <p:cNvPr id="13" name="Picture 11" descr="canvas_p5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871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9: recursos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o TechBurger precisa TER para funcionar?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Cozinha, receitas, equipe e entregadores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app e o painel da cozinha passam a ser recursos</a:t>
            </a:r>
          </a:p>
        </p:txBody>
      </p:sp>
      <p:pic>
        <p:nvPicPr>
          <p:cNvPr id="13" name="Picture 11" descr="canvas_p6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363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7 de 9: atividades-chave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o TechBurger precisa FAZER bem todo dia?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Verbos: preparar, entregar, atualizar o cardápio, confirmar pagamentos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atividade vira um processo: diagrama de atividades (Aula 7)</a:t>
            </a:r>
          </a:p>
        </p:txBody>
      </p:sp>
      <p:pic>
        <p:nvPicPr>
          <p:cNvPr id="13" name="Picture 11" descr="canvas_p7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74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8 de 9: parcerias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Quem ajuda o TechBurger de fora?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Fornecedores de ingredientes e embalagens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Os sistemas externos da Aula 11: gateway de pagamento e serviço de mapas</a:t>
            </a:r>
          </a:p>
        </p:txBody>
      </p:sp>
      <p:pic>
        <p:nvPicPr>
          <p:cNvPr id="13" name="Picture 11" descr="canvas_p8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9312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9 de 9: estrutura de custos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53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Quanto custa fazer tudo isso funcionar?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Olhem para a esquerda do Canvas: cada recurso, atividade e parceria custa algo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taxa do gateway por pedido é custo: por isso o PIX tem desconto</a:t>
            </a:r>
          </a:p>
        </p:txBody>
      </p:sp>
      <p:pic>
        <p:nvPicPr>
          <p:cNvPr id="13" name="Picture 11" descr="canvas_p9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0" y="2850000"/>
            <a:ext cx="11450000" cy="648934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Canvas do TechBurger completo</a:t>
            </a:r>
          </a:p>
        </p:txBody>
      </p:sp>
      <p:pic>
        <p:nvPicPr>
          <p:cNvPr id="12" name="Picture 11" descr="canvas_full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306" y="2900000"/>
            <a:ext cx="11549387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Do Canvas ao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que o Canvas muda no nosso trabalho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Canvas e os squads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Proposta (4 toques, desconto PIX, combo grátis) → Cardápio, Carrinho, Pagamento e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 (fidelidade, status em tempo real) → Cliente e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Receitas (PIX, cartão, taxa de entrega, mínimo) → Pagamento, Carrinho e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Parcerias (gateway, mapas) → as integrações da Aula 11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 (preparar, entregar) → Cozinha e os fluxos da Sprint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 -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Canvas diz POR QUE o app existe; a entrevista diz O QUE ele precisa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bloco gera perguntas: “taxa de entrega” → quanto custa? quem paga? até onde?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Bloco sem resposta clara = pergunta para a Fernanda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Canvas vai para docs/canvas/ (o professor publica depois da aula)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DESCOBERTA · PARTE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entrevista com a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Cada squad pergunta sobre o seu módulo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entrevistar a cliente (Aula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Entrevista: a técnica certa quando há poucas pessoas e o assunto é complexo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 aberto (“Como funciona hoje...?”) e depois feche (“Quanto?”, “Quantos?”)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Pergunte pela exceção: “E quando não dá?”, “Tem caso em que isso não vale?”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Peça números - tempo, quantidade, valor: eles viram RNF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 com as palavras da cliente; não interprete na hora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 boa x pergunta ruim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Boa (abre a conversa)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“Como o pedido chega na cozinha?”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“Qual o mínimo? E no balcão?”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“Quanto tempo o cliente espera?”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“E se faltar um ingrediente?”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Ruim (não ensina nada)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app tem que ser bom, né?”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“Vai ter carrinho?”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“Pode ser rápido?”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“Você quer um banco de dados?”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partida (1 de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Squad Cardápio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Quais são as categorias do cardápio?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que cada produto precisa mostrar?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Quem muda o preço? Com que frequência?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 quando acaba um ingrediente?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Squad Carrinho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Tem valor mínimo para pedir? E no balcão?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Pode mudar a quantidade e pôr observação?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que fazer com um pedido muito grande?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carrinho fica guardado se fechar o app?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partida (2 de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Squad Pagamento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Quais formas de pagamento no app?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desconto do PIX vale sobre o quê?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Quanto tempo o cliente tem para pagar?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Quando a cozinha pode começar?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Squad Cozinha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Como o pedido chega na cozinha hoje?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Quais são as etapas de um pedido?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Quanto tempo leva o preparo?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que é um pedido atrasado?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partida (3 de 3) · Squad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dados do cliente a loja precisa?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funciona a fidelidade? Os pontos vencem?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Até onde entrega? Quanto custa?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acontece com quem cancela muito?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squad completa com mais 2 perguntas suas: 6 no total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vai funcionar a entrevista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 minutos: cada squad prepara 6 perguntas (as de partida + 2 suas)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8 minutos por squad: o squad pergunta, a Fernanda (o professor) responde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turma toda ouve - uma resposta pode servir a outro squad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pegou a tarefa de entrevista registra no entrevista.md; os outros anotam também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Ordem: Cardápio, Carrinho, Pagamento, Cozinha, Cliente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 resposta da cliente ao requisito</a:t>
            </a:r>
          </a:p>
        </p:txBody>
      </p:sp>
      <p:pic>
        <p:nvPicPr>
          <p:cNvPr id="12" name="Picture 11" descr="flux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5148724"/>
            <a:ext cx="16400000" cy="205255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negócio: condição, ação, exceção (Aula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Ouça o “se... então” na fala da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RN-CAR-01 · Condição: total dos itens abaixo de R$ 15,00, no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Ação: impedir a finalização e mostrar quanto falta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Exceção: no balcão não há valor mínimo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Origem: entrevista, pergunta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Requisito funcional: “O sistema deve...” (Aula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coisa só por linha, sempre começando com “O sistema deve”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RF-CAR-03 · O sistema deve impedir a finalização de pedidos abaixo de R$ 15,00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RF-CAR-04 · O sistema deve mostrar quanto falta para o valor mínimo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Origem: RN-CAR-01 · Prioridade MoSCoW: Must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regra vira pelo menos um RF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Requisito não funcional: qualidade com número (Aula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Categoria + qualidade + um número que dá para medir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RNF-CAR-01 · Desempenho: o total atualiza em até 1 segundo depois de mudar um item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RNF-CAR-02 · Usabilidade: o aviso do mínimo aparece sem precisar rolar a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medir: cronômetro; teste no celular com 5 itens no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“Rápido”, “bonito”, “fácil” sem número não é RNF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4 arquivos de cada squad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entrevista.md - perguntas e respostas, com os números da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regras.md - regras RN no formato condição / ação / exceção, com a origem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rf.md - tabela com ID, requisito, origem e prioridade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rnf.md - tabela com ID, categoria, requisito com número e como medir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modelos já estão no repositório, em docs/requisitos/&lt;squad&gt;/: é só preencher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rf.md do 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6 problemas, antes de escrever o seu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estagiário abriu um pull request com o rf.md do Squad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Em duplas, achem os 6 problemas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Para cada um: o que está errado e qual formato da Aula 1 ou 2 ele quebra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Tempo: 5 minutos; depois, correção rápida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pic>
        <p:nvPicPr>
          <p:cNvPr id="12" name="Picture 11" descr="enc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727" y="2900000"/>
            <a:ext cx="1627254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problemas marcados</a:t>
            </a:r>
          </a:p>
        </p:txBody>
      </p:sp>
      <p:pic>
        <p:nvPicPr>
          <p:cNvPr id="12" name="Picture 11" descr="encm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727" y="2900000"/>
            <a:ext cx="1627254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 (1 a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“O sistema deve ser rápido” é uma qualidade, sem número: é RNF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Mover para o rnf.md: “RNF-CAR-01 · Desempenho: o total atualiza em até 1 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Duas coisas numa linha, e pagar com PIX é do Squad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Só “O sistema deve permitir adicionar itens ao carrinho”; o PIX fica com o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“Carrinho com o total” não está no formato “O sistema deve...”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“O sistema deve mostrar o total do carrinho, sempre visível”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 (4 a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Sem origem: não dá para saber de onde veio o requisito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Origem: RN-CAR-01 (pedido mínimo, entrevista pergunta 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“Muitos itens” é vago: quantos são “muitos”?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“...quando o pedido tiver mais de 10 itens” (Regra 7)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ID repetido: dois requisitos com o mesmo número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Renumerar: o segundo vira RF-CAR-06 (IDs nunca se repetem)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Cada dev, o seu arquivo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35 minutos para escrever e abrir o pull request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Daily rápida (5 minutos)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squad, em pé: cada dev diz em uma frase qual é a sua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diz se tem algum bloqueio (ex.: “não anotei a resposta da pergunta 4”)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Bloqueio de informação? O squad todo anotou: perguntem ao colega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Tech Lead do squad confere: todo mundo tem tarefa?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a passo da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Em Minha tarefa, clique em Editar (o arquivo da tarefa abre no GitHub)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Pediu fork? Você já tem um (Sprint 0); senão: Começar › 1. Criar o meu fork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Preencha seguindo o modelo do próprio arquivo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Commit changes... › mensagem “Registra regras do carrinho” › Propose changes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Create pull request com Closes #número e confira: o PR aparece em Pull requests e o robô responde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antes de abrir o pull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Segui o formato (condição/ação/exceção, “O sistema deve...”, número no RNF)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item tem ID e origem; nenhum ID repetido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coisa por linha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mexi no MEU arquivo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Nada de dado pessoal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SPRINT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que ficou pronto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Cada squad mostra os seus requisitos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vai ser a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squad tem 3 minutos: mostra na tela o PR de cada dev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PO (professor) confere o critério de aceite de cada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Aceito: o professor aprova e faz o merge - a tarefa vai para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Faltou algo: o professor comenta no PR, e o ajuste é feito na mesma branch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terminou? Entregue de casa até o início da Sprint 2 (05/11)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Retrospectiva (5 minutos)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funcionou nesta sprint?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atrapalhou?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UMA coisa vamos mudar na Sprint 2?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squad dá uma resposta; o professor registra na Issue da retrospectiva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na descoberta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Escrever o que o time ACHA, e não o que a cliente disse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de perguntar pela exceção - a regra fica pela metade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 sem número (“rápido”, “seguro”) - não dá para testar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 com duas coisas na mesma linha, ou com coisa de outro squad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 sem origem: ninguém sabe de onde veio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Proposta de valor genérica no Canvas (“qualidade”)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da Sprint 2 (05/11)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 da Sprint 1 aberto, ajustado e aceito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Ler os requisitos dos colegas do seu squad: vocês vão precisar deles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Rever a Aula 4 (casos de uso) e a história de usuário (Aula 13)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Sprint 2 transforma estes requisitos em histórias e casos de uso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Business Model Canvas - o modelo de negócio em uma página, com 9 blocos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Proposta de valor - por que o cliente escolhe 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Descoberta - a fase de entender o problema antes de construir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Entrevista - técnica de levantamento: perguntas abertas, números e exceções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 / RF / RNF - regra de negócio / requisito funcional / não funcional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Origem - de onde veio o item (pergunta da entrevista ou regra)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/eu-pego e /largar - comandos para pegar e devolver uma tarefa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Para que serve o Business Model Canvas num projeto de software?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a diferença entre Canais e Relacionamento no Canvas? Dê um exemplo do TechBurger para cada.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Por que a Estrutura de custos é o último bloco a ser preenchido?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Na entrevista, por que perguntar pela exceção (“e quando não dá?”)?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Transforme a fala “a gente só entrega até 5 km; mais longe, o cliente busca” em regra, RF e RNF.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Por que cada dev da Sprint 1 cuida de um arquivo diferente?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Em que bloco do Canvas entra “gateway de pagamento”?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“O app deve ser bonito” é um bom RNF?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Que comando, num comentário da Issue, faz o robô devolver a tarefa?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que significa a sigla RN-PAG-02?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 a sua tarefa não ficou pronta na aula, até quando você pode entregar?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Sprint Planning: o objetivo da sprint e como pegar a tarefa no portal (/eu-pego)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Business Model Canvas: os 9 blocos e o Canvas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entrevista com a cliente: perguntas abertas, números e exceções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 fala da cliente ao requisito: regra, RF e RNF, com ID e origem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entrega por pull request, a Sprint Review e a retrospectiva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