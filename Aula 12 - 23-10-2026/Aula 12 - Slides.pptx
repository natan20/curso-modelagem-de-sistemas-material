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iag_001_dado.svg" ContentType="image/svg+xml"/>
  <Override PartName="/ppt/media/diag_002_classe.svg" ContentType="image/svg+xml"/>
  <Override PartName="/ppt/media/diag_003_checklist.svg" ContentType="image/svg+xml"/>
  <Override PartName="/ppt/media/diag_004_checklist.svg" ContentType="image/svg+xml"/>
  <Override PartName="/ppt/media/diag_005_revdados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927" r:id="rId96"/>
    <p:sldId id="928" r:id="rId84"/>
    <p:sldId id="929" r:id="rId83"/>
    <p:sldId id="930" r:id="rId78"/>
    <p:sldId id="931" r:id="rId77"/>
    <p:sldId id="932" r:id="rId76"/>
    <p:sldId id="933" r:id="rId75"/>
    <p:sldId id="934" r:id="rId74"/>
    <p:sldId id="935" r:id="rId73"/>
    <p:sldId id="936" r:id="rId67"/>
    <p:sldId id="937" r:id="rId66"/>
    <p:sldId id="939" r:id="rId64"/>
    <p:sldId id="940" r:id="rId63"/>
    <p:sldId id="941" r:id="rId62"/>
    <p:sldId id="944" r:id="rId59"/>
    <p:sldId id="945" r:id="rId58"/>
    <p:sldId id="946" r:id="rId57"/>
    <p:sldId id="947" r:id="rId56"/>
    <p:sldId id="950" r:id="rId119"/>
    <p:sldId id="951" r:id="rId120"/>
    <p:sldId id="952" r:id="rId121"/>
    <p:sldId id="953" r:id="rId122"/>
    <p:sldId id="954" r:id="rId123"/>
    <p:sldId id="955" r:id="rId124"/>
    <p:sldId id="956" r:id="rId125"/>
    <p:sldId id="957" r:id="rId126"/>
    <p:sldId id="958" r:id="rId127"/>
    <p:sldId id="959" r:id="rId128"/>
    <p:sldId id="960" r:id="rId129"/>
    <p:sldId id="961" r:id="rId130"/>
    <p:sldId id="962" r:id="rId131"/>
    <p:sldId id="963" r:id="rId132"/>
    <p:sldId id="964" r:id="rId133"/>
    <p:sldId id="965" r:id="rId134"/>
    <p:sldId id="966" r:id="rId53"/>
    <p:sldId id="967" r:id="rId52"/>
    <p:sldId id="968" r:id="rId137"/>
    <p:sldId id="969" r:id="rId138"/>
    <p:sldId id="970" r:id="rId139"/>
    <p:sldId id="971" r:id="rId140"/>
    <p:sldId id="972" r:id="rId141"/>
    <p:sldId id="973" r:id="rId51"/>
    <p:sldId id="974" r:id="rId50"/>
    <p:sldId id="975" r:id="rId49"/>
    <p:sldId id="976" r:id="rId48"/>
    <p:sldId id="977" r:id="rId47"/>
    <p:sldId id="978" r:id="rId46"/>
    <p:sldId id="979" r:id="rId45"/>
    <p:sldId id="980" r:id="rId44"/>
    <p:sldId id="981" r:id="rId43"/>
    <p:sldId id="982" r:id="rId42"/>
    <p:sldId id="983" r:id="rId41"/>
    <p:sldId id="984" r:id="rId40"/>
    <p:sldId id="985" r:id="rId39"/>
    <p:sldId id="986" r:id="rId38"/>
    <p:sldId id="987" r:id="rId37"/>
    <p:sldId id="988" r:id="rId36"/>
    <p:sldId id="989" r:id="rId35"/>
    <p:sldId id="990" r:id="rId34"/>
    <p:sldId id="991" r:id="rId33"/>
    <p:sldId id="992" r:id="rId32"/>
    <p:sldId id="993" r:id="rId31"/>
    <p:sldId id="1007" r:id="rId16"/>
    <p:sldId id="1008" r:id="rId15"/>
    <p:sldId id="1009" r:id="rId178"/>
    <p:sldId id="1010" r:id="rId179"/>
    <p:sldId id="1011" r:id="rId180"/>
    <p:sldId id="1012" r:id="rId181"/>
    <p:sldId id="1013" r:id="rId14"/>
    <p:sldId id="1014" r:id="rId13"/>
    <p:sldId id="1015" r:id="rId12"/>
    <p:sldId id="1016" r:id="rId185"/>
    <p:sldId id="1017" r:id="rId186"/>
    <p:sldId id="1018" r:id="rId187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2" Type="http://schemas.openxmlformats.org/officeDocument/2006/relationships/slide" Target="slides/slide71.xml"/><Relationship Id="rId13" Type="http://schemas.openxmlformats.org/officeDocument/2006/relationships/slide" Target="slides/slide70.xml"/><Relationship Id="rId14" Type="http://schemas.openxmlformats.org/officeDocument/2006/relationships/slide" Target="slides/slide69.xml"/><Relationship Id="rId15" Type="http://schemas.openxmlformats.org/officeDocument/2006/relationships/slide" Target="slides/slide64.xml"/><Relationship Id="rId16" Type="http://schemas.openxmlformats.org/officeDocument/2006/relationships/slide" Target="slides/slide63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1" Type="http://schemas.openxmlformats.org/officeDocument/2006/relationships/slide" Target="slides/slide62.xml"/><Relationship Id="rId32" Type="http://schemas.openxmlformats.org/officeDocument/2006/relationships/slide" Target="slides/slide61.xml"/><Relationship Id="rId33" Type="http://schemas.openxmlformats.org/officeDocument/2006/relationships/slide" Target="slides/slide60.xml"/><Relationship Id="rId34" Type="http://schemas.openxmlformats.org/officeDocument/2006/relationships/slide" Target="slides/slide59.xml"/><Relationship Id="rId35" Type="http://schemas.openxmlformats.org/officeDocument/2006/relationships/slide" Target="slides/slide58.xml"/><Relationship Id="rId36" Type="http://schemas.openxmlformats.org/officeDocument/2006/relationships/slide" Target="slides/slide57.xml"/><Relationship Id="rId37" Type="http://schemas.openxmlformats.org/officeDocument/2006/relationships/slide" Target="slides/slide56.xml"/><Relationship Id="rId38" Type="http://schemas.openxmlformats.org/officeDocument/2006/relationships/slide" Target="slides/slide55.xml"/><Relationship Id="rId39" Type="http://schemas.openxmlformats.org/officeDocument/2006/relationships/slide" Target="slides/slide54.xml"/><Relationship Id="rId40" Type="http://schemas.openxmlformats.org/officeDocument/2006/relationships/slide" Target="slides/slide53.xml"/><Relationship Id="rId41" Type="http://schemas.openxmlformats.org/officeDocument/2006/relationships/slide" Target="slides/slide52.xml"/><Relationship Id="rId42" Type="http://schemas.openxmlformats.org/officeDocument/2006/relationships/slide" Target="slides/slide51.xml"/><Relationship Id="rId43" Type="http://schemas.openxmlformats.org/officeDocument/2006/relationships/slide" Target="slides/slide50.xml"/><Relationship Id="rId44" Type="http://schemas.openxmlformats.org/officeDocument/2006/relationships/slide" Target="slides/slide49.xml"/><Relationship Id="rId45" Type="http://schemas.openxmlformats.org/officeDocument/2006/relationships/slide" Target="slides/slide48.xml"/><Relationship Id="rId46" Type="http://schemas.openxmlformats.org/officeDocument/2006/relationships/slide" Target="slides/slide47.xml"/><Relationship Id="rId47" Type="http://schemas.openxmlformats.org/officeDocument/2006/relationships/slide" Target="slides/slide46.xml"/><Relationship Id="rId48" Type="http://schemas.openxmlformats.org/officeDocument/2006/relationships/slide" Target="slides/slide45.xml"/><Relationship Id="rId49" Type="http://schemas.openxmlformats.org/officeDocument/2006/relationships/slide" Target="slides/slide44.xml"/><Relationship Id="rId50" Type="http://schemas.openxmlformats.org/officeDocument/2006/relationships/slide" Target="slides/slide43.xml"/><Relationship Id="rId51" Type="http://schemas.openxmlformats.org/officeDocument/2006/relationships/slide" Target="slides/slide42.xml"/><Relationship Id="rId52" Type="http://schemas.openxmlformats.org/officeDocument/2006/relationships/slide" Target="slides/slide36.xml"/><Relationship Id="rId53" Type="http://schemas.openxmlformats.org/officeDocument/2006/relationships/slide" Target="slides/slide35.xml"/><Relationship Id="rId56" Type="http://schemas.openxmlformats.org/officeDocument/2006/relationships/slide" Target="slides/slide18.xml"/><Relationship Id="rId57" Type="http://schemas.openxmlformats.org/officeDocument/2006/relationships/slide" Target="slides/slide17.xml"/><Relationship Id="rId58" Type="http://schemas.openxmlformats.org/officeDocument/2006/relationships/slide" Target="slides/slide16.xml"/><Relationship Id="rId59" Type="http://schemas.openxmlformats.org/officeDocument/2006/relationships/slide" Target="slides/slide15.xml"/><Relationship Id="rId62" Type="http://schemas.openxmlformats.org/officeDocument/2006/relationships/slide" Target="slides/slide14.xml"/><Relationship Id="rId63" Type="http://schemas.openxmlformats.org/officeDocument/2006/relationships/slide" Target="slides/slide13.xml"/><Relationship Id="rId64" Type="http://schemas.openxmlformats.org/officeDocument/2006/relationships/slide" Target="slides/slide12.xml"/><Relationship Id="rId66" Type="http://schemas.openxmlformats.org/officeDocument/2006/relationships/slide" Target="slides/slide11.xml"/><Relationship Id="rId67" Type="http://schemas.openxmlformats.org/officeDocument/2006/relationships/slide" Target="slides/slide10.xml"/><Relationship Id="rId73" Type="http://schemas.openxmlformats.org/officeDocument/2006/relationships/slide" Target="slides/slide9.xml"/><Relationship Id="rId74" Type="http://schemas.openxmlformats.org/officeDocument/2006/relationships/slide" Target="slides/slide8.xml"/><Relationship Id="rId75" Type="http://schemas.openxmlformats.org/officeDocument/2006/relationships/slide" Target="slides/slide7.xml"/><Relationship Id="rId76" Type="http://schemas.openxmlformats.org/officeDocument/2006/relationships/slide" Target="slides/slide6.xml"/><Relationship Id="rId77" Type="http://schemas.openxmlformats.org/officeDocument/2006/relationships/slide" Target="slides/slide5.xml"/><Relationship Id="rId78" Type="http://schemas.openxmlformats.org/officeDocument/2006/relationships/slide" Target="slides/slide4.xml"/><Relationship Id="rId83" Type="http://schemas.openxmlformats.org/officeDocument/2006/relationships/slide" Target="slides/slide3.xml"/><Relationship Id="rId84" Type="http://schemas.openxmlformats.org/officeDocument/2006/relationships/slide" Target="slides/slide2.xml"/><Relationship Id="rId96" Type="http://schemas.openxmlformats.org/officeDocument/2006/relationships/slide" Target="slides/slide1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Relationship Id="rId128" Type="http://schemas.openxmlformats.org/officeDocument/2006/relationships/slide" Target="slides/slide28.xml"/><Relationship Id="rId129" Type="http://schemas.openxmlformats.org/officeDocument/2006/relationships/slide" Target="slides/slide29.xml"/><Relationship Id="rId130" Type="http://schemas.openxmlformats.org/officeDocument/2006/relationships/slide" Target="slides/slide30.xml"/><Relationship Id="rId131" Type="http://schemas.openxmlformats.org/officeDocument/2006/relationships/slide" Target="slides/slide31.xml"/><Relationship Id="rId132" Type="http://schemas.openxmlformats.org/officeDocument/2006/relationships/slide" Target="slides/slide32.xml"/><Relationship Id="rId133" Type="http://schemas.openxmlformats.org/officeDocument/2006/relationships/slide" Target="slides/slide33.xml"/><Relationship Id="rId134" Type="http://schemas.openxmlformats.org/officeDocument/2006/relationships/slide" Target="slides/slide34.xml"/><Relationship Id="rId137" Type="http://schemas.openxmlformats.org/officeDocument/2006/relationships/slide" Target="slides/slide37.xml"/><Relationship Id="rId138" Type="http://schemas.openxmlformats.org/officeDocument/2006/relationships/slide" Target="slides/slide38.xml"/><Relationship Id="rId139" Type="http://schemas.openxmlformats.org/officeDocument/2006/relationships/slide" Target="slides/slide39.xml"/><Relationship Id="rId140" Type="http://schemas.openxmlformats.org/officeDocument/2006/relationships/slide" Target="slides/slide40.xml"/><Relationship Id="rId141" Type="http://schemas.openxmlformats.org/officeDocument/2006/relationships/slide" Target="slides/slide41.xml"/><Relationship Id="rId178" Type="http://schemas.openxmlformats.org/officeDocument/2006/relationships/slide" Target="slides/slide65.xml"/><Relationship Id="rId179" Type="http://schemas.openxmlformats.org/officeDocument/2006/relationships/slide" Target="slides/slide66.xml"/><Relationship Id="rId180" Type="http://schemas.openxmlformats.org/officeDocument/2006/relationships/slide" Target="slides/slide67.xml"/><Relationship Id="rId181" Type="http://schemas.openxmlformats.org/officeDocument/2006/relationships/slide" Target="slides/slide68.xml"/><Relationship Id="rId185" Type="http://schemas.openxmlformats.org/officeDocument/2006/relationships/slide" Target="slides/slide72.xml"/><Relationship Id="rId186" Type="http://schemas.openxmlformats.org/officeDocument/2006/relationships/slide" Target="slides/slide73.xml"/><Relationship Id="rId187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diag_001_dado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diag_002_classe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diag_003_checklist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diag_004_checklist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9.png"/><Relationship Id="rId5" Type="http://schemas.openxmlformats.org/officeDocument/2006/relationships/image" Target="../media/diag_005_revdados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12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Organização de Dados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23/10/2026  ·  07:30–11:10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07:30 - 07:35  Abertura e agenda do dia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07:35 - 08:35  Novo assunto: dados, tabelas, dicionário de dados, qualidade e os problemas típicos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08:35 - 08:50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08:50 - 09:15  O checklist de organização, prevenir na origem e cuidados com dados pessoais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09:15 - 09:50  O Excel e o exemplo guiado: os pedidos do dia 16/10 (TechBurger) + revisão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10:40 - 10:50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10:50 - 11:10  Encontre os problemas (em duplas), erros comuns, síntese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NOVO ASSUNTO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Organização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Dados limpos antes de qualquer análise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gerente Fernanda perguntou: “quantos pedidos foram pagos com PIX no dia 16/10?”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estagiário abriu a planilha, usou o CONT.SE e respondeu: 6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resposta certa era 8. O que pode ter dado errado?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se a decisão de dar mais desconto no PIX dependesse desse número?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como ORGANIZAR os dados do TechBurger antes de qualquer conta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estamos na disciplina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Aulas 1 a 9: regras, requisitos e UML - o que o TechBurger FAZ e como funciona por dentro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10: UX - como a pessoa USA 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11: integrações - com quem o sistema CONVERSA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os DADOS que tudo isso gera - pedidos, pagamentos, notas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(27/10): revisão geral de tudo o que vimos, das Aulas 1 a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Dado, informação e decisão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DADO: o registro solto, do jeito que foi anotado - “41,8”, “pix”, “16-10-26”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INFORMAÇÃO: dados organizados e combinados - “faturamento do dia: R$ 505,10”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DECISÃO: o que a empresa faz com a informação - “destacar o PIX no app”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dado organizado, não há informação confiável - e a decisão sai no chute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Organizar dados é a ponte entre o sistema que modelamos e as decisões do negócio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Do dado à decisão</a:t>
            </a:r>
          </a:p>
        </p:txBody>
      </p:sp>
      <p:pic>
        <p:nvPicPr>
          <p:cNvPr id="12" name="Picture 11" descr="dad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4073817"/>
            <a:ext cx="16400000" cy="4202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“Lixo entra, lixo sai”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planilha bruta do dia 16/10, a SOMA da coluna Valor dá R$ 565,20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Depois de organizar, o faturamento dos pedidos concluídos é R$ 505,10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soma bruta contou 2 pedidos repetidos e 1 cancelado - e IGNOROU 2 valores escritos como texto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Nenhum erro apareceu na tela: o Excel não avisa que a conta está errada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isso: nunca analisar sem antes organizar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 onde vêm os dados do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 sistema: o banco de dados guarda os pedidos do app (Aulas 5 e 11)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 balcão: atendentes digitam à mão - é onde nascem as grafias diferentes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 parceiros: o app de delivery PedeJá envia em outro formato (interoperabilidade, Aula 11)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Juntando tudo numa planilha para análise, os problemas aparecem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Quanto mais digitação livre, mais sujeira: “app”, “APP”, “Aplicativo”...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Dados em tabela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Linhas, colunas e o que cada uma significa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Anatomia de uma tabela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350000"/>
            <a:ext cx="78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1. Cabeçalho: o nome de cada coluna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2. Linha = um registro (um pedido)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3. Coluna = um campo (um atributo)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285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Conteúdo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350000"/>
            <a:ext cx="78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4. Célula = UM valor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5. Chave: o campo que não se repete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(no TechBurger: o Nº Pedido)</a:t>
            </a:r>
          </a:p>
        </p:txBody>
      </p:sp>
      <p:pic>
        <p:nvPicPr>
          <p:cNvPr id="12" name="Picture 11" descr="anat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5650000"/>
            <a:ext cx="16400000" cy="24654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classe vira tabela</a:t>
            </a:r>
          </a:p>
        </p:txBody>
      </p:sp>
      <p:pic>
        <p:nvPicPr>
          <p:cNvPr id="12" name="Picture 11" descr="class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584880"/>
            <a:ext cx="16400000" cy="51802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Tipos de dado em cada coluna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Número: Nº Pedido, Valor (R$), Nota - dá para somar e calcular média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Data: o dia do pedido - dá para ordenar e filtrar por período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Lista (categoria): Canal, Pagamento, Entrega, Status - poucos valores permitidos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Texto livre: Bairro - qualquer valor, por isso precisa de mais cuidado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coluna tem UM tipo só: número guardado como texto não entra na soma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Regras de uma tabela bem organizada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cabeçalho só, na primeira linha, com nomes curtos e a unidade: “Valor (R$)”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coluna = uma informação; uma célula = um valor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Nada de células mescladas, títulos ou linhas de total no meio dos dados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Cor não é dado: “pago” pintado de amarelo some quando alguém filtra ou exporta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linha por registro, sem linhas em branco separando “blocos”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Dicionário de dados: o que é CERTO em cada coluna</a:t>
            </a:r>
          </a:p>
        </p:txBody>
      </p:sp>
      <p:pic>
        <p:nvPicPr>
          <p:cNvPr id="12" name="Picture 11" descr="dicion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4049730"/>
            <a:ext cx="16400000" cy="42505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Para que serve o dicionário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Diz o significado, o tipo e os VALORES PERMITIDOS de cada coluna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ele não dá para dizer o que é erro: “Finalizado” é válido? (não: só Concluído e Cancelado)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valores vêm das regras de negócio: pagamento em dinheiro só no balcão; app a partir de R$ 15,00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mesmo raciocínio do diagrama de classes (Aula 5) - só que para os dados guardados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Aula de Banco de Dados, ele vira a definição das tabelas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Qualidade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Como saber se um dado é confiável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5 dimensões da qualidade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COMPLETUDE: o que precisa estar preenchido, está? (pedido de entrega com bairro)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UNICIDADE: cada pedido aparece uma vez só? (sem duplicados)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CONSISTÊNCIA: o mesmo valor é escrito do mesmo jeito? (“App”, nunca “APP”)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VALIDADE: o valor está no formato e na faixa permitidos? (nota de 1 a 5, data de verdade)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EXATIDÃO: o valor confere com o que aconteceu? (o pedido custou mesmo R$ 41,80?)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Os problemas típicos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 que procurar numa planilha suja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Uma planilha suja: os 7 problemas típicos (TechBurger, 16/10)</a:t>
            </a:r>
          </a:p>
        </p:txBody>
      </p:sp>
      <p:pic>
        <p:nvPicPr>
          <p:cNvPr id="12" name="Picture 11" descr="vis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147" y="2900000"/>
            <a:ext cx="1515770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Visão geral: problemas de linha e de célula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Na LINHA inteira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1. Linha totalmente vazia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2. Duplicado exato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3. Duplicado pelo número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Numa CÉLULA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4. Grafias diferentes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5. Formato diferente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6. Valor inválido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7. Campo vazio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1. Linha vazia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Uma linha inteira em branco no meio dos dados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Atrapalha o filtro, a ordenação e “corta” a tabela ao meio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Correção: excluir a linha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Dimensão: completude (um buraco na tabela)</a:t>
            </a:r>
          </a:p>
        </p:txBody>
      </p:sp>
      <p:pic>
        <p:nvPicPr>
          <p:cNvPr id="13" name="Picture 11" descr="e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5150000"/>
            <a:ext cx="16400000" cy="189230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2. Duplicado exato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mesma linha aparece duas vezes, igual em tudo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Infla as contagens e as somas: o pedido 1007 é contado 2 vezes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Correção: Dados › Remover Duplicadas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Dimensão: unicidade</a:t>
            </a:r>
          </a:p>
        </p:txBody>
      </p:sp>
      <p:pic>
        <p:nvPicPr>
          <p:cNvPr id="13" name="Picture 11" descr="e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5150000"/>
            <a:ext cx="16400000" cy="18923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3. Duplicado pelo número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mesmo Nº Pedido em duas linhas QUASE iguais - uma está incompleta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Remover Duplicadas não pega: as linhas não são idênticas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Correção: ficar com a versão mais completa (com o Bairro)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Dimensão: unicidade - a chave não pode se repetir</a:t>
            </a:r>
          </a:p>
        </p:txBody>
      </p:sp>
      <p:pic>
        <p:nvPicPr>
          <p:cNvPr id="13" name="Picture 11" descr="e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5150000"/>
            <a:ext cx="16400000" cy="189230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4. Grafias diferentes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mesmo valor escrito de vários jeitos: “App”, “APP”, “app”, “Aplicativo”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Cada grafia vira um grupo diferente na contagem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Correção: Substituir pela grafia oficial do dicionário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Dimensão: consistência</a:t>
            </a:r>
          </a:p>
        </p:txBody>
      </p:sp>
      <p:pic>
        <p:nvPicPr>
          <p:cNvPr id="13" name="Picture 11" descr="el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321" y="5150000"/>
            <a:ext cx="8955357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5. Formato diferente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Datas em 3 formatos: 16/10/2026, 2026-10-16, 16-10-26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Valores guardados como TEXTO: “R$ 35,80”, “41,8” (o triângulo verde avisa)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Texto não entra na soma nem na ordenação por data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Correção: Dados › Texto para Colunas</a:t>
            </a:r>
          </a:p>
        </p:txBody>
      </p:sp>
      <p:pic>
        <p:nvPicPr>
          <p:cNvPr id="13" name="Picture 11" descr="e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854" y="5150000"/>
            <a:ext cx="10182291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6. Valor inválido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Valor fora da faixa ou contra uma regra: nota 7 numa escala de 1 a 5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Outro exemplo: pedido do App abaixo de R$ 15,00 (regra da Aula 1)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Correção: corrigir se souber a origem; senão, deixar vazio e anotar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Nunca “chutar” um valor: dado inventado é pior que dado vazio</a:t>
            </a:r>
          </a:p>
        </p:txBody>
      </p:sp>
      <p:pic>
        <p:nvPicPr>
          <p:cNvPr id="13" name="Picture 11" descr="e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719" y="5150000"/>
            <a:ext cx="14476562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7. Campo vazio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Nem todo vazio é erro! Bairro vazio em Retirada: correto (verde)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Nota vazia em pedido cancelado: correto - não houve avaliação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Entrega sem Bairro: PROBLEMA (vermelho) - o motoboy foi para onde?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Correção: “Não informado” e avisar quem pode descobrir; nunca inventar</a:t>
            </a:r>
          </a:p>
        </p:txBody>
      </p:sp>
      <p:pic>
        <p:nvPicPr>
          <p:cNvPr id="13" name="Picture 11" descr="el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5150000"/>
            <a:ext cx="16400000" cy="27816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checklist de organização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 roteiro de trabalho, passo a passo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checklist de organização de dados (roteiro de trabalho)</a:t>
            </a:r>
          </a:p>
        </p:txBody>
      </p:sp>
      <p:pic>
        <p:nvPicPr>
          <p:cNvPr id="12" name="Picture 11" descr="checklist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902711"/>
            <a:ext cx="16400000" cy="454457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nessa ordem?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Cópia primeiro: se algo der errado, o original está intacto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Linhas antes de células: não adianta padronizar uma linha que vai ser apagada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Duplicados exatos antes dos pelo número: o Remover Duplicadas resolve os fáceis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Grafias e formatos antes dos vazios: só dá para julgar “Entrega sem bairro” com Entrega padronizada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Documentar no fim (e durante): cada decisão fica registrada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regras de ouro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Nunca altere o arquivo bruto: salve uma cópia “_organizado”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Nunca invente dado: vazio e anotado é melhor que chutado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apague um registro que aconteceu (pedido pago sem bairro continua sendo venda)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Corrija pelo DICIONÁRIO, não pelo gosto de cada um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Registre tudo: o que, quantas células ou linhas e por quê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registro de limpeza (documentação)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aba a mais na planilha: Passo | Problema | O que foi feito | Quantas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“Duplicados exatos | pedido 1007 aparecia 2 vezes | Remover Duplicadas | 1 linha”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Qualquer pessoa consegue refazer e conferir o trabalho - é rastreabilidade (Aula 9)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Mostra à gerente o que ainda precisa ser descoberto (o bairro do pedido 1009)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registro, ninguém sabe se o número da análise é confiável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Melhor do que limpar é PREVENIR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Lista fechada no sistema: o atendente toca em “PIX”, não digita (prevenção de erros, Aula 10)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Excel: Dados › Validação de Dados › Lista - só aceita os valores do dicionário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(Aula 2): “O pagamento deve ser escolhido numa lista: PIX, Cartão ou Dinheiro”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integração (Aula 11): o contrato da API fixa os valores e o significado (“PAID” = pago)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classe (Aula 5): canal com valores fixos, e não texto livre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Organizar também é proteger: dados pessoais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Nome, telefone, CPF e endereço são dados pessoais (LGPD - Lei 13.709/2018)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analisar vendas, quase nunca precisa deles: a planilha de hoje não tem nome nem telefone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Guarde só o necessário, só com quem precisa e em local protegido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estudos, troque o nome por um código (pseudonimização)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Planilha com CPF enviada por WhatsApp é um vazamento esperando para acontecer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Organizando os ARQUIVOS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 com o quê e quando: “Pedidos_2026-10-16_bruto.xlsx” e “..._organizado.xlsx”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Data no formato ano-mês-dia no nome: os arquivos ficam em ordem na pasta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pasta por assunto; nada de “final”, “final2”, “agora vai”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bruto nunca é sobrescrito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registro de limpeza vai junto, dentro do arquivo organizado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Os pedidos do dia 16/10 - ao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Do bruto ao organizado, passo a passo no Excel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Excel: a tela</a:t>
            </a:r>
          </a:p>
        </p:txBody>
      </p:sp>
      <p:pic>
        <p:nvPicPr>
          <p:cNvPr id="12" name="Picture 11" descr="x_te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833" y="2900000"/>
            <a:ext cx="1410433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partes da tela do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Guias (Página Inicial, Dados...): cada uma abre um conjunto de botões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Faixa de opções: os botões da guia escolhida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Caixa de nome: o endereço da célula selecionada (A1, C5...)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Barra de fórmulas: o conteúdo de verdade da célula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Letras das colunas: clique para selecionar a coluna inteira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Números das linhas: clique para selecionar a linha inteira (e excluir)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Guia Dados: as ferramentas de organizar</a:t>
            </a:r>
          </a:p>
        </p:txBody>
      </p:sp>
      <p:pic>
        <p:nvPicPr>
          <p:cNvPr id="12" name="Picture 11" descr="x_da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4543119"/>
            <a:ext cx="16400000" cy="326376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Filtro denuncia as grafias diferentes</a:t>
            </a:r>
          </a:p>
        </p:txBody>
      </p:sp>
      <p:pic>
        <p:nvPicPr>
          <p:cNvPr id="12" name="Picture 11" descr="x_fil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017" y="2900000"/>
            <a:ext cx="1249596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Achar duplicados: Formatação Condicional</a:t>
            </a:r>
          </a:p>
        </p:txBody>
      </p:sp>
      <p:pic>
        <p:nvPicPr>
          <p:cNvPr id="12" name="Picture 11" descr="x_duplica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292187"/>
            <a:ext cx="16400000" cy="57656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Trocar grafias: Localizar e Substituir</a:t>
            </a:r>
          </a:p>
        </p:txBody>
      </p:sp>
      <p:pic>
        <p:nvPicPr>
          <p:cNvPr id="12" name="Picture 11" descr="x_substitu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518662"/>
            <a:ext cx="16400000" cy="531267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Funções que ajudam a conferir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=CONT.VALORES(A:A)-1  →  quantas linhas preenchidas (sem o cabeçalho)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=CONT.SE(D:D;"PIX")  →  quantos PIX (não diferencia maiúsculas, mas “PIX ” com espaço fica de fora)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=CONTAR.VAZIO(G2:G21)  →  quantas células vazias no Bairro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=SOMA(E:E)  →  soma só os números: valor guardado como texto fica de fora sem aviso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 antes e depois de organizar: a diferença mostra o tamanho do problema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Atalhos e cuidados no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Ctrl+Z desfaz - mas trabalhe sempre na cópia “_organizado”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excluir uma linha: clique no NÚMERO dela › botão direito › Excluir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Substituir: selecione antes SÓ a coluna e marque “Coincidir conteúdo da célula inteira”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essa marca, o Excel troca PEDAÇOS: “Cartão” → “Cartão de crédito” viraria “Cartão de crédito de crédito”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Triângulo verde no canto da célula = número guardado como texto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0 de 7: abrir e fazer a cópia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Abra “Aula 12 - Exemplo Guiado Pedidos 16-10 (ponto de partida).xlsx”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Arquivo › Salvar como “..._organizado.xlsx”: o bruto fica intacto (passo 1 do checklist)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20 linhas para 16 pedidos de verdade; =CONT.SE(D:D;"PIX") dá 6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 à turma: o que vocês já veem de estranho nesta planilha?</a:t>
            </a:r>
          </a:p>
        </p:txBody>
      </p:sp>
      <p:pic>
        <p:nvPicPr>
          <p:cNvPr id="13" name="Picture 11" descr="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804" y="5150000"/>
            <a:ext cx="9638392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 de 7: linhas vazias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Duas linhas em branco no meio dos dados (em laranja)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Clique no número da linha › botão direito › Excluir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por que começar por elas? (cortam a tabela: o Filtro e a ordenação param no buraco)</a:t>
            </a:r>
          </a:p>
        </p:txBody>
      </p:sp>
      <p:pic>
        <p:nvPicPr>
          <p:cNvPr id="13" name="Picture 11" descr="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161" y="4630000"/>
            <a:ext cx="10817678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 de 7: duplicados exatos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Selecione a coluna A › Formatação Condicional › Valores Duplicados: 1007 e 1012 ficam vermelhos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Dados › Remover Duplicadas (todas as colunas marcadas): “1 valor duplicado removido” - o 1007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o que o 1007 repetido fazia com o faturamento? (somava R$ 33,40 duas vezes)</a:t>
            </a:r>
          </a:p>
        </p:txBody>
      </p:sp>
      <p:pic>
        <p:nvPicPr>
          <p:cNvPr id="13" name="Picture 11" descr="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809" y="4630000"/>
            <a:ext cx="11956381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 de 7: duplicado pelo número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1012 continua vermelho: são duas versões - uma sem o Bairro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Exclua a linha incompleta e fique com a que tem “Barra”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por que o Remover Duplicadas não pegou? (as linhas não são iguais em tudo)</a:t>
            </a:r>
          </a:p>
        </p:txBody>
      </p:sp>
      <p:pic>
        <p:nvPicPr>
          <p:cNvPr id="13" name="Picture 11" descr="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687" y="4630000"/>
            <a:ext cx="12620625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4 de 7: grafias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Filtro de cada coluna mostra os itens: Canal tem 4, mas o dicionário só permite App e Balcão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Substituir (coluna selecionada + célula inteira): Aplicativo/app → App; balcao → Balcão; pix/“Pix ” → PIX...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18 células trocadas; “Finalizado” vira “Concluído” (só existem Concluído e Cancelado)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quem decide que “Finalizado” = “Concluído”? (o dicionário - e, na dúvida, a gerente)</a:t>
            </a:r>
          </a:p>
        </p:txBody>
      </p:sp>
      <p:pic>
        <p:nvPicPr>
          <p:cNvPr id="13" name="Picture 11" descr="p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875" y="5150000"/>
            <a:ext cx="11906250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5 de 7: formatos e valores válidos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Coluna Data › Dados › Texto para Colunas › Concluir: as 3 formas viram data (6 células)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Valor: Substituir “R$ ” por nada; depois Texto para Colunas: viram números (2)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Nota 7 do 1007: fora de 1 a 5 → apagar e anotar no registro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por que não trocar o 7 por 5? (seria inventar dado)</a:t>
            </a:r>
          </a:p>
        </p:txBody>
      </p:sp>
      <p:pic>
        <p:nvPicPr>
          <p:cNvPr id="13" name="Picture 11" descr="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875" y="5150000"/>
            <a:ext cx="11906250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6 de 7: campos vazios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Bairro vazio em Retirada: correto (não há entrega). Nota vazia no Cancelado: correto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Pedido 1009: Entrega SEM bairro → “Não informado” e avisar a gerente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por que não apagar o pedido 1009? (ele aconteceu: apagar some com R$ 64,20 de venda)</a:t>
            </a:r>
          </a:p>
        </p:txBody>
      </p:sp>
      <p:pic>
        <p:nvPicPr>
          <p:cNvPr id="13" name="Picture 11" descr="p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493" y="4630000"/>
            <a:ext cx="13363014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7 de 7: o registro de limpeza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Nova aba (o “+” ao lado de Pedidos): “Registro de limpeza”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Uma linha por passo: o problema, o que foi feito e quantas linhas ou células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para que serve? (qualquer um refaz e confere - e a gerente vê o que falta descobrir)</a:t>
            </a:r>
          </a:p>
        </p:txBody>
      </p:sp>
      <p:pic>
        <p:nvPicPr>
          <p:cNvPr id="13" name="Picture 11" descr="p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187" y="4630000"/>
            <a:ext cx="16065625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Resultado: os pedidos do dia 16/10 organizados</a:t>
            </a:r>
          </a:p>
        </p:txBody>
      </p:sp>
      <p:pic>
        <p:nvPicPr>
          <p:cNvPr id="12" name="Picture 11" descr="result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247966"/>
            <a:ext cx="16399999" cy="585406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perguntas da gerente: antes x depois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Planilha bruta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Linhas: 18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PIX (CONT.SE): 6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SOMA dos valores: R$ 565,20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Planilha organizada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Pedidos: 16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PIX: 8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Faturamento (concluídos): R$ 505,10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arquivo bruto ficou intacto e existe a cópia “_organizado”?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linhas vazias e cada Nº Pedido aparece uma vez só?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coluna de lista só tem os valores do dicionário?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Datas são datas e valores são números (sem triângulo verde)?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vazios que sobraram são legítimos ou “Não informado”, e tudo está no registro?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Do bruto ao organizado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Os conceitos principais da aula, com os pedidos do TechBurger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tabela e dicionário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Linha = um pedido; coluna = um atributo; célula = um valor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chave (Nº Pedido) não pode se repetir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dicionário diz o tipo e os valores permitidos de cada coluna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É ele que diz o que é erro: “Finalizado” não é um Status válido</a:t>
            </a:r>
          </a:p>
        </p:txBody>
      </p:sp>
      <p:pic>
        <p:nvPicPr>
          <p:cNvPr id="13" name="Picture 11" descr="dicion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42" y="5150000"/>
            <a:ext cx="16397916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os problemas de linha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Linha vazia: corta a tabela - excluir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Duplicado exato (1007): Remover Duplicadas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Duplicado pelo número (1012): ficar com a versão completa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Todos ferem a UNICIDADE ou a COMPLETUDE da tabela</a:t>
            </a:r>
          </a:p>
        </p:txBody>
      </p:sp>
      <p:pic>
        <p:nvPicPr>
          <p:cNvPr id="13" name="Picture 11" descr="e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5150000"/>
            <a:ext cx="16400000" cy="189230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os problemas de célula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Grafias: Substituir com “célula inteira” (consistência)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Formatos: Texto para Colunas em datas e valores (validade)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Valor inválido: corrigir pela origem ou deixar vazio e anotar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Vazio: legítimo, “Não informado” ou investigar - nunca inventar</a:t>
            </a:r>
          </a:p>
        </p:txBody>
      </p:sp>
      <p:pic>
        <p:nvPicPr>
          <p:cNvPr id="13" name="Picture 11" descr="el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5150000"/>
            <a:ext cx="16400000" cy="278162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o checklist e o registro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Cópia → vazias → duplicados → pelo número → grafias → formatos → vazios → documentar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Linhas antes de células; o registro guarda cada decisão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Antes x depois: PIX 6 → 8; soma R$ 565,20 → faturamento R$ 505,10</a:t>
            </a:r>
          </a:p>
        </p:txBody>
      </p:sp>
      <p:pic>
        <p:nvPicPr>
          <p:cNvPr id="13" name="Picture 11" descr="checklist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4630000"/>
            <a:ext cx="16400000" cy="454457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como tudo se liga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Atributos da classe (Aula 5) → colunas  ·  regras de negócio (Aula 1) → valores permitidos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Lista fechada na tela (Aula 10) e contrato da API (Aula 11) → o erro nem nasce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Dados organizados → análise e decisões da gerente</a:t>
            </a:r>
          </a:p>
        </p:txBody>
      </p:sp>
      <p:pic>
        <p:nvPicPr>
          <p:cNvPr id="13" name="Picture 11" descr="revdados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4630000"/>
            <a:ext cx="16400000" cy="460927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OS PROBLEMAS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 planilha “organizada” pelo estagiário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Em duplas: 6 minutos para achar, explicar e corrigir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problemas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estagiário disse que já organizou os pedidos do dia 16/10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Ainda há 6 problemas na planilha dele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Marquem cada um e digam QUAL dimensão da qualidade foi ferida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como corrigir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Sem consultar a Apostila nos primeiros 5 minutos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6 problemas (em duplas)</a:t>
            </a:r>
          </a:p>
        </p:txBody>
      </p:sp>
      <p:pic>
        <p:nvPicPr>
          <p:cNvPr id="12" name="Picture 11" descr="pro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951271"/>
            <a:ext cx="16400000" cy="444745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6 problemas marcados</a:t>
            </a:r>
          </a:p>
        </p:txBody>
      </p:sp>
      <p:pic>
        <p:nvPicPr>
          <p:cNvPr id="12" name="Picture 11" descr="prob_mar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999079"/>
            <a:ext cx="16400000" cy="435184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Problemas e correções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“Pix” no pedido 1003: grafia fora do dicionário (consistência) - trocar por PIX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Data “2026-10-16” no 1004: formato diferente e guardado como texto (validade) - Texto para Colunas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Linha “TOTAL MANHÃ” no meio dos dados: não é pedido e entra nas somas - excluir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“R$ 27,00” no 1006: valor como texto, fora da soma (validade) - virar número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Nota 9 no 1007: fora de 1 a 5 (validade) - deixar vazio e anotar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Pedido 1007 repetido no fim (unicidade) - Remover Duplicadas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ao organizar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Mexer direto no arquivo bruto, sem cópia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Analisar antes de organizar: a SOMA e o CONT.SE não avisam que estão errados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Apagar o pedido inteiro por causa de uma célula vazia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Inventar valor para “completar” a planilha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Substituir sem “célula inteira” e estragar outras células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documentar: ninguém sabe o que foi mudado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Boas práticas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Comecem pelo dicionário de dados: ele diz o que é certo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Sigam o checklist na ordem: linhas antes de células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Contem antes e depois: a diferença mostra o tamanho do problema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Previnam na origem: lista fechada no sistema e validação no Excel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Guardem só os dados pessoais necessários e documentem tudo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Registro / campo / chave - a linha / a coluna / o campo que não se repete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Dicionário de dados - significado, tipo e valores permitidos de cada coluna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Qualidade de dados - completude, unicidade, consistência, validade, exatidão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Duplicado - registro repetido (exato ou pelo número)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Grafia - o jeito de escrever um valor; padronizar = deixar um jeito só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Registro de limpeza - a documentação do que foi feito, quantas vezes e por quê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a diferença entre dado, informação e decisão? Dê um exemplo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O que é a chave de uma tabela? Qual é a chave na planilha de pedidos?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Para que serve o dicionário de dados?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Cite as 5 dimensões da qualidade de dados, com um exemplo de falha em 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Por que o Remover Duplicadas não resolve o duplicado pelo número?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Quando um campo vazio NÃO é um erro? Dê um exemplo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Cite 3 formas de prevenir dados sujos na origem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para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o primeiro passo do checklist de organização?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“App”, “APP” e “Aplicativo” na mesma coluna ferem qual dimensão?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O que significa o triângulo verde no canto de uma célula?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Nota 8 numa escala de 1 a 5: o que fazer?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Por que marcar “Coincidir conteúdo da célula inteira” no Substituir?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 organizado vira informação; dado sujo vira decisão errada (“lixo entra, lixo sai”)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Tabela: registro, campo, célula, chave - e o dicionário de dados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5 dimensões da qualidade e os 7 problemas típicos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checklist de organização no Excel e o registro de limpeza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Prevenir na origem e proteger dados pessoais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(27/10): Revisão geral - do negócio aos dados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