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650000"/>
            <a:ext cx="7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i="0">
                <a:solidFill>
                  <a:srgbClr val="B8CCE8"/>
                </a:solidFill>
                <a:latin typeface="Calibri"/>
              </a:rPr>
              <a:t>Aula 4</a:t>
            </a:r>
          </a:p>
          <a:p>
            <a:pPr>
              <a:spcAft>
                <a:spcPts val="1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UML — Diagrama de Casos de Uso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Técnico em Desenvolvimento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Turma 103513  ·  18/09/2026  ·  07:30–11:30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07:30 – 08:15  Elementos do Diagrama de Casos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08:15 – 08:45  Relacionamentos: include, extend, generalização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08:45 – 09:00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09:00 – 09:30  Exemplo guiado: TechBurger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09:30 – 10:30  Atividade prática em grupo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10:30 – 11:00  Apresentação e correção coletiva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11:00 – 11:30  Boas práticas e encerramento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60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3700" b="1" i="0">
                <a:solidFill>
                  <a:srgbClr val="1F497D"/>
                </a:solidFill>
                <a:latin typeface="Calibri"/>
              </a:rPr>
              <a:t>Antes de desenhar classes ou telas, como descrevemos
O QUE o sistema faz, do ponto de vista de quem usa?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590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Vamos discutir antes de começar…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NOVO TIPO DE DIAGRAMA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Diagrama de Casos de Uso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A visão externa do sistema: quem usa, e para quê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Elementos do Diagrama de Casos de 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Ator — quem interage com o sistema (boneco palito)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Caso de uso — uma funcionalidade oferecida (elipse)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Sistema (fronteira) — retângulo que delimita dentro/fora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prática: fora do retângulo = ator; dentro = caso de uso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Relacionamentos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Associação — linha simples entre ator e caso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«include» — inclusão obrigatória de outro caso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«extend» — extensão opcional/condicional de outro caso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Generalização entre atores — “é um tipo de” (seta triangular vazada)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«include» x «extend»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«include»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Inclusão obrigatória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Sempre acontece como parte do fluxo principal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Seta tracejada apontando para o caso incluído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«extend»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Extensão opcional/condicional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Só acontece em certas condições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Seta tracejada apontando para o caso base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Exemplo: extend no TechBurger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“Aplicar Desconto PIX” estende “Confirmar Pagamento”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Só acontece quando o cliente escolhe pagar via PIX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Por isso é extend, e não include (não é sempre obrigatório)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ESTUDO DE CASO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Casos de Uso do TechBurger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Vamos montar o diagrama completo em grupo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TechBurger — Atores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Atendente de Balcão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Cozinha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Gerente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Sistema de Pagamento (ator externo)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TechBurger — Casos de uso (parte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Pedido e pagamento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Fazer Pedido pelo App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Fazer Pedido no Balcão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Confirmar Pagamento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Aplicar Desconto PIX (extend)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Fidelidade e entrega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Acumular Pontos de Fidelidade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Resgatar Combo Grátis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Validar Endereço de Entrega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TechBurger — Casos de uso (parte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Sugerir Item Substituto (extend de Fazer Pedido)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Autorizar Pedido Grande (ator Gerente)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Bloquear Cliente por Cancelamentos (automático)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 prática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Montar o Diagrama de Casos de Uso completo do TechBurger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5 atores + pelo menos 8 dos 10 casos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Pelo menos 1 include/extend e a generalização Atendente/Gerente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Tempo: 60 minutos — depois, apresentação para a turma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Erros comuns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Transformar um passo de tela em caso de uso (“clicar em confirmar”)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Usar include/extend sem necessidade real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Esquecer de nomear o caso de uso com verbo + complemento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Glossário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Ator — papel externo que interage com o sistema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Caso de uso — funcionalidade oferecida pelo sistema a um ator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Include — relacionamento de inclusão obrigatória entre casos de uso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Extend — relacionamento de extensão opcional/condicional entre casos de uso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Generalização — relação de “é um tipo de” entre atores (ou entre casos de uso)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100" b="0" i="0">
                <a:solidFill>
                  <a:srgbClr val="333333"/>
                </a:solidFill>
                <a:latin typeface="Calibri"/>
              </a:rPr>
              <a:t>1. Qual a diferença entre ator e caso de uso?</a:t>
            </a:r>
          </a:p>
          <a:p>
            <a:pPr>
              <a:spcAft>
                <a:spcPts val="1600"/>
              </a:spcAft>
            </a:pPr>
            <a:r>
              <a:rPr sz="2100" b="0" i="0">
                <a:solidFill>
                  <a:srgbClr val="333333"/>
                </a:solidFill>
                <a:latin typeface="Calibri"/>
              </a:rPr>
              <a:t>2. Quando usar «include» e quando usar «extend»?</a:t>
            </a:r>
          </a:p>
          <a:p>
            <a:pPr>
              <a:spcAft>
                <a:spcPts val="1600"/>
              </a:spcAft>
            </a:pPr>
            <a:r>
              <a:rPr sz="2100" b="0" i="0">
                <a:solidFill>
                  <a:srgbClr val="333333"/>
                </a:solidFill>
                <a:latin typeface="Calibri"/>
              </a:rPr>
              <a:t>3. Dê um exemplo de generalização entre atores no TechBurger</a:t>
            </a:r>
          </a:p>
          <a:p>
            <a:pPr>
              <a:spcAft>
                <a:spcPts val="1600"/>
              </a:spcAft>
            </a:pPr>
            <a:r>
              <a:rPr sz="2100" b="0" i="0">
                <a:solidFill>
                  <a:srgbClr val="333333"/>
                </a:solidFill>
                <a:latin typeface="Calibri"/>
              </a:rPr>
              <a:t>4. A que caso de uso o ator Sistema de Pagamento se conecta diretamente?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Elementos do Diagrama de Casos de Uso: ator, caso de uso,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Relacionamentos: associação, include, extend, generalização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Diagrama de Casos de Uso completo do TechBurger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Próxima aula (24/09): Diagrama de Classes I, ainda com o TechBurger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60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5"/>
          <p:cNvSpPr txBox="1"/>
          <p:nvPr/>
        </p:nvSpPr>
        <p:spPr>
          <a:xfrm>
            <a:off x="10078328" y="5200000"/>
            <a:ext cx="762948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Até a próxima aula!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