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314" r:id="rId30"/>
    <p:sldId id="315" r:id="rId31"/>
    <p:sldId id="316" r:id="rId32"/>
    <p:sldId id="317" r:id="rId33"/>
    <p:sldId id="318" r:id="rId34"/>
    <p:sldId id="319" r:id="rId35"/>
    <p:sldId id="320" r:id="rId36"/>
    <p:sldId id="321" r:id="rId37"/>
    <p:sldId id="322" r:id="rId38"/>
    <p:sldId id="323" r:id="rId39"/>
    <p:sldId id="324" r:id="rId40"/>
    <p:sldId id="325" r:id="rId41"/>
    <p:sldId id="326" r:id="rId42"/>
    <p:sldId id="327" r:id="rId43"/>
    <p:sldId id="328" r:id="rId44"/>
    <p:sldId id="329" r:id="rId45"/>
    <p:sldId id="330" r:id="rId46"/>
    <p:sldId id="331" r:id="rId47"/>
    <p:sldId id="335" r:id="rId51"/>
    <p:sldId id="336" r:id="rId52"/>
    <p:sldId id="337" r:id="rId53"/>
    <p:sldId id="338" r:id="rId54"/>
    <p:sldId id="339" r:id="rId55"/>
    <p:sldId id="340" r:id="rId56"/>
    <p:sldId id="341" r:id="rId57"/>
    <p:sldId id="342" r:id="rId58"/>
    <p:sldId id="343" r:id="rId59"/>
    <p:sldId id="344" r:id="rId60"/>
    <p:sldId id="345" r:id="rId61"/>
    <p:sldId id="346" r:id="rId62"/>
    <p:sldId id="347" r:id="rId63"/>
    <p:sldId id="348" r:id="rId64"/>
    <p:sldId id="349" r:id="rId65"/>
    <p:sldId id="350" r:id="rId66"/>
    <p:sldId id="351" r:id="rId67"/>
    <p:sldId id="352" r:id="rId68"/>
    <p:sldId id="353" r:id="rId69"/>
    <p:sldId id="354" r:id="rId70"/>
    <p:sldId id="355" r:id="rId71"/>
    <p:sldId id="356" r:id="rId72"/>
    <p:sldId id="357" r:id="rId73"/>
    <p:sldId id="358" r:id="rId74"/>
    <p:sldId id="359" r:id="rId75"/>
    <p:sldId id="360" r:id="rId76"/>
    <p:sldId id="361" r:id="rId77"/>
    <p:sldId id="362" r:id="rId78"/>
    <p:sldId id="363" r:id="rId79"/>
    <p:sldId id="364" r:id="rId80"/>
    <p:sldId id="365" r:id="rId81"/>
    <p:sldId id="366" r:id="rId82"/>
    <p:sldId id="370" r:id="rId86"/>
    <p:sldId id="371" r:id="rId87"/>
    <p:sldId id="372" r:id="rId88"/>
    <p:sldId id="373" r:id="rId89"/>
    <p:sldId id="374" r:id="rId90"/>
    <p:sldId id="375" r:id="rId91"/>
    <p:sldId id="376" r:id="rId92"/>
    <p:sldId id="377" r:id="rId93"/>
    <p:sldId id="378" r:id="rId94"/>
    <p:sldId id="379" r:id="rId95"/>
    <p:sldId id="380" r:id="rId96"/>
    <p:sldId id="381" r:id="rId97"/>
    <p:sldId id="382" r:id="rId98"/>
    <p:sldId id="383" r:id="rId99"/>
    <p:sldId id="384" r:id="rId100"/>
    <p:sldId id="385" r:id="rId101"/>
    <p:sldId id="386" r:id="rId102"/>
    <p:sldId id="387" r:id="rId103"/>
    <p:sldId id="388" r:id="rId104"/>
    <p:sldId id="389" r:id="rId105"/>
    <p:sldId id="390" r:id="rId106"/>
    <p:sldId id="391" r:id="rId107"/>
    <p:sldId id="392" r:id="rId108"/>
    <p:sldId id="393" r:id="rId109"/>
    <p:sldId id="394" r:id="rId110"/>
    <p:sldId id="395" r:id="rId111"/>
    <p:sldId id="396" r:id="rId112"/>
    <p:sldId id="397" r:id="rId113"/>
    <p:sldId id="411" r:id="rId127"/>
    <p:sldId id="412" r:id="rId128"/>
    <p:sldId id="413" r:id="rId129"/>
    <p:sldId id="414" r:id="rId130"/>
    <p:sldId id="415" r:id="rId131"/>
    <p:sldId id="416" r:id="rId132"/>
    <p:sldId id="417" r:id="rId133"/>
    <p:sldId id="418" r:id="rId134"/>
    <p:sldId id="419" r:id="rId135"/>
    <p:sldId id="420" r:id="rId136"/>
    <p:sldId id="421" r:id="rId137"/>
    <p:sldId id="422" r:id="rId138"/>
    <p:sldId id="423" r:id="rId139"/>
    <p:sldId id="424" r:id="rId140"/>
    <p:sldId id="425" r:id="rId141"/>
    <p:sldId id="426" r:id="rId142"/>
    <p:sldId id="427" r:id="rId143"/>
    <p:sldId id="428" r:id="rId144"/>
    <p:sldId id="429" r:id="rId145"/>
    <p:sldId id="430" r:id="rId146"/>
    <p:sldId id="431" r:id="rId147"/>
    <p:sldId id="432" r:id="rId148"/>
    <p:sldId id="433" r:id="rId149"/>
    <p:sldId id="434" r:id="rId150"/>
    <p:sldId id="435" r:id="rId151"/>
    <p:sldId id="436" r:id="rId152"/>
    <p:sldId id="437" r:id="rId153"/>
    <p:sldId id="438" r:id="rId154"/>
    <p:sldId id="439" r:id="rId155"/>
    <p:sldId id="440" r:id="rId156"/>
    <p:sldId id="441" r:id="rId157"/>
    <p:sldId id="442" r:id="rId158"/>
    <p:sldId id="443" r:id="rId159"/>
    <p:sldId id="444" r:id="rId160"/>
    <p:sldId id="445" r:id="rId161"/>
    <p:sldId id="446" r:id="rId162"/>
    <p:sldId id="447" r:id="rId163"/>
    <p:sldId id="448" r:id="rId164"/>
    <p:sldId id="449" r:id="rId165"/>
    <p:sldId id="450" r:id="rId166"/>
    <p:sldId id="451" r:id="rId167"/>
    <p:sldId id="452" r:id="rId168"/>
    <p:sldId id="453" r:id="rId169"/>
    <p:sldId id="454" r:id="rId170"/>
    <p:sldId id="455" r:id="rId171"/>
    <p:sldId id="460" r:id="rId176"/>
    <p:sldId id="461" r:id="rId177"/>
    <p:sldId id="466" r:id="rId182"/>
    <p:sldId id="467" r:id="rId183"/>
    <p:sldId id="468" r:id="rId184"/>
  </p:sldIdLst>
  <p:sldSz cx="18288000" cy="10287000"/>
  <p:notesSz cx="6858000" cy="9144000"/>
  <p:embeddedFontLst>
    <p:embeddedFont>
      <p:font typeface="Unbounded 1 Ultra-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>
        <p:scale>
          <a:sx n="60" d="100"/>
          <a:sy n="60" d="100"/>
        </p:scale>
        <p:origin x="398" y="-19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25" Type="http://schemas.openxmlformats.org/officeDocument/2006/relationships/font" Target="fonts/font1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.xml"/><Relationship Id="rId31" Type="http://schemas.openxmlformats.org/officeDocument/2006/relationships/slide" Target="slides/slide2.xml"/><Relationship Id="rId32" Type="http://schemas.openxmlformats.org/officeDocument/2006/relationships/slide" Target="slides/slide3.xml"/><Relationship Id="rId33" Type="http://schemas.openxmlformats.org/officeDocument/2006/relationships/slide" Target="slides/slide4.xml"/><Relationship Id="rId34" Type="http://schemas.openxmlformats.org/officeDocument/2006/relationships/slide" Target="slides/slide5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0" Type="http://schemas.openxmlformats.org/officeDocument/2006/relationships/slide" Target="slides/slide11.xml"/><Relationship Id="rId41" Type="http://schemas.openxmlformats.org/officeDocument/2006/relationships/slide" Target="slides/slide12.xml"/><Relationship Id="rId42" Type="http://schemas.openxmlformats.org/officeDocument/2006/relationships/slide" Target="slides/slide13.xml"/><Relationship Id="rId43" Type="http://schemas.openxmlformats.org/officeDocument/2006/relationships/slide" Target="slides/slide14.xml"/><Relationship Id="rId44" Type="http://schemas.openxmlformats.org/officeDocument/2006/relationships/slide" Target="slides/slide15.xml"/><Relationship Id="rId45" Type="http://schemas.openxmlformats.org/officeDocument/2006/relationships/slide" Target="slides/slide16.xml"/><Relationship Id="rId46" Type="http://schemas.openxmlformats.org/officeDocument/2006/relationships/slide" Target="slides/slide17.xml"/><Relationship Id="rId47" Type="http://schemas.openxmlformats.org/officeDocument/2006/relationships/slide" Target="slides/slide18.xml"/><Relationship Id="rId51" Type="http://schemas.openxmlformats.org/officeDocument/2006/relationships/slide" Target="slides/slide19.xml"/><Relationship Id="rId52" Type="http://schemas.openxmlformats.org/officeDocument/2006/relationships/slide" Target="slides/slide20.xml"/><Relationship Id="rId53" Type="http://schemas.openxmlformats.org/officeDocument/2006/relationships/slide" Target="slides/slide21.xml"/><Relationship Id="rId54" Type="http://schemas.openxmlformats.org/officeDocument/2006/relationships/slide" Target="slides/slide22.xml"/><Relationship Id="rId55" Type="http://schemas.openxmlformats.org/officeDocument/2006/relationships/slide" Target="slides/slide23.xml"/><Relationship Id="rId56" Type="http://schemas.openxmlformats.org/officeDocument/2006/relationships/slide" Target="slides/slide24.xml"/><Relationship Id="rId57" Type="http://schemas.openxmlformats.org/officeDocument/2006/relationships/slide" Target="slides/slide25.xml"/><Relationship Id="rId58" Type="http://schemas.openxmlformats.org/officeDocument/2006/relationships/slide" Target="slides/slide26.xml"/><Relationship Id="rId59" Type="http://schemas.openxmlformats.org/officeDocument/2006/relationships/slide" Target="slides/slide27.xml"/><Relationship Id="rId60" Type="http://schemas.openxmlformats.org/officeDocument/2006/relationships/slide" Target="slides/slide28.xml"/><Relationship Id="rId61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4" Type="http://schemas.openxmlformats.org/officeDocument/2006/relationships/slide" Target="slides/slide32.xml"/><Relationship Id="rId65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7.xml"/><Relationship Id="rId70" Type="http://schemas.openxmlformats.org/officeDocument/2006/relationships/slide" Target="slides/slide38.xml"/><Relationship Id="rId71" Type="http://schemas.openxmlformats.org/officeDocument/2006/relationships/slide" Target="slides/slide39.xml"/><Relationship Id="rId72" Type="http://schemas.openxmlformats.org/officeDocument/2006/relationships/slide" Target="slides/slide40.xml"/><Relationship Id="rId73" Type="http://schemas.openxmlformats.org/officeDocument/2006/relationships/slide" Target="slides/slide41.xml"/><Relationship Id="rId74" Type="http://schemas.openxmlformats.org/officeDocument/2006/relationships/slide" Target="slides/slide42.xml"/><Relationship Id="rId75" Type="http://schemas.openxmlformats.org/officeDocument/2006/relationships/slide" Target="slides/slide43.xml"/><Relationship Id="rId76" Type="http://schemas.openxmlformats.org/officeDocument/2006/relationships/slide" Target="slides/slide44.xml"/><Relationship Id="rId77" Type="http://schemas.openxmlformats.org/officeDocument/2006/relationships/slide" Target="slides/slide45.xml"/><Relationship Id="rId78" Type="http://schemas.openxmlformats.org/officeDocument/2006/relationships/slide" Target="slides/slide46.xml"/><Relationship Id="rId79" Type="http://schemas.openxmlformats.org/officeDocument/2006/relationships/slide" Target="slides/slide47.xml"/><Relationship Id="rId80" Type="http://schemas.openxmlformats.org/officeDocument/2006/relationships/slide" Target="slides/slide48.xml"/><Relationship Id="rId81" Type="http://schemas.openxmlformats.org/officeDocument/2006/relationships/slide" Target="slides/slide49.xml"/><Relationship Id="rId82" Type="http://schemas.openxmlformats.org/officeDocument/2006/relationships/slide" Target="slides/slide50.xml"/><Relationship Id="rId86" Type="http://schemas.openxmlformats.org/officeDocument/2006/relationships/slide" Target="slides/slide51.xml"/><Relationship Id="rId87" Type="http://schemas.openxmlformats.org/officeDocument/2006/relationships/slide" Target="slides/slide52.xml"/><Relationship Id="rId88" Type="http://schemas.openxmlformats.org/officeDocument/2006/relationships/slide" Target="slides/slide53.xml"/><Relationship Id="rId89" Type="http://schemas.openxmlformats.org/officeDocument/2006/relationships/slide" Target="slides/slide54.xml"/><Relationship Id="rId90" Type="http://schemas.openxmlformats.org/officeDocument/2006/relationships/slide" Target="slides/slide55.xml"/><Relationship Id="rId91" Type="http://schemas.openxmlformats.org/officeDocument/2006/relationships/slide" Target="slides/slide56.xml"/><Relationship Id="rId92" Type="http://schemas.openxmlformats.org/officeDocument/2006/relationships/slide" Target="slides/slide57.xml"/><Relationship Id="rId93" Type="http://schemas.openxmlformats.org/officeDocument/2006/relationships/slide" Target="slides/slide58.xml"/><Relationship Id="rId94" Type="http://schemas.openxmlformats.org/officeDocument/2006/relationships/slide" Target="slides/slide59.xml"/><Relationship Id="rId95" Type="http://schemas.openxmlformats.org/officeDocument/2006/relationships/slide" Target="slides/slide60.xml"/><Relationship Id="rId96" Type="http://schemas.openxmlformats.org/officeDocument/2006/relationships/slide" Target="slides/slide61.xml"/><Relationship Id="rId97" Type="http://schemas.openxmlformats.org/officeDocument/2006/relationships/slide" Target="slides/slide62.xml"/><Relationship Id="rId98" Type="http://schemas.openxmlformats.org/officeDocument/2006/relationships/slide" Target="slides/slide63.xml"/><Relationship Id="rId99" Type="http://schemas.openxmlformats.org/officeDocument/2006/relationships/slide" Target="slides/slide64.xml"/><Relationship Id="rId100" Type="http://schemas.openxmlformats.org/officeDocument/2006/relationships/slide" Target="slides/slide65.xml"/><Relationship Id="rId101" Type="http://schemas.openxmlformats.org/officeDocument/2006/relationships/slide" Target="slides/slide66.xml"/><Relationship Id="rId102" Type="http://schemas.openxmlformats.org/officeDocument/2006/relationships/slide" Target="slides/slide67.xml"/><Relationship Id="rId103" Type="http://schemas.openxmlformats.org/officeDocument/2006/relationships/slide" Target="slides/slide68.xml"/><Relationship Id="rId104" Type="http://schemas.openxmlformats.org/officeDocument/2006/relationships/slide" Target="slides/slide69.xml"/><Relationship Id="rId105" Type="http://schemas.openxmlformats.org/officeDocument/2006/relationships/slide" Target="slides/slide70.xml"/><Relationship Id="rId106" Type="http://schemas.openxmlformats.org/officeDocument/2006/relationships/slide" Target="slides/slide71.xml"/><Relationship Id="rId107" Type="http://schemas.openxmlformats.org/officeDocument/2006/relationships/slide" Target="slides/slide72.xml"/><Relationship Id="rId108" Type="http://schemas.openxmlformats.org/officeDocument/2006/relationships/slide" Target="slides/slide73.xml"/><Relationship Id="rId109" Type="http://schemas.openxmlformats.org/officeDocument/2006/relationships/slide" Target="slides/slide74.xml"/><Relationship Id="rId110" Type="http://schemas.openxmlformats.org/officeDocument/2006/relationships/slide" Target="slides/slide75.xml"/><Relationship Id="rId111" Type="http://schemas.openxmlformats.org/officeDocument/2006/relationships/slide" Target="slides/slide76.xml"/><Relationship Id="rId112" Type="http://schemas.openxmlformats.org/officeDocument/2006/relationships/slide" Target="slides/slide77.xml"/><Relationship Id="rId113" Type="http://schemas.openxmlformats.org/officeDocument/2006/relationships/slide" Target="slides/slide78.xml"/><Relationship Id="rId127" Type="http://schemas.openxmlformats.org/officeDocument/2006/relationships/slide" Target="slides/slide79.xml"/><Relationship Id="rId128" Type="http://schemas.openxmlformats.org/officeDocument/2006/relationships/slide" Target="slides/slide80.xml"/><Relationship Id="rId129" Type="http://schemas.openxmlformats.org/officeDocument/2006/relationships/slide" Target="slides/slide81.xml"/><Relationship Id="rId130" Type="http://schemas.openxmlformats.org/officeDocument/2006/relationships/slide" Target="slides/slide82.xml"/><Relationship Id="rId131" Type="http://schemas.openxmlformats.org/officeDocument/2006/relationships/slide" Target="slides/slide83.xml"/><Relationship Id="rId132" Type="http://schemas.openxmlformats.org/officeDocument/2006/relationships/slide" Target="slides/slide84.xml"/><Relationship Id="rId133" Type="http://schemas.openxmlformats.org/officeDocument/2006/relationships/slide" Target="slides/slide85.xml"/><Relationship Id="rId134" Type="http://schemas.openxmlformats.org/officeDocument/2006/relationships/slide" Target="slides/slide86.xml"/><Relationship Id="rId135" Type="http://schemas.openxmlformats.org/officeDocument/2006/relationships/slide" Target="slides/slide87.xml"/><Relationship Id="rId136" Type="http://schemas.openxmlformats.org/officeDocument/2006/relationships/slide" Target="slides/slide88.xml"/><Relationship Id="rId137" Type="http://schemas.openxmlformats.org/officeDocument/2006/relationships/slide" Target="slides/slide89.xml"/><Relationship Id="rId138" Type="http://schemas.openxmlformats.org/officeDocument/2006/relationships/slide" Target="slides/slide90.xml"/><Relationship Id="rId139" Type="http://schemas.openxmlformats.org/officeDocument/2006/relationships/slide" Target="slides/slide91.xml"/><Relationship Id="rId140" Type="http://schemas.openxmlformats.org/officeDocument/2006/relationships/slide" Target="slides/slide92.xml"/><Relationship Id="rId141" Type="http://schemas.openxmlformats.org/officeDocument/2006/relationships/slide" Target="slides/slide93.xml"/><Relationship Id="rId142" Type="http://schemas.openxmlformats.org/officeDocument/2006/relationships/slide" Target="slides/slide94.xml"/><Relationship Id="rId143" Type="http://schemas.openxmlformats.org/officeDocument/2006/relationships/slide" Target="slides/slide95.xml"/><Relationship Id="rId144" Type="http://schemas.openxmlformats.org/officeDocument/2006/relationships/slide" Target="slides/slide96.xml"/><Relationship Id="rId145" Type="http://schemas.openxmlformats.org/officeDocument/2006/relationships/slide" Target="slides/slide97.xml"/><Relationship Id="rId146" Type="http://schemas.openxmlformats.org/officeDocument/2006/relationships/slide" Target="slides/slide98.xml"/><Relationship Id="rId147" Type="http://schemas.openxmlformats.org/officeDocument/2006/relationships/slide" Target="slides/slide99.xml"/><Relationship Id="rId148" Type="http://schemas.openxmlformats.org/officeDocument/2006/relationships/slide" Target="slides/slide100.xml"/><Relationship Id="rId149" Type="http://schemas.openxmlformats.org/officeDocument/2006/relationships/slide" Target="slides/slide101.xml"/><Relationship Id="rId150" Type="http://schemas.openxmlformats.org/officeDocument/2006/relationships/slide" Target="slides/slide102.xml"/><Relationship Id="rId151" Type="http://schemas.openxmlformats.org/officeDocument/2006/relationships/slide" Target="slides/slide103.xml"/><Relationship Id="rId152" Type="http://schemas.openxmlformats.org/officeDocument/2006/relationships/slide" Target="slides/slide104.xml"/><Relationship Id="rId153" Type="http://schemas.openxmlformats.org/officeDocument/2006/relationships/slide" Target="slides/slide105.xml"/><Relationship Id="rId154" Type="http://schemas.openxmlformats.org/officeDocument/2006/relationships/slide" Target="slides/slide106.xml"/><Relationship Id="rId155" Type="http://schemas.openxmlformats.org/officeDocument/2006/relationships/slide" Target="slides/slide107.xml"/><Relationship Id="rId156" Type="http://schemas.openxmlformats.org/officeDocument/2006/relationships/slide" Target="slides/slide108.xml"/><Relationship Id="rId157" Type="http://schemas.openxmlformats.org/officeDocument/2006/relationships/slide" Target="slides/slide109.xml"/><Relationship Id="rId158" Type="http://schemas.openxmlformats.org/officeDocument/2006/relationships/slide" Target="slides/slide110.xml"/><Relationship Id="rId159" Type="http://schemas.openxmlformats.org/officeDocument/2006/relationships/slide" Target="slides/slide111.xml"/><Relationship Id="rId160" Type="http://schemas.openxmlformats.org/officeDocument/2006/relationships/slide" Target="slides/slide112.xml"/><Relationship Id="rId161" Type="http://schemas.openxmlformats.org/officeDocument/2006/relationships/slide" Target="slides/slide113.xml"/><Relationship Id="rId162" Type="http://schemas.openxmlformats.org/officeDocument/2006/relationships/slide" Target="slides/slide114.xml"/><Relationship Id="rId163" Type="http://schemas.openxmlformats.org/officeDocument/2006/relationships/slide" Target="slides/slide115.xml"/><Relationship Id="rId164" Type="http://schemas.openxmlformats.org/officeDocument/2006/relationships/slide" Target="slides/slide116.xml"/><Relationship Id="rId165" Type="http://schemas.openxmlformats.org/officeDocument/2006/relationships/slide" Target="slides/slide117.xml"/><Relationship Id="rId166" Type="http://schemas.openxmlformats.org/officeDocument/2006/relationships/slide" Target="slides/slide118.xml"/><Relationship Id="rId167" Type="http://schemas.openxmlformats.org/officeDocument/2006/relationships/slide" Target="slides/slide119.xml"/><Relationship Id="rId168" Type="http://schemas.openxmlformats.org/officeDocument/2006/relationships/slide" Target="slides/slide120.xml"/><Relationship Id="rId169" Type="http://schemas.openxmlformats.org/officeDocument/2006/relationships/slide" Target="slides/slide121.xml"/><Relationship Id="rId170" Type="http://schemas.openxmlformats.org/officeDocument/2006/relationships/slide" Target="slides/slide122.xml"/><Relationship Id="rId171" Type="http://schemas.openxmlformats.org/officeDocument/2006/relationships/slide" Target="slides/slide123.xml"/><Relationship Id="rId176" Type="http://schemas.openxmlformats.org/officeDocument/2006/relationships/slide" Target="slides/slide124.xml"/><Relationship Id="rId177" Type="http://schemas.openxmlformats.org/officeDocument/2006/relationships/slide" Target="slides/slide125.xml"/><Relationship Id="rId182" Type="http://schemas.openxmlformats.org/officeDocument/2006/relationships/slide" Target="slides/slide126.xml"/><Relationship Id="rId183" Type="http://schemas.openxmlformats.org/officeDocument/2006/relationships/slide" Target="slides/slide127.xml"/><Relationship Id="rId184" Type="http://schemas.openxmlformats.org/officeDocument/2006/relationships/slide" Target="slides/slide1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4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Casos de Uso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18/09/2026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07:30 - 08:33  Revisão geral: Aulas 1 a 3 (regra de negócio, RF/RNF, MoSCoW, UML)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08:33 - 08:45  Quiz relâmpago geral + transição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08:45 - 09:00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09:00 - 09:30  Diagrama de Casos de Uso: elementos e relacionamentos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09:30 - 09:45  Estudo de caso guiado: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09:45 - 10:45  Atividade prática em grupo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10:45 - 10:55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10:55 - 11:15  Apresentação e correção coletiva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11:15 - 11:30  Erros comuns, glossário, quiz e encerramento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RETOMADA GERAL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O que já vimos: Aulas 1 a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Um raio-X rápido antes de entrar fundo no assunto de hoje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AULA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Regra de Negócio e Introdução a Requisitos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Relembrando o ponto de partida da disciplina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uma Regra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uma diretriz que define ou restringe algum aspecto do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Existe independente de haver ou não um sistema informatizado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uma política, norma ou decisão de como a empresa funciona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“clientes com 3+ pedidos cancelados no mês ficam bloqueados por 15 dias”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regras de negócio existem (objetivo)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Garantir consistência nas decisões, mesmo com pessoas diferentes decidindo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Controlar riscos financeiros, operacionais ou de segurança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Refletir políticas internas da empresa ou exigências legais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Orientar decisões que o sistema vai tomar de forma automatizada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Estrutura: Condição / Ação / Exceção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Condição - a situação que dispara a regra (o “se”)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- o que deve acontecer quando a condição é satisfeita (o “então”)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Exceção - quando a regra deixa de valer, se houver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TechBurger: 3+ cancelamentos no mês -&gt; bloquear por 15 dias -&gt; exceção: compras no balcão continuam liberadas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Negócio x Processo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de negócio: uma restrição pontual - o “se... então...”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Processo de negócio: a sequência de atividades para realizar um trabalho - o “como se faz”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processo pode conter várias regras de negócio aplicadas em pontos diferentes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4 tipos de Regra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Restrição (constraint) - limita ou bloqueia uma ação sob condição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Fato / definição - define um termo ou relacionamento, sem 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Cálculo (derivação) - deriva um novo valor a partir de outros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Disparador de ação (action enabler) - aciona automaticamente um evento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Tipos de regra - exemplos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Restrição / Fato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Restrição: “pedidos abaixo de R$ 15 não podem ser confirmados pelo app”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Fato: “um pedido pertence a um único cliente”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Cálculo / Disparador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Cálculo: “o total do pedido é a soma dos itens menos descontos”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Disparador: “ao atingir 100 pontos, o combo grátis é concedido”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Boas práticas para escrever uma Regra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Atômica - trata de uma única decisão (sem “e”/“ou” escondendo duas regras)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Verificável - dá para checar objetivamente se está sendo cumprida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Redigida na linguagem do negócio - sem termos técnicos de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ambiguidade - não abre margem para duas interpretações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Rastreável a um dono - alguém do negócio confirma se ainda é válida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Versão ruim x versão melhorada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Versão ruim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trata bem os clientes fieis.”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é verificável nem atômica: o que é “tratar bem”?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Versão melhorada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“Clientes com 100+ pontos recebem um combo grátis na proxima compra,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 a pontuação é zerada.”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cadeia de requisitos: negócio -&gt; usuário -&gt; sistema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de negócio - por que o sistema precisa existir?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  Ex.: reduzir prejuizo com clientes que cancelam pedidos com frequência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de usuário - o que a pessoa que usa o sistema precisa fazer?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  Ex.: como atendente, preciso ver se um cliente está bloqueado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de sistema (funcional) - o que exatamente o sistema deve fazer?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  Ex.: impedir novos pedidos para clientes com 3+ cancelamentos no mês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8 regras de negócio do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Valor mínimo no aplicativo (R$ 15)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Programa de fidelidade (1 ponto a cada R$ 10; 100 pontos = combo grátis)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Envio a cozinha somente após pagamento confirmado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Desconto PIX automático de 5% no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Raio de entrega de até 5 km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Substituição de item em falta no estoque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Confirmação manual do gerente em pedidos com mais de 10 itens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8. Bloqueio por 15 dias após 3+ cancelamentos no mês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Lembrete: o cenário secundário -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pode ter no máximo 3 livros emprestados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Prazo padrão de 14 dias; professor tem prazo estendido de 30 dias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Multa de R$ 1,00/dia de atraso, exceto livros de leitura escolar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Usamos esse cenário para treinar o mesmo raciocinio em outro dominio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resolvido em outro domínio: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biblioteca comunitária está automatizando o empréstimo de livros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associado pode manter até 3 livros emprestados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Prazo padrão de 14 dias; professores têm prazo estendido de 30 dias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Devolução com atraso gera multa de R$ 1,00/dia, exceto leitura escolar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Biblioteca “Ler Mais” - Condição / Ação / Exceção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Limite de empréstimos: associado já tem 3 livros -&gt; recusar novo empréstimo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Prazo estendido: associado é “professor” -&gt; definir prazo de 30 dias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Multa por atraso: devolução após o prazo -&gt; cobrar R$ 1,00/dia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Exceção da multa: livros reservados para leitura escolar nunca geram multa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Revisão relâmpago - Aula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diferença entre regra de negócio e processo de negócio?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Dê um exemplo de regra do tipo “disparador de ação” no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Por que uma regra de negócio precisa ser “verificável”?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Monte a cadeia negócio -&gt; usuário -&gt; sistema para a regra do raio de entrega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AULA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Requisito Funcional x Não-Funcional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Da regra de negócio ao requisito de sistema, com qualidade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 Funcional (RF)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Descreve o que o sistema deve fazer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 aplicação prática de uma regra de negócio numa capacidade do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Padrão de escrita: “o sistema deve + verbo de ação”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Precisa ser objetivo e verificável: dá para testar se foi atendido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RF na prática: regra -&gt; requisito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Regra: “pedido só é enviado à cozinha após confirmação de pagamento”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“o sistema deve bloquear o envio do pedido para a cozinha até que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pagamento seja confirmado”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escrever um bom Requisito Funcional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Claro e objetivo - uma frase, sem duplo sentido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Atômico - descreve uma única capacidade, não várias amarradas com “e”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Verificável - dá para escrever um teste que aprova ou reprova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Rastreável - sempre dá para apontar de qual regra de negócio ele veio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RF ruim x RF melhorado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Versão ruim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gerenciar bem os pedidos.”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Vago: “gerenciar bem” não é verificável nem testável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Versão melhorada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permitir que o atendente altere um pedido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enquanto ele ainda não foi confirmado.”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 Não-Funcional (RNF)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Descreve como o sistema se comporta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é uma funcionalidade, e sim uma qualidade do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Organizado em categorias: desempenho, segurança, usabilidade, disponibilidade...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RNF por categoria (1/4)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Desempenho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confirmar o pagamento em até 3 segundos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após o envio pelo cliente.”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“Os dados de cartão e PIX devem ser criptografados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em trânsito e em repouso.”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RNF por categoria (2/4)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Usabilidade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aplicativo deve permitir finalizar um pedido simples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em no máximo 4 toques na tela.”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Disponibilidade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estar disponível 99,5% do tempo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durante o horário de funcionamento da loja.”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RNF por categoria (3/4)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Confiabilidade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não deve permitir a perda de um pedido já pago,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mesmo em caso de queda de conexão momentanea.”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Manutenibilidade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“Um desenvolvedor novo deve conseguir corrigir um bug simples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 módulo de pedidos em até 1 dia de trabalho.”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RNF por categoria (4/4)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Portabilidade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aplicativo deve funcionar tanto em Android quanto em iOS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sem alterar as regras de negócio.”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Escalabilidade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suportar 3x o volume atual de pedidos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sem queda de desempenho, em datas de alta demanda.”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Pegadinhas comuns: RF x RNF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Teste rápido: descreve uma ação que o sistema executa? -&gt; RF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Descreve uma qualidade de como essa ação acontece? -&gt; RNF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“O sistema deve permitir login com e-mail e senha.” -&gt; RF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“O login deve responder em até 2 segundos.” -&gt; RNF (Desempenho)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“Senhas devem ser armazenadas de forma criptografada.” -&gt; RNF (Segurança)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relâmpago: RF ou RNF?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“O sistema deve permitir cancelar um pedido em até 5 min após a confirmação.”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“O cancelamento deve ser processado em até 1 segundo.”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“O sistema deve gerar um relatorio mensal de vendas.”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“O relatorio deve poder ser exportado em PDF ou Excel.”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“O sistema deve funcionar corretamente com 500 pedidos simultaneos.”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relâmpago: respostas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RF - funcionalidade; o prazo é uma regra de negócio embutida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RNF (Desempenho) - mesma ação, mas descreve a velocidade da resposta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RF - descreve uma funcionalidade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RF - ainda é uma capacidade do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RNF (Escalabilidade) - comportamento sob carga, não uma função nova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Requisitos ambíguos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requisito é ambíguo quando admite mais de uma interpretação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Causas comuns: adjetivos vagos (“rápido”, “bom”, “fácil”)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Pronomes sem referência clara, e/ou sem definir prioridade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“o sistema deve tratar bem os pedidos urgentes” - qual ação, exatamente?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Conflitos entre 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Dois requisitos podem estar bem escritos e ainda assim conflitarem entre si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TechBurger: “pedidos com +10 itens exigem confirmação manual do gerente”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pode tensionar com “todo pedido deve ser confirmado em até 1 minuto”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resolver: negociar a prioridade com o dono do negócio e documentar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TÉCNICAS DE ANÁLISE DE 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Como levantar requisitos na prática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Sete técnicas, cada uma para uma situação diferente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Entrevista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Conversa direta e guiada com o stakeholder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técnica mais usada para entender regras de negócio em profundidade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 usar: poucos stakeholders, tema exige profundidade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Custo: consome mais tempo por pessoa ouvida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Questionário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Perguntas padronizadas aplicadas a muitas pessoas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 usar: muitos usuários a ouvir rapidamente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Limitação: pouca profundidade em cada resposta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Observação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Acompanhar o usuário executando o trabalho real, sem interferir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Revela detalhes que a pessoa nem lembraria de contar numa entrevista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 usar: comportamento real difere do que a pessoa relata verbalmente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Brainstorming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Geração coletiva de ideias em grupo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Util nas fases iniciais de um projeto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 usar: poucas restrições ainda definidas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serve para validar detalhes técnicos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Prototipação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Construção de uma versão simples (tela, fluxo) para validar entendimento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 usar: já existe uma ideia de tela e é preciso confirmar com o usuário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Antes de programar de verdade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Análise de documentos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Estudo de manuais, contratos, planilhas e sistemas legados existentes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Util para regularizar regras que já estão em vigor mas nunca foram formalizadas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Workshop de requisitos (JAD)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Joint Application Development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Reuniao estruturada com vários stakeholders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Mediada por um facilitador, para levantar e já validar requisitos em conjunto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Reduz idas e vindas entre entrevistas separadas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Qual técnica usar em cada situação?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Poucos stakeholders, tema complexo -&gt; Entrevista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Centenas de usuários finais espalhados -&gt; Questionário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usuário não sabe explicar o que faz, só faz -&gt; Observação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Início de projeto, ainda sem direção clara -&gt; Brainstorming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Validar uma tela antes de programar -&gt; Prototipação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Regras já existem, mas não estão documentadas -&gt; Análise de documentos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Muitos decisores, prazo curto para alinhar tudo -&gt; Workshop (JAD)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PRIORIZAÇÃO DE 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O metodo MoSCoW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Decidindo o que entra primeiro quando tempo e orçamento são limitados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o MoSCoW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Must have - essencial; sem ele o sistema não cumpre seu proposito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Should have - importante, mas o sistema ainda funciona sem ele no lançamento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Could have - desejável, entra apenas se sobrar tempo ou recurso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Won't have (por agora) - fica fora do escopo atual, sem descartar o futuro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MoSCoW aplicado ao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Must: “enviar o pedido a cozinha somente após confirmação do pagamento”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Should: “aplicar 5% de desconto automático quando o pagamento for PIX”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Could: “sugerir um item substituto quando o item estiver em falta”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Won't (por agora): “recomendar produtos usando inteligência artificial”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priorizar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Ajuda o time e o cliente a alinharem expectativas sobre a primeira entrega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Evita que funcionalidades “seria legal ter” atrasem o que é essencial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Critério de Aceite - Dado / Quando / Então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Condição objetiva que diz quando um RF pode ser considerado “pronto”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Fecha o ciclo: regra de negócio -&gt; requisito -&gt; critério de aceite -&gt; teste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Formato: Dado [contexto inicial], Quando [uma ação acontece], Então [reação esperada]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Esse formato é conhecido como Gherkin, usado em testes de aceitação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Critério de Aceite - exemplo aplicado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“o sistema deve bloquear o envio do pedido até o pagamento ser confirmado”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Dado um pedido com pagamento pendente,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 o atendente tentar enviar o pedido a cozinha,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Então o sistema deve impedir o envio e exibir uma mensagem de pagamento pendente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escrever critérios de aceite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Critério vago - “o sistema deve funcionar direito” não dá pra testar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Critério que só repete o RF, sem detalhar o resultado esperado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Critério que testa duas coisas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o “Dado” - sem contexto inicial não dá pra saber quando se aplica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Revisão relâmpago - Aula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diferença entre RF e RNF, em uma frase?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Cite uma técnica de análise indicada para “muitos usuários espalhados”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No MoSCoW, o que diferencia um item Must de um Could?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Escreva um critério de aceite no formato Dado/Quando/Então para qualquer RF do TechBurger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AULA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Modelagem de Sistemas e Introdução a UML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Do requisito ao modelo: por que desenhar antes de programar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Modelagem de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Processo de representar, por meio de modelos, o funcionamento de um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modelo é sempre uma simplificação da realidade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Mostra o que importa para o proposito do momento, sem tentar representar tudo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Corrigir um erro no modelo é muito mais barato que corrigir código já escrito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corrigir um modelo é mais barato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Levantamento de requisitos: custo 1x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Modelagem / projeto: custo 5x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Codificação: custo 10x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Produção (sistema já no ar): custo 100x ou mais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Estimativa clássica da Engenharia de Software (Barry Boehm)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concreto: ambiguidade do desconto PIX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4 do TechBurger (desconto PIX) tinha uma ambiguidade: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“aplica automaticamente” não dizia se era antes ou depois de confirmar 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Pega no levantamento de requisitos: custo 1x, só ajustar o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percebe na codificação: custo 10x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aparece com o sistema no ar, cliente reclamando: custo 100x ou mais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Breve histórico da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Até o início dos anos 1990: dezenas de notações concorrentes e incompatíveis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Booch, Rumbaugh (OMT) e Jacobson (OOSE) uniram suas notações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Unified Modeling Language, padronizada pela OMG em 1997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praticamente só se usa a versão 2.x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Modelos estruturais x comportamentais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Modelos estruturais - representam o que existe: classes, objetos, componentes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Modelos comportamentais - representam o que acontece: casos de uso, atividades, sequência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lado a lado: o pedido do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Como estrutura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Envolve um Pedido, vários Itens e um Cliente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As “coisas” que existem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Como comportamento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cliente escolhe os itens, confirma o pagamento,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 o pedido vai para a cozinha (o que acontece, em ordem)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Características de um bom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Abstração - mostra só o que importa para o objetivo do modelo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Clareza - qualquer stakeholder consegue entender, mesmo sem ser técnico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Consistência - não se contradiz com outros modelos do mesmo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Nível de detalhe adequado ao público que vai usar o modelo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reconhecer um modelo ruim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 Classes com 40 atributos numa única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Nomes genericos: classe “Coisa1”, atributo “dado2”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Relações sem multiplicidade: não dá pra saber se é “1 pra 1” ou “1 pra muitos”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não dá pra explicar o diagrama em 10 segundos, algo está errado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a UML tem tantos diagramas diferentes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Analogia da planta de um prédio: planta baixa, elétrica e hidráulica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Todas descrevem o mesmo prédio, cada uma foca em um aspecto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Analogia do GPS: vista de satelite, vista de ruas, vista de trânsito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diagrama UML é uma “vista” diferente do mesmo sistema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duas grandes famílias de diagramas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UML 2.x define 14 tipos de diagrama ao 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Estruturais - mostram o que existe: Classes, Objetos, Componentes, Implantação...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Comportamentais - mostram o que acontece: Casos de Uso, Atividades, Sequência...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 disciplina foca nos principais, que cobrem a maioria das necessidades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Debate: quanto modelar é suficiente?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Cenário A - MVP de startup: app de delivery pra validar em 1 semana, time de 2 devs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Cenário B - Sistema interno de RH: roda por anos, usado por várias areas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Cenário C - Sistema bancário: transferências, auditoria de compliance, 15+ devs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Cenário D - Sistema de saude: dados sensíveis (LGPD), risco afeta a saude de alguém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prática: quanto maior o risco de um erro, mais vale a pena modelar antes de codificar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4 diagramas que vamos desenhar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Casos de Uso (comportamental) - quem interage e o que pode fazer -&gt; hoje!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 (estrutural) - entidades, atributos e relações -&gt; Aulas 5 e 6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Atividades (comportamental) - passo a passo de um processo -&gt; Aula 7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Sequência (comportamental) - troca de mensagens entre objetos -&gt; Aula 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Panorama rápido: mais 4 diagramas (reconhecimento)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Estados - estados possíveis de um objeto e o que dispara a mudança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Componentes - como o sistema se divide em partes que se comunicam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Objetos - uma instância específica, com valores reais, num instante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Implantação - como as partes são distribuídas em servidores ou nuvem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Diagrama de Estados - exemplo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Util para regras com “status”: um Pedido muda de estado ao longo do fluxo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Pendente -&gt; Pago -&gt; Em preparo -&gt; Pronto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seta representa um evento que dispara a mudança de estado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é foco desta disciplina, mas aparece bastante em sistemas de workflow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 comum na escolha do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Cenário: o app manda o pedido pro sistema de pagamento, que responde aprovando ou recusando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Erro comum: desenhar isso como Diagrama de Atividades (processo interno)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que é erro: são dois sistemas diferentes trocando mensagens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Escolha certa: Diagrama de Sequência (Aula 8) - Atividades é o processo, Sequência é a conversa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comuns a quase todos os diagramas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 - pessoa, sistema externo ou papel que interage com o modelo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 - a “caixa” ou simbolo que representa classe, objeto, ação etc.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Relacionamento - a linha que conecta dois elementos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Rotulo (label) - o texto que nomeia um elemento ou explica um relacionamento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Ferramentas de modelagem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draw.io / diagrams.net - gratuita, no navegador, usada nesta disciplina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StarUML / Astah - dedicadas a UML, com validação de notação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Lucidchart - colaborativa, baseada em nuvem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PlantUML - cria diagramas a partir de texto, ótimo para versionar com o código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Visual Paradigm / Enterprise Architect - ferramentas profissionais completas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usar uma ferramenta em vez de desenhar à mão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Versionamento - guarda o histórico de mudanças do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Padronização - obriga a usar a notação UML correta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Reuso - elementos podem ser reaproveitados entre diagramas do projeto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Exportação - o diagrama pode virar imagem, PDF ou esqueleto de código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UML no mercado: só o necessário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Mesmo em times ágeis, modelar não desapareceu - só ficou mais leve (“Agile Modeling”)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diagrama não é um entregável pro cliente, é uma ferramenta de comunicação pro time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prática: modele o suficiente pra tirar uma dúvida - não modele por modelar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UML no mercado: exemplos reais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Vagas de Analista de Sistemas e Arquiteto pedem “leitura de diagramas UML”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Jira, Confluence e Azure DevOps permitem anexar diagramas UML nas historias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Times de Domain-Driven Design desenham Diagramas de Classes antes de codificar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Miro e Excalidraw reaproveitam a mesma notação, mesmo sem “UML formal”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Quem usa modelagem no dia a 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Analista de Requisitos - desenha Casos de Uso pra alinhar escopo com 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Arquiteto de Software - usa Componentes e Implantação pra decidir a estrutura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Product Owner - lê (não desenha) diagramas pra entender o que o time constrói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QA / Testador - usa Atividades e critérios de aceite pra planejar testes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UML 1.x para 2.x: o que mudou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UML 1.x (1997-2003) - focada em sistemas orientados a objetos “classicos”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UML 2.x (a partir de 2005) - adiciona Estrutura Composta, Comunicação, Temporização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UML 2.x também reforca o Diagrama de Componentes, para sistemas distribuidos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praticamente só se usa a 2.x - é a versão que usaremos nesta disciplina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Anti-padrões mais comuns ao modelar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Modelar demais - diagrama tão detalhado que ninguém lê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Modelar de menos - diagrama tao vago que não ajuda a tirar dúvida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desatualizado - pior que não ter diagrama nenhum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Notação inventada - simbolos fora do padrão UML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Copiar um modelo pronto da internet sem adaptar as regras do seu sistema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Prévia que já vimos: elementos de Casos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 - boneco palito, fora da fronteira do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 de uso - elipse com verbo no infinitivo, dentro da fronteira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 (fronteira) - retângulo que separa dentro/fora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Já fizemos o “Diagrama Humano” e um esboço do TechBurger na Aula 3!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Atalhos úteis do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Ctrl+Shift+H - ajusta o zoom pra ver o diagrama inteiro na tela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Ctrl+D - duplica a forma selecionada (útil pra repetir elipses de Casos de Uso)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Ctrl+Shift+V - cola só o estilo de uma forma em outra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Segurar Shift ao arrastar uma seta - mantém a linha reta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Forma “flutuando”: parece conectada, mas a seta só está por cima, sem virar vértice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de salvar (Ctrl+S) antes de fechar a aba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Nomear caso de uso sem verbo no infinitivo (“Pedido” em vez de “Fazer Pedido”)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Dica de conferência: arraste uma forma conectada - se a seta se mover junto, está conectada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Revisão relâmpago - Aula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Por que um erro encontrado em produção custa mais que um erro nos requisitos?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Diferencie modelo estrutural de modelo comportamental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Cite dois dos quatro diagramas que vamos desenhar nesta disciplina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Dê um exemplo de anti-padrão de modelagem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ASSUNTO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Casos de 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Já vimos o básico na Aula 3 - hoje vamos a fundo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Continuidade da Aula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Aula 3 já previamos os elementos: Ator, Caso de Uso, Sistema (fronteira)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Já fizemos o “Diagrama Humano” com a turma, fora/dentro da fronteira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Já esbocamos um mini-diagrama do TechBurger, com Cliente e Atendente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Hoje: aprofundamos com include, extend e generalização, e fechamos o diagrama completo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Elemento: 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 quem ou o que interage com 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Pode ser uma pessoa (Cliente, Atendente) ou outro sistema (Sistema de Pagamento)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Notação: boneco palito, com o nome escrito embaixo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Fica sempre FORA do retângulo do sistema</a:t>
            </a:r>
          </a:p>
        </p:txBody>
      </p:sp>
      <p:pic>
        <p:nvPicPr>
          <p:cNvPr id="13" name="Picture 12" descr="casos_de_uso_elemen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095" y="5212080"/>
            <a:ext cx="8435808" cy="4114799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Elemento: Caso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 uma funcionalidade que o sistema oferece a um ator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Notação: elipse, com o nome escrito dentro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Nome no padrão verbo no infinitivo + complemento: “Fazer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Fica sempre DENTRO do retângulo do sistema</a:t>
            </a:r>
          </a:p>
        </p:txBody>
      </p:sp>
      <p:pic>
        <p:nvPicPr>
          <p:cNvPr id="13" name="Picture 12" descr="casos_de_uso_elemen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095" y="5212080"/>
            <a:ext cx="8435808" cy="4114799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Elemento: Sistema (fronteira)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retângulo que delimita o que está dentro e fora do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Dentro: os casos de uso (as funcionalidades)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Fora: os atores (quem interage)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nome do sistema costuma ficar no topo do retângulo</a:t>
            </a:r>
          </a:p>
        </p:txBody>
      </p:sp>
      <p:pic>
        <p:nvPicPr>
          <p:cNvPr id="13" name="Picture 12" descr="casos_de_uso_elemen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095" y="5212080"/>
            <a:ext cx="8435808" cy="4114799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prática: ator x caso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Está fora do retângulo e interage com o sistema? -&gt; Ator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Está dentro do retângulo e é uma funcionalidade? -&gt; Caso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Dúvida comum: um sistema externo (como o Sistema de Pagamento) também é ator</a:t>
            </a:r>
          </a:p>
        </p:txBody>
      </p:sp>
      <p:pic>
        <p:nvPicPr>
          <p:cNvPr id="13" name="Picture 12" descr="casos_de_uso_elemen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095" y="5212080"/>
            <a:ext cx="8435808" cy="4114799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nomear um caso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Sempre verbo no infinitivo + complemento: “Fazer Pedido”, “Confirmar Pagamento”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Evite nomes de tela ou de clique: “Clicar no botão confirmar” não é um bom nome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Evite nomes genericos demais: “Gerenciar sistema” não diz o que realmente acontece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nome deve descrever um objetivo do ator, não um passo técnico da interface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RELACIONAMENTOS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Como conectar atores e casos de 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Associação, include, extend e generalização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Associação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Linha simples entre um ator e um caso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seta, sem rótulo - só indica que o ator realiza aquele caso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 relacionamento mais comum no diagrama</a:t>
            </a:r>
          </a:p>
        </p:txBody>
      </p:sp>
      <p:pic>
        <p:nvPicPr>
          <p:cNvPr id="13" name="Picture 12" descr="casos_de_uso_elemen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364" y="5120640"/>
            <a:ext cx="8623271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«include» - o que 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caso de uso sempre inclui outro como parte obrigatória do fluxo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Notação: seta tracejada com a palavra «include», apontando para o caso incluído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Usa-se quando um comportamento é sempre executado, sem exceção</a:t>
            </a:r>
          </a:p>
        </p:txBody>
      </p:sp>
      <p:pic>
        <p:nvPicPr>
          <p:cNvPr id="13" name="Picture 12" descr="casos_de_uso_include_techbur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5642609"/>
            <a:ext cx="11430000" cy="36195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«include» - exemplo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“Fazer Pedido pelo App” «include» “Confirmar Pagamento”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pedido feito pelo app obrigatoriamente passa por confirmar o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existe pedido sem essa etapa - por isso é include, não extend</a:t>
            </a:r>
          </a:p>
        </p:txBody>
      </p:sp>
      <p:pic>
        <p:nvPicPr>
          <p:cNvPr id="13" name="Picture 12" descr="casos_de_uso_include_techbur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5642609"/>
            <a:ext cx="11430000" cy="36195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«include» - exemplo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“Devolver Livro” «include» “Calcular Multa”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devolução passa pelo cálculo de multa (mesmo que o resultado seja R$ 0,00)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 passo obrigatório do fluxo, não uma exceção</a:t>
            </a:r>
          </a:p>
        </p:txBody>
      </p:sp>
      <p:pic>
        <p:nvPicPr>
          <p:cNvPr id="13" name="Picture 12" descr="casos_de_uso_include_bibliote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6478212"/>
            <a:ext cx="11430000" cy="1948295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«extend» - o que 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caso de uso estende outro de forma opcional ou condicional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Notação: seta tracejada com a palavra «extend», apontando para o caso base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Usa-se quando o comportamento só acontece às vezes, sob uma condição</a:t>
            </a:r>
          </a:p>
        </p:txBody>
      </p:sp>
      <p:pic>
        <p:nvPicPr>
          <p:cNvPr id="13" name="Picture 12" descr="casos_de_uso_extend_techbur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5598469"/>
            <a:ext cx="11430000" cy="370778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«extend» - exemplos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“Aplicar Desconto PIX” «extend» “Confirmar Pagamento”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acontece quando o cliente escolhe pagar via PIX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“Sugerir Item Substituto” «extend» “Fazer Pedido pelo App”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acontece quando o item escolhido está em falta no estoque</a:t>
            </a:r>
          </a:p>
        </p:txBody>
      </p:sp>
      <p:pic>
        <p:nvPicPr>
          <p:cNvPr id="13" name="Picture 12" descr="casos_de_uso_extend_techbur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5598469"/>
            <a:ext cx="11430000" cy="370778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«extend» - exemplo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“Renovar Empréstimo” «extend» “Consultar Empréstimo”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acontece se o associado decidir renovar - nem toda consulta vira renovação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é extend: opcional, não obrigatório</a:t>
            </a:r>
          </a:p>
        </p:txBody>
      </p:sp>
      <p:pic>
        <p:nvPicPr>
          <p:cNvPr id="13" name="Picture 12" descr="casos_de_uso_extend_bibliote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6478212"/>
            <a:ext cx="11430000" cy="1948295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«include» x «extend»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«include»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Inclusão obrigatória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Sempre acontece como parte do fluxo principal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Seta tracejada apontando para o caso incluído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«extend»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Extensão opcional/condicional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Só acontece em certas condições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Seta tracejada apontando para o caso base</a:t>
            </a:r>
          </a:p>
        </p:txBody>
      </p:sp>
      <p:pic>
        <p:nvPicPr>
          <p:cNvPr id="16" name="Picture 15" descr="casos_de_uso_include_techbur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7" y="6431280"/>
            <a:ext cx="7315200" cy="2316480"/>
          </a:xfrm>
          <a:prstGeom prst="rect">
            <a:avLst/>
          </a:prstGeom>
        </p:spPr>
      </p:pic>
      <p:pic>
        <p:nvPicPr>
          <p:cNvPr id="17" name="Picture 16" descr="casos_de_uso_extend_techbur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2932" y="6403030"/>
            <a:ext cx="7315200" cy="2372979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Generalização entre atores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ator é um tipo mais específico de outro ator mais geral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Notação: seta com ponta triangular vazada, apontando para o ator geral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ator específico herda tudo que o ator geral pode fazer, e pode ter casos de uso próprios</a:t>
            </a:r>
          </a:p>
        </p:txBody>
      </p:sp>
      <p:pic>
        <p:nvPicPr>
          <p:cNvPr id="13" name="Picture 12" descr="casos_de_uso_generalizacao_techbur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9265" y="5212080"/>
            <a:ext cx="5729468" cy="4114799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Generalização - exemplo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de Balcão e Gerente são tipos mais específicos de “Funcionário”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Ambos podem fazer o que um Funcionário generico faz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Mas Gerente também realiza “Autorizar Pedido Grande”, algo só dele</a:t>
            </a:r>
          </a:p>
        </p:txBody>
      </p:sp>
      <p:pic>
        <p:nvPicPr>
          <p:cNvPr id="13" name="Picture 12" descr="casos_de_uso_generalizacao_techbur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9265" y="5212080"/>
            <a:ext cx="5729468" cy="4114799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Generalização - exemplo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“Professor” é um tipo mais específico de “Associado”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pode fazer tudo que um Associado comum faz (pegar/devolver livro)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Mas tem uma regra própria: prazo de empréstimo estendido para 30 dias</a:t>
            </a:r>
          </a:p>
        </p:txBody>
      </p:sp>
      <p:pic>
        <p:nvPicPr>
          <p:cNvPr id="13" name="Picture 12" descr="casos_de_uso_generalizacao_bibliote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6244416"/>
            <a:ext cx="11430000" cy="2415886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Recapitulando os 4 relacionamentos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 - liga ator a caso de uso, sem condição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«include» - inclusão obrigatória entre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«extend» - extensão opcional/condicional entre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Generalização - “é um tipo de”, entre atores (ou entre casos de uso)</a:t>
            </a:r>
          </a:p>
        </p:txBody>
      </p:sp>
      <p:pic>
        <p:nvPicPr>
          <p:cNvPr id="13" name="Picture 12" descr="casos_de_uso_biblioteca_relacionamen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5731" y="5120640"/>
            <a:ext cx="6316537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ESTUDO DE CASO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Casos de Uso do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Vamos montar o diagrama completo em grupo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Ator: Cliente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Interage pelo aplicativo ou presencialmente no balcão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Faz pedidos, acumula pontos de fidelidade, resgata combos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 ator mais ativo do sistema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Ator: Atendente de Balcão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Registra pedidos feitos presencialmente no balcão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 tipo mais específico de “Funcionário” (generalização)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Ator: Cozinha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Recebe os pedidos já com pagamento confirmado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 a equipe (ou o painel) que prepara os pedidos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Ator: Gerente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Autoriza pedidos grandes (mais de 10 itens)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Também é um tipo mais específico de “Funcionário” (generalização)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Ator: Sistema de Pagamento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ator externo - não é uma pessoa, é outro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Confirma (ou recusa) o pagamento de um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prática da Aula 3: ator é quem interage de fora pra dentro, pessoa ou sistema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 - Casos de uso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Pedido e pagamento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Fazer Pedido pelo App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Fazer Pedido no Balcão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Confirmar Pagamento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Aplicar Desconto PIX (extend)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Fidelidade e entrega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Acumular Pontos de Fidelidade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Resgatar Combo Grátis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Validar Endereço de Entrega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essas relações de include/extend existem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Fazer Pedido pelo App «include» Confirmar Pagamento: todo pedido precisa desse passo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Aplicar Desconto PIX «extend» Confirmar Pagamento: só quando o cliente escolhe PIX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Perceba: a pergunta certa é “isso acontece sempre ou só às vezes?”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7" y="6522720"/>
            <a:ext cx="7315200" cy="231648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2932" y="6494470"/>
            <a:ext cx="7315200" cy="2372979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 - Casos de uso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Sugerir Item Substituto (extend de Fazer 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Autorizar Pedido Grande (ator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Recusar Pedido de Cliente Bloqueado («extend» de Fazer Pedido pelo App)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generalização Atendente / Gerente -&gt; Funcionário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de Balcão e Gerente compartilham comportamentos de “Funcionário”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Modelar assim evita repetir associações comuns aos dois atores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um ainda mantém seus casos de uso exclusivos (ex.: Autorizar Pedido Grande)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9265" y="5212080"/>
            <a:ext cx="5729468" cy="4114799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Montando o diagrama completo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60 minutos, em grupo, no draw.io ou no papel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grupo, desenhem o Diagrama de Casos de Uso completo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Usem o draw.io (ou papel) e os atores/casos de uso já levantados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final, um representante do grupo apresenta o diagrama para a turma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60 minutos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5 atores presentes, todos FORA da fronteira do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8 dos 10 casos de uso listados, DENTRO da fronteira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1 relacionamento «include» e 1 «extend» corretamente aplicados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generalização entre Atendente/Gerente e Funcionário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APRESENTAÇÃO E CORREÇÃO COLETIVA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Diagrama de Casos de Uso (TechBurger)</a:t>
            </a:r>
          </a:p>
        </p:txBody>
      </p:sp>
      <p:pic>
        <p:nvPicPr>
          <p:cNvPr id="12" name="Picture 11" descr="techburger_casos_de_us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33600" y="3094661"/>
            <a:ext cx="13258800" cy="6304184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diagrama-resposta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Encontrem os 5 atores - todos fora do retângulo “Sistema TechBurger”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Sigam a linha tracejada «include» de Fazer Pedido até Confirmar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Sigam a linha tracejada «extend» de Aplicar Desconto PIX até Confirmar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Encontrem a seta de generalização entre Atendente/Gerente e Funcionário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Sigam a linha tracejada «extend» de Recusar Pedido de Cliente Bloqueado até Fazer Pedido pelo App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ERROS COMUNS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O que evitar ao modelar Casos de 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Os mesmos erros valem para o Projeto Integrador, mais a frente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 comum 1: passo de tela como caso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Errado: “Clicar no botão confirmar”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Certo: “Confirmar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 de uso descreve um objetivo do ator, não um clique específico na interface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 comum 2: include/extend sem necessidade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Usar «include»/«extend» para tudo, só porque “fica mais completo”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o relacionamento não ajuda a entender o fluxo, ele só polui o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prática: pergunte sempre “isso acontece sempre (include) ou às vezes (extend)?”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 comum 3: ator dentro da fronteira do sistema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Atores representam quem interage de FORA para DENTRO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Colocar um ator dentro do retângulo confunde “quem usa” com “o que o sistema faz”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 comum 4: caso de uso sem verbo no infinitivo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Errado: “Pedido”, “Pagamento” (só um substantivo)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Certo: “Fazer Pedido”, “Confirmar Pagamento”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o verbo, não fica claro qual ação o sistema realiza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 comum 5: esquecer atores externos (outros sistemas)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Sistema de Pagamento é um ator, mesmo sendo outro sistema, não uma pessoa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atores-sistema deixa o diagrama incompleto, sem mostrar integrações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 comum 6: duplicar o mesmo caso de uso com nomes diferentes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“Fazer Pedido” e “Realizar Pedido” aparecendo como dois casos de uso distintos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Padronizem o vocabulário em grupo antes de começar a desenhar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 - papel externo que interage com 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 de uso - funcionalidade oferecida pelo sistema a um ator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Include - relacionamento de inclusão obrigatória entre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Extend - relacionamento de extensão opcional/condicional entre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Generalização - relação de “é um tipo de” entre atores (ou entre casos de uso)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 - linha simples que liga um ator a um caso de uso que ele realiza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diferença entre ator e caso de uso?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Quando usar «include» e quando usar «extend»?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Dê um exemplo de generalização entre atores no cenário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Por que “clicar no botão confirmar” não é um bom nome de caso de uso?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 que caso de uso o ator Sistema de Pagamento se conecta diretamente? E qual outro caso de uso se relaciona a ele só indiretamente, via «extend»?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QUIZ RELÂMPAGO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Casos de 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Última checagem antes de fechar a aula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- Casos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“Acumular Pontos de Fidelidade” deve ficar dentro ou fora da fronteira do sistema?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“Validar Endereço de Entrega” é um bom nome de caso de uso? Por que?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Se um comportamento SEMPRE acontece dentro de um fluxo, isso é include ou extend?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O que a seta de generalização entre Atendente e Funcionário está dizendo?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Por que o Sistema de Pagamento é considerado um ator, e não um caso de uso?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quiz Casos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Dentro - é uma funcionalidade oferecida pelo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Sim - verbo no infinitivo + complemento, objetivo claro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Include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Que Atendente é um tipo mais específico de Funcionário, herdando seus comportamentos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Porque interage de fora para dentro do sistema, mesmo sendo outro sistema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Revisamos a cadeia completa: regra de negócio -&gt; RF/RNF -&gt; critério de aceite -&gt; UML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 do Diagrama de Casos de Uso: ator, caso de uso,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Relacionamentos: associação, include, extend e generalização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Construímos o Diagrama de Casos de Uso completo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Proxima aula: Diagrama de Classes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755</Words>
  <Application>Microsoft Office PowerPoint</Application>
  <PresentationFormat>Personalizar</PresentationFormat>
  <Paragraphs>94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Unbounded 1 Ultra-Bold</vt:lpstr>
      <vt:lpstr>Calibri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2026-08-30T15:39:53Z</dcterms:modified>
  <dc:identifier>DAGGnDa8uXQ</dc:identifier>
</cp:coreProperties>
</file>