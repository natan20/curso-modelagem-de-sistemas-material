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12" r:id="rId9"/>
    <p:sldId id="313" r:id="rId8"/>
    <p:sldId id="300" r:id="rId21"/>
    <p:sldId id="301" r:id="rId22"/>
    <p:sldId id="314" r:id="rId7"/>
    <p:sldId id="315" r:id="rId6"/>
    <p:sldId id="322" r:id="rId38"/>
    <p:sldId id="323" r:id="rId39"/>
    <p:sldId id="324" r:id="rId40"/>
    <p:sldId id="302" r:id="rId23"/>
    <p:sldId id="303" r:id="rId24"/>
    <p:sldId id="304" r:id="rId25"/>
    <p:sldId id="316" r:id="rId5"/>
    <p:sldId id="317" r:id="rId33"/>
    <p:sldId id="305" r:id="rId26"/>
    <p:sldId id="306" r:id="rId27"/>
    <p:sldId id="307" r:id="rId28"/>
    <p:sldId id="318" r:id="rId34"/>
    <p:sldId id="319" r:id="rId35"/>
    <p:sldId id="320" r:id="rId36"/>
    <p:sldId id="321" r:id="rId37"/>
    <p:sldId id="308" r:id="rId29"/>
    <p:sldId id="309" r:id="rId30"/>
    <p:sldId id="325" r:id="rId41"/>
    <p:sldId id="326" r:id="rId42"/>
    <p:sldId id="327" r:id="rId43"/>
    <p:sldId id="310" r:id="rId31"/>
    <p:sldId id="311" r:id="rId32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9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8.xml"/><Relationship Id="rId9" Type="http://schemas.openxmlformats.org/officeDocument/2006/relationships/slide" Target="slides/slide7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20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2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Requisitos Funcionais e Não-Funcionais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04/09/2026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07:45  Abertura, retomada e correção da Aula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07:45 – 08:15  Requisito 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Requisito Não-Funcional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Ambiguidade e Conflitos entre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09:15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– 09:40  Técnicas de análise de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09:40 – 10:05  Role-play de entrevista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10:05 – 10:40  Atividade prática: das regras aos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10:40 – 11:00  Priorização MoSCoW dos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11:00 – 11:30  Correção coletiva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Quem lembra 2 regras de negócio
da TechBurger?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usá-las hoje para construir requisitos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Requisito Funcional x Não-Funcional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Duas formas diferentes de descrever o que o sistema precisa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 Funcional (RF)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Descreve o que o sistema deve fazer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Aplicação prática de uma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Padrão de redação: “o sistema deve + verbo de ação”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Precisa ser verificável — dá para testar se foi atendido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RF na prática: regra → requisito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Regra: pedido só é enviado à cozinha após confirmação de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o sistema deve bloquear o envio do pedido até o pagamento ser confirmado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pode gerar mais de um requisito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escrever um bom 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Claro e objetivo — uma frase, sem duplo sentido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Atômico — uma única capacidade, não várias amarradas com “e”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Verificável — dá para escrever um teste que aprova ou reprova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Rastreável — sempre dá para apontar de qual regra ele veio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RF ruim x RF melhorado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ruim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gerenciar bem os pedidos.”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Vago: “gerenciar bem” não é testável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melhorada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permitir alterar um pedido enquanto não confirmado.”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Objetivo, atômico e verificável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 Não-Funcional (RNF)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Descreve como o sistema se comporta — não uma funcionalidade, uma qualidade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Categorias: desempenho, segurança, usabilidade, disponibilidade, confiabilidade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Geralmente precisa de medição para ser verificado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RNF por categoria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Exemplos (parte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Desempenho: confirmar pagamento em até 3s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Segurança: dados de cartão/PIX criptografados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Usabilidade: finalizar pedido em até 4 toques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Exemplos (parte 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Disponibilidade: sistema no ar 99,5% do tempo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Confiabilidade: nunca perder um pedido já pago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RNF: mais categorias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Manutenibilidade: corrigir um bug simples em até 1 dia de trabalho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Portabilidade: funcionar em Android e iOS sem mudar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Escalabilidade: suportar 3x o volume em datas de alta demanda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Pegadinhas comuns: RF x RNF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É RF quando...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permitir login com e-mail e senha.”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Descreve uma ação/funcionalidade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É RNF quando...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login deve responder em até 2 segundos.”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Descreve uma qualidade do comportamento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Ambiguidade e Conflitos entre Requisitos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Dois problemas que um requisito bem-intencionado ainda pode 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Requisitos ambíguos e requisitos em conflito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Ambíguo: admite mais de uma interpretação — geralmente por adjetivos vagos (“rápido”, “bom”, “fácil”)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Exemplo: “O sistema deve tratar bem os pedidos urgentes.” — o que é “urgente”? qual ação, exatamente?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Conflito: dois RF bem escritos competem entre si (ex.: confirmação manual de pedido grande x prazo curto de confirmação)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Solução: não ignorar — negociar prioridade com o dono do negócio e documentar a decisão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Pratique: ache o problema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“O sistema deve processar pedidos rapidamente.”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“O app deve ser fácil de usar e seguro, sem exigir login.”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“Todo pedido deve ser entregue em até 20 minutos.” (mesmo com confirmação manual do gerente para pedidos grandes)</a:t>
            </a:r>
          </a:p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•  Em duplas: identifiquem o problema e proponham uma versão corrigida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Técnicas de Análise de Requisitos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Como descobrir o que o sistema precisa fazer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Técnicas de análise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Entrevista — conversa guiada com o stakeholder; a mais usada para entender regras em profundidade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Questionário — perguntas padronizadas para muitas pessoas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Observação — acompanhar o usuário no trabalho real, sem interferir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Técnicas de análise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Brainstorming — geração coletiva de ideias em grupo, útil nas fases iniciais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Prototipação — validar entendimento com uma versão simples antes de desenvolver de verdade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Mais técnicas: documentos e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Análise de documentos — estudar manuais, contratos e sistemas legados já existentes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Workshop (JAD) — reunião estruturada com vários stakeholders ao mesmo tempo, com facilitador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Vantagem do JAD: reduz idas e vindas entre entrevistas separadas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Qual técnica usar em cada situação?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Tema sensível, poucos stakeholders → Entrevista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Centenas de usuários espalhados → Questionário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Usuário não sabe explicar, só faz → Observação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Regras existem mas não documentadas → Análise de documentos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Muitos decisores, prazo curto → Workshop (JAD)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Role-play: entrevista de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Formem duplas: “dono do negócio” e “analista”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analista tenta redescobrir 2-3 regras sem consultar o material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Troquem os papéis na segunda metade do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30 minutos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Transformar as 8 regras da TechBurger em Requisitos Funcionais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Propor pelo menos 4 Requisitos Não-Funcionais com categoria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Usar a tabela da Apostila, seção 7.2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35 minutos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RF segue o padrão “o sistema deve...”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RF é verificável (dá para testar)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4 RNF propostos, com categorias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 e RNF não foram confundidos entre si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Priorização de Requisitos (MoSCoW)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que entra primeiro, quando tempo e orçamento são limitados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MoSCoW: as 4 categorias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Must have — essencial; sem ele o sistema não cumpre seu propósito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Should have — importante, mas o sistema funciona sem ele no lançamento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Could have — desejável, entra se sobrar tempo ou recurso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Won't have (por agora) — fora do escopo atual, sem descartar para o futuro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MoSCoW aplicado ao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Must: enviar pedido à cozinha só após pagamento confirmado — sem isso, a operação quebra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Should: desconto automático de 5% no PIX — importante, mas o sistema roda sem ele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Could: sugerir item substituto quando falta estoque — melhora a experiência, não é crítico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Won't (por agora): recomendação de produtos com IA — fora do escopo desta versão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Atividade: priorize seus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Peguem os RF que o grupo escreveu na atividade anterior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Classifiquem cada um em Must, Should, Could ou Won't have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Justifiquem pelo menos 2 escolhas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20 minutos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Requisito Funcional (RF) — descreve o que o sistema deve fazer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Requisito Não-Funcional (RNF) — descreve como o sistema deve se comportar (qualidade)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Ambiguidade — quando um requisito admite mais de uma interpretação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Conflito de requisitos — dois requisitos bem escritos que competem entre si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MoSCoW — priorização em Must / Should / Could / Won't have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Stakeholder — pessoa ou grupo interessado ou afetado pelo sistema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Verificável — característica de um requisito que pode ser testada/comprovada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Qual a diferença entre requisito funcional e não funcional?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Cite três técnicas de análise de requisitos e quando cada uma é mais indicada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O que torna um requisito ambíguo? Dê um exemplo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Explique a diferença entre Must have e Could have no MoSCoW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Funcional x Requisito Não-Funcional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Ambiguidade e conflitos entre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Técnicas de análise de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Priorização de requisitos com MoSCoW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transformar regras de negócio em requisitos verificáveis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(11/09): Modelagem de Sistemas, ferramentas e introdução à UML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MATERIAL DE RESERVA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Critérios de Aceite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Se sobrar tempo — fecha o ciclo regra → requisito → teste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Critério de aceite: Dado / Quando / Então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Condição objetiva que diz quando um RF está “pronto e correto”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Formato: Dado [contexto], Quando [ação], Então [resultado esperado]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Dado um pedido com pagamento pendente, Quando o atendente tentar enviá-lo à cozinha,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   Então o sistema deve impedir o envio e exibir uma mensagem de pagamento pendente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Prática: escolham mais 1 RF e escrevam o critério de aceite dele (Apostila, seção 8.2)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Extra: aplicando tudo à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Mesma regra da Aula 1: 3 livros emprestados bloqueiam o 4º; professor tem prazo de 30 dias; multa de R$1/dia, exceto leitura escolar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“o sistema deve recusar um novo empréstimo quando o associado já tiver 3 livros emprestados”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RNF (Usabilidade): “registrar um novo empréstimo em no máximo 3 telas”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MoSCoW: recusar o 4º empréstimo = Must; notificar por e-mail sobre multa = Should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