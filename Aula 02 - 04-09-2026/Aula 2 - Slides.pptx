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298" r:id="rId9"/>
    <p:sldId id="299" r:id="rId10"/>
    <p:sldId id="312" r:id="rId11"/>
    <p:sldId id="313" r:id="rId12"/>
    <p:sldId id="300" r:id="rId13"/>
    <p:sldId id="301" r:id="rId14"/>
    <p:sldId id="314" r:id="rId15"/>
    <p:sldId id="315" r:id="rId16"/>
    <p:sldId id="330" r:id="rId17"/>
    <p:sldId id="331" r:id="rId18"/>
    <p:sldId id="322" r:id="rId19"/>
    <p:sldId id="323" r:id="rId20"/>
    <p:sldId id="324" r:id="rId21"/>
    <p:sldId id="302" r:id="rId22"/>
    <p:sldId id="303" r:id="rId23"/>
    <p:sldId id="304" r:id="rId24"/>
    <p:sldId id="316" r:id="rId25"/>
    <p:sldId id="317" r:id="rId26"/>
    <p:sldId id="305" r:id="rId27"/>
    <p:sldId id="306" r:id="rId28"/>
    <p:sldId id="307" r:id="rId29"/>
    <p:sldId id="318" r:id="rId30"/>
    <p:sldId id="332" r:id="rId31"/>
    <p:sldId id="319" r:id="rId32"/>
    <p:sldId id="320" r:id="rId33"/>
    <p:sldId id="321" r:id="rId34"/>
    <p:sldId id="309" r:id="rId35"/>
    <p:sldId id="325" r:id="rId36"/>
    <p:sldId id="326" r:id="rId37"/>
    <p:sldId id="333" r:id="rId38"/>
    <p:sldId id="334" r:id="rId39"/>
    <p:sldId id="335" r:id="rId40"/>
    <p:sldId id="327" r:id="rId41"/>
    <p:sldId id="328" r:id="rId42"/>
    <p:sldId id="329" r:id="rId43"/>
    <p:sldId id="308" r:id="rId44"/>
    <p:sldId id="310" r:id="rId45"/>
    <p:sldId id="311" r:id="rId46"/>
  </p:sldIdLst>
  <p:sldSz cx="18288000" cy="10287000"/>
  <p:notesSz cx="6858000" cy="9144000"/>
  <p:embeddedFontLst>
    <p:embeddedFont>
      <p:font typeface="Unbounded 1 Ultra-Bold" panose="020B0604020202020204" charset="0"/>
      <p:regular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font" Target="fonts/font1.fnt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2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Requisitos Funcionais e Não-Funcionais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04/09/2026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Abertura, retomada e correção da Aula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Requisito 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Ambiguidade e Conflitos entre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09:40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09:40 – 10:05  Role-play de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10:05 – 10:40  Atividade prática: das regras aos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– 11:00  Priorização MoSCoW dos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Quem lembra 2 regras de negócio
da TechBurger?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usá-las hoje para construir requisitos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 Funcional x Não-Funcional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diferentes de descrever o que o sistema precisa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Funcional (RF)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o que o sistema deve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Aplicação prática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Padrão de redação: “o sistema deve + verbo de ação”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ser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verificável: dá para testar se foi atendido</a:t>
            </a:r>
            <a:endParaRPr sz="23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na prática: regra →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pedido só é enviado à cozinha após confirmação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o sistema deve bloquear o envio do pedido até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escrever um bom 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Claro e objetivo: uma frase, sem duplo sentido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Atômico: uma única capacidade, não várias amarradas com</a:t>
            </a:r>
            <a:r>
              <a:rPr sz="2300" b="0" i="0">
                <a:solidFill>
                  <a:srgbClr val="333333"/>
                </a:solidFill>
                <a:latin typeface="Calibri"/>
              </a:rPr>
              <a:t> “e”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Verificável: dá para escrever um teste que aprova ou reprova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Rastreável: sempre dá para apontar de qual regra ele veio</a:t>
            </a:r>
            <a:endParaRPr sz="23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ruim x RF melhorado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gerenciar bem os pedidos.”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Vago: “gerenciar bem” não é testável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alterar um pedido enquanto não confirmado.”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Objetivo, atômico e verificável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Não-Funcional (RNF)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1564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como o sistema se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comporta: não é uma funcionalidade, é uma qualidade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Categorias: desempenho, segurança, usabilidade, disponibilidade, confiabilidade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Geralmente precisa de medição para ser verificado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Desempenho: confirmar pagamento em até 3s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Segurança: dados de cartão/PIX criptografados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Usabilidade: finalizar pedido em até 4 toques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Disponibilidade: sistema no ar 99,5%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Confiabilidade: nunca perder um pedido já pago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RNF: mais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Manutenibilidade: corrigir um bug simples em até 1 dia de trabalho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Portabilidade: funcionar em Android e iOS sem mudar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Escalabilidade: suportar 3x o volume em datas de alta demanda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Pegadinhas comuns: RF x RNF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RF quando...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login com e-mail e senha.”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ação/funcionalidade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RNF quando...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login deve responder em até 2 segundos.”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qualidade do comportamento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relâmpago: RF ou RNF?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permitir cancelar um pedido em até 5 min após a confirmação.”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cancelamento deve ser processado em até 1 segundo.”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gerar um relatório mensal de vendas.”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relatório deve poder ser exportado em PDF ou Excel.”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funcionar com 500 pedidos simultâneos.”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relâmpago: respostas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33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“O sistema deve permitir cancelar um pedido em até 5 min após a confirmação.” </a:t>
            </a:r>
            <a:r>
              <a:rPr sz="2300" b="1">
                <a:solidFill>
                  <a:srgbClr val="1F497D"/>
                </a:solidFill>
                <a:latin typeface="Calibri"/>
              </a:rPr>
              <a:t>→ </a:t>
            </a:r>
            <a:r>
              <a:rPr lang="pt-BR" sz="2300" b="1">
                <a:solidFill>
                  <a:srgbClr val="1F497D"/>
                </a:solidFill>
                <a:latin typeface="Calibri"/>
              </a:rPr>
              <a:t>RF: funcionalidade; o prazo é uma regra de negócio embutida</a:t>
            </a:r>
            <a:endParaRPr sz="2300" b="1">
              <a:solidFill>
                <a:srgbClr val="1F497D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“O cancelamento deve ser processado em até 1 segundo.” </a:t>
            </a:r>
            <a:r>
              <a:rPr sz="2300" b="1">
                <a:solidFill>
                  <a:srgbClr val="1F497D"/>
                </a:solidFill>
                <a:latin typeface="Calibri"/>
              </a:rPr>
              <a:t>→ </a:t>
            </a:r>
            <a:r>
              <a:rPr lang="pt-BR" sz="2300" b="1">
                <a:solidFill>
                  <a:srgbClr val="1F497D"/>
                </a:solidFill>
                <a:latin typeface="Calibri"/>
              </a:rPr>
              <a:t>RNF (Desempenho): mesma ação, mas descreve a velocidade da resposta</a:t>
            </a:r>
            <a:endParaRPr sz="2300" b="1">
              <a:solidFill>
                <a:srgbClr val="1F497D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“O sistema deve gerar um relatório mensal de vendas.” </a:t>
            </a:r>
            <a:r>
              <a:rPr sz="2300" b="1">
                <a:solidFill>
                  <a:srgbClr val="1F497D"/>
                </a:solidFill>
                <a:latin typeface="Calibri"/>
              </a:rPr>
              <a:t>→ </a:t>
            </a:r>
            <a:r>
              <a:rPr lang="pt-BR" sz="2300" b="1">
                <a:solidFill>
                  <a:srgbClr val="1F497D"/>
                </a:solidFill>
                <a:latin typeface="Calibri"/>
              </a:rPr>
              <a:t>RF: descreve uma funcionalidade</a:t>
            </a:r>
            <a:endParaRPr sz="2300" b="1">
              <a:solidFill>
                <a:srgbClr val="1F497D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“O relatório deve poder ser exportado em PDF ou Excel.” </a:t>
            </a:r>
            <a:r>
              <a:rPr sz="2300" b="1">
                <a:solidFill>
                  <a:srgbClr val="1F497D"/>
                </a:solidFill>
                <a:latin typeface="Calibri"/>
              </a:rPr>
              <a:t>→ </a:t>
            </a:r>
            <a:r>
              <a:rPr lang="pt-BR" sz="2300" b="1">
                <a:solidFill>
                  <a:srgbClr val="1F497D"/>
                </a:solidFill>
                <a:latin typeface="Calibri"/>
              </a:rPr>
              <a:t>RF: ainda é uma capacidade do sistema</a:t>
            </a:r>
            <a:endParaRPr sz="2300" b="1">
              <a:solidFill>
                <a:srgbClr val="1F497D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“O sistema deve funcionar com 500 pedidos simultâneos.” </a:t>
            </a:r>
            <a:r>
              <a:rPr sz="2300" b="1">
                <a:solidFill>
                  <a:srgbClr val="1F497D"/>
                </a:solidFill>
                <a:latin typeface="Calibri"/>
              </a:rPr>
              <a:t>→ </a:t>
            </a:r>
            <a:r>
              <a:rPr lang="pt-BR" sz="2300" b="1">
                <a:solidFill>
                  <a:srgbClr val="1F497D"/>
                </a:solidFill>
                <a:latin typeface="Calibri"/>
              </a:rPr>
              <a:t>RNF (Escalabilidade): comportamento sob carga, não uma função nova</a:t>
            </a:r>
            <a:endParaRPr sz="2300" b="1">
              <a:solidFill>
                <a:srgbClr val="1F497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Ambiguidade e Conflitos entre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Dois problemas que um requisito bem-intencionado ainda pode 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Requisitos ambíguos e requisitos em conflito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Ambíguo: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admite mais de uma interpretação, geralmente por adjetivos vagos</a:t>
            </a:r>
            <a:r>
              <a:rPr sz="2300" b="0" i="0">
                <a:solidFill>
                  <a:srgbClr val="333333"/>
                </a:solidFill>
                <a:latin typeface="Calibri"/>
              </a:rPr>
              <a:t> (“rápido”, “bom”, “fácil”)</a:t>
            </a:r>
          </a:p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“O sistema deve tratar bem os pedidos urgentes.”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. O que é </a:t>
            </a:r>
            <a:r>
              <a:rPr sz="2300" b="0" i="0">
                <a:solidFill>
                  <a:srgbClr val="333333"/>
                </a:solidFill>
                <a:latin typeface="Calibri"/>
              </a:rPr>
              <a:t>“urgente”? qual ação, exatamente?</a:t>
            </a:r>
          </a:p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Conflito: dois RF bem escritos competem entre si (ex.: confirmação manual de pedido grande x prazo curto de confirmação)</a:t>
            </a:r>
          </a:p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Solução: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não ignorar; negociar prioridade</a:t>
            </a:r>
            <a:r>
              <a:rPr sz="2300" b="0" i="0">
                <a:solidFill>
                  <a:srgbClr val="333333"/>
                </a:solidFill>
                <a:latin typeface="Calibri"/>
              </a:rPr>
              <a:t> com o dono do negócio e documentar a decisão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Pratique: ache o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sistema deve processar pedidos rapidamente.”</a:t>
            </a:r>
          </a:p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“O app deve ser fácil de usar e seguro, sem exigir login.”</a:t>
            </a:r>
          </a:p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“Todo pedido deve ser entregue em até 20 minutos.” (mesmo com confirmação manual do gerente para pedidos grandes)</a:t>
            </a:r>
          </a:p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duplas: identifiquem o problema e proponham uma versão corrigida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Técnicas de Análise de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descobrir o que o sistema precisa fazer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1564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Entrevista: conversa guiada com o stakeholder</a:t>
            </a:r>
            <a:r>
              <a:rPr sz="2300" b="0" i="0">
                <a:solidFill>
                  <a:srgbClr val="333333"/>
                </a:solidFill>
                <a:latin typeface="Calibri"/>
              </a:rPr>
              <a:t>; a mais usada para entender regras em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Questionário: perguntas padronizadas para muitas pessoas ao mesmo tempo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Observação: acompanhar o usuário no trabalho real, sem interferir</a:t>
            </a:r>
            <a:endParaRPr sz="23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Brainstorming: geração coletiva de ideias em grupo, útil nas fases iniciais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Prototipação: validar entendimento com uma versão simples antes de desenvolver de verdade</a:t>
            </a:r>
            <a:endParaRPr sz="23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Mais técnicas: documentos e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1564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Análise de documentos: estudar manuais, contratos e sistemas legados já existentes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Workshop (JAD): reunião estruturada com vários stakeholders ao mesmo tempo, com facilitador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Vantagem do JAD: reduz idas e vindas entre entrevistas separadas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Qual técnica usar em cada situação?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Tema sensível, poucos stakeholders →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Centenas de usuários espalhados → Questionário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Usuário não sabe explicar, só faz → Observação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existem mas não documentadas → Análise de documentos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decisores, prazo curto → Workshop (JAD)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Role-play: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Formem duplas: “dono do negócio” (já conhece as regras da TechBurger) e “analista” (não consulta o material)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analista faz perguntas abertas para tentar redescobrir 2-3 regras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Troquem os papéis na segunda metade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as 8 regras da TechBurger em Requisitos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Propor pelo menos 4 Requisitos Não-Funcionais com categoria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a tabela da Apostila, seção 7.2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35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RF segue o padrão “o sistema deve...”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RF é verificável (dá para testar)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RNF propostos, com categorias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 e RNF não foram confundidos entre si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Priorização de Requisitos (MoSCoW)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que entra primeiro, quando tempo e orçamento são limitados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o MoSCoW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para priorizar requisitos já escritos (RF e RNF)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Usada quando tempo, orçamento ou equipe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são limitados; nem tudo cabe na primeira versão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Classifica cada requisito em uma de 4 categorias, da mais para a menos essencial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nome vem das iniciais das categorias: Must, Should, Could, Won't have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MoSCoW: as 4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Must have: essencial; sem ele o sistema não cumpre seu propósito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Should have: importante, mas o sistema funciona sem ele no lançamento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Could have: desejável, entra se sobrar tempo ou recurso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Won't have (por agora): fora do escopo atual, sem descartar para o futuro</a:t>
            </a:r>
            <a:endParaRPr sz="23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 aplicado ao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Must: enviar pedido à cozinha só após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pagamento confirmado; sem isso, a operação quebra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Should: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desconto automático de 5% no PIX; importante, mas o sistema roda sem ele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Could: sugerir item substituto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quando falta estoque; melhora a experiência, não é crítico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(por agora):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recomendação de produtos com IA; fora do escopo desta versão</a:t>
            </a:r>
            <a:endParaRPr sz="23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Atividade: priorize seus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Peguem os RF que o grupo escreveu na atividade anterior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Classifiquem cada um em Must, Should, Could ou Won't have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Justifiquem pelo menos 2 escolhas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20 minutos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requisito funcional e não funcional?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técnicas de análise de requisitos e quando cada uma é mais indicada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O que torna um requisito ambíguo? Dê um exemplo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Explique a diferença entre Must have e Could have no MoSCoW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MATERIAL DE RESERVA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Critérios de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lang="pt-BR" sz="2500" b="0" i="0">
                <a:solidFill>
                  <a:srgbClr val="1F497D"/>
                </a:solidFill>
                <a:latin typeface="Calibri"/>
              </a:rPr>
              <a:t>Se sobrar tempo: fecha o ciclo</a:t>
            </a:r>
            <a:r>
              <a:rPr sz="2500" b="0" i="0">
                <a:solidFill>
                  <a:srgbClr val="1F497D"/>
                </a:solidFill>
                <a:latin typeface="Calibri"/>
              </a:rPr>
              <a:t> regra → requisito → teste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objetiva que diz quando um RF está “pronto e correto”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Fecha o ciclo: regra de negócio → requisito → critério de aceite → teste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ele, “pronto” é opinião; com ele, vira algo que dá para testar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Serve para qualquer RF, não só os mais complexos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retomar esse ciclo nas aulas de teste de sistemas, mais adiante no curso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Formato: Dado / Quando / Então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682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Dado [um contexto inicial]: o estado do sistema antes da ação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Quando [uma ação acontece], o gatilho: o que o usuário ou o sistema faz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Então [o sistema deve reagir assim]: o resultado esperado, de forma verificável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critério de aceite nasce de um Requisito Funcional já escrito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 conhecido como Gherkin, usado depois em testes de aceitação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aplicado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bloquear o envio do pedido para a cozinha até que o pagamento seja confirmado”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Dado: um pedido com pagamento pendente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Quando: o atendente tentar enviar o pedido à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Então: o sistema deve impedir o envio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E: exibir uma mensagem de pagamento pendente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Escolham mais 1 RF que o grupo escreveu na atividade 7.2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Escrevam o critério de aceite dele, no formato Dado/Quando/Então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Apostila, seção 8.2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1-2 duplas leem em voz alta para a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restante tenta identificar: está verificável?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Extra: aplicando tudo à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Mesma regra da Aula 1: 3 livros emprestados bloqueiam o 4º; professor tem prazo de 30 dias; multa de R$1/dia, exceto leitura escolar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recusar um novo empréstimo quando o associado já tiver 3 livros emprestados”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 (Usabilidade): “registrar um novo empréstimo em no máximo 3 telas”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MoSCoW: recusar o 4º empréstimo = Must; notificar por e-mail sobre multa = Should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em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682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Perguntas fechadas demais (sim/não)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em vez de abertas: perde detalhes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Induzir a resposta (“você não acha que seria melhor...?”)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Não validar o que ouviu: deixar de repetir/resumir de volta pro entrevistado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Focar no “como” em vez do “que” </a:t>
            </a:r>
            <a:r>
              <a:rPr lang="pt-BR" sz="2300" b="0" i="0">
                <a:solidFill>
                  <a:srgbClr val="333333"/>
                </a:solidFill>
                <a:latin typeface="Calibri"/>
              </a:rPr>
              <a:t>: viés de solução prematura</a:t>
            </a:r>
            <a:endParaRPr sz="23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registrar a conversa e confiar só na memória depois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Síntese: fechando 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Requisito (RF ou RNF)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checar Ambiguidade / Conflito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Priorizar (MoSCoW)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Critério de Aceite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→ Aula 3: representar tudo em UML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200" b="0" i="0">
                <a:solidFill>
                  <a:srgbClr val="333333"/>
                </a:solidFill>
                <a:latin typeface="Calibri"/>
              </a:rPr>
              <a:t>Requisito Funcional (RF): descreve o que o sistema deve fazer</a:t>
            </a:r>
            <a:endParaRPr sz="22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200" b="0" i="0">
                <a:solidFill>
                  <a:srgbClr val="333333"/>
                </a:solidFill>
                <a:latin typeface="Calibri"/>
              </a:rPr>
              <a:t>Requisito Não-Funcional (RNF): descreve como o sistema deve se comportar</a:t>
            </a:r>
            <a:r>
              <a:rPr sz="2200" b="0" i="0">
                <a:solidFill>
                  <a:srgbClr val="333333"/>
                </a:solidFill>
                <a:latin typeface="Calibri"/>
              </a:rPr>
              <a:t> (qualidade)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200" b="0" i="0">
                <a:solidFill>
                  <a:srgbClr val="333333"/>
                </a:solidFill>
                <a:latin typeface="Calibri"/>
              </a:rPr>
              <a:t>Ambiguidade: quando um requisito admite mais de uma interpretação</a:t>
            </a:r>
            <a:endParaRPr sz="22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200" b="0" i="0">
                <a:solidFill>
                  <a:srgbClr val="333333"/>
                </a:solidFill>
                <a:latin typeface="Calibri"/>
              </a:rPr>
              <a:t>Conflito de requisitos: dois requisitos bem escritos que competem entre si</a:t>
            </a:r>
            <a:endParaRPr sz="22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en-US" sz="2200" b="0" i="0">
                <a:solidFill>
                  <a:srgbClr val="333333"/>
                </a:solidFill>
                <a:latin typeface="Calibri"/>
              </a:rPr>
              <a:t>MoSCoW: priorização em Must / Should / Could / Won't have</a:t>
            </a:r>
            <a:endParaRPr sz="22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200" b="0" i="0">
                <a:solidFill>
                  <a:srgbClr val="333333"/>
                </a:solidFill>
                <a:latin typeface="Calibri"/>
              </a:rPr>
              <a:t>Stakeholder: pessoa ou grupo interessado ou afetado pelo sistema</a:t>
            </a:r>
            <a:endParaRPr sz="22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</a:t>
            </a:r>
            <a:r>
              <a:rPr lang="pt-BR" sz="2200" b="0" i="0">
                <a:solidFill>
                  <a:srgbClr val="333333"/>
                </a:solidFill>
                <a:latin typeface="Calibri"/>
              </a:rPr>
              <a:t>Verificável: característica de um requisito que pode ser testada/comprovada</a:t>
            </a:r>
            <a:endParaRPr sz="2200" b="0" i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 x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Ambiguidade e conflitos entre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Priorização de requisitos com MoSCoW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transformar regras de negócio em requisitos verificáveis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(11/09): Modelagem de Sistemas, ferramentas e introdução à UML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2197</Words>
  <Application>Microsoft Office PowerPoint</Application>
  <PresentationFormat>Personalizar</PresentationFormat>
  <Paragraphs>214</Paragraphs>
  <Slides>42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42</vt:i4>
      </vt:variant>
    </vt:vector>
  </HeadingPairs>
  <TitlesOfParts>
    <vt:vector size="47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15</cp:revision>
  <dcterms:created xsi:type="dcterms:W3CDTF">2006-08-16T00:00:00Z</dcterms:created>
  <dcterms:modified xsi:type="dcterms:W3CDTF">2026-09-03T21:49:44Z</dcterms:modified>
  <dc:identifier>DAGGnDa8uXQ</dc:identifier>
</cp:coreProperties>
</file>