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469" r:id="rId126"/>
    <p:sldId id="470" r:id="rId125"/>
    <p:sldId id="584" r:id="rId99"/>
    <p:sldId id="585" r:id="rId98"/>
    <p:sldId id="586" r:id="rId97"/>
    <p:sldId id="587" r:id="rId96"/>
    <p:sldId id="588" r:id="rId95"/>
    <p:sldId id="589" r:id="rId94"/>
    <p:sldId id="590" r:id="rId93"/>
    <p:sldId id="591" r:id="rId92"/>
    <p:sldId id="592" r:id="rId127"/>
    <p:sldId id="593" r:id="rId128"/>
    <p:sldId id="594" r:id="rId129"/>
    <p:sldId id="595" r:id="rId130"/>
    <p:sldId id="596" r:id="rId131"/>
    <p:sldId id="597" r:id="rId132"/>
    <p:sldId id="598" r:id="rId133"/>
    <p:sldId id="599" r:id="rId134"/>
    <p:sldId id="600" r:id="rId135"/>
    <p:sldId id="601" r:id="rId136"/>
    <p:sldId id="602" r:id="rId137"/>
    <p:sldId id="603" r:id="rId138"/>
    <p:sldId id="604" r:id="rId139"/>
    <p:sldId id="605" r:id="rId140"/>
    <p:sldId id="606" r:id="rId141"/>
    <p:sldId id="607" r:id="rId142"/>
    <p:sldId id="608" r:id="rId143"/>
    <p:sldId id="609" r:id="rId144"/>
    <p:sldId id="610" r:id="rId145"/>
    <p:sldId id="611" r:id="rId146"/>
    <p:sldId id="683" r:id="rId111"/>
    <p:sldId id="684" r:id="rId112"/>
    <p:sldId id="685" r:id="rId113"/>
    <p:sldId id="686" r:id="rId114"/>
    <p:sldId id="687" r:id="rId115"/>
    <p:sldId id="612" r:id="rId147"/>
    <p:sldId id="613" r:id="rId148"/>
    <p:sldId id="614" r:id="rId149"/>
    <p:sldId id="615" r:id="rId150"/>
    <p:sldId id="616" r:id="rId151"/>
    <p:sldId id="617" r:id="rId152"/>
    <p:sldId id="618" r:id="rId153"/>
    <p:sldId id="619" r:id="rId154"/>
    <p:sldId id="620" r:id="rId155"/>
    <p:sldId id="621" r:id="rId156"/>
    <p:sldId id="622" r:id="rId157"/>
    <p:sldId id="623" r:id="rId158"/>
    <p:sldId id="624" r:id="rId159"/>
    <p:sldId id="625" r:id="rId160"/>
    <p:sldId id="626" r:id="rId161"/>
    <p:sldId id="627" r:id="rId162"/>
    <p:sldId id="628" r:id="rId163"/>
    <p:sldId id="680" r:id="rId108"/>
    <p:sldId id="681" r:id="rId109"/>
    <p:sldId id="682" r:id="rId110"/>
    <p:sldId id="629" r:id="rId164"/>
    <p:sldId id="630" r:id="rId165"/>
    <p:sldId id="631" r:id="rId166"/>
    <p:sldId id="632" r:id="rId167"/>
    <p:sldId id="679" r:id="rId107"/>
    <p:sldId id="633" r:id="rId168"/>
    <p:sldId id="634" r:id="rId169"/>
    <p:sldId id="635" r:id="rId170"/>
    <p:sldId id="636" r:id="rId171"/>
    <p:sldId id="637" r:id="rId91"/>
    <p:sldId id="638" r:id="rId90"/>
    <p:sldId id="639" r:id="rId89"/>
    <p:sldId id="678" r:id="rId106"/>
    <p:sldId id="640" r:id="rId88"/>
    <p:sldId id="641" r:id="rId176"/>
    <p:sldId id="642" r:id="rId177"/>
    <p:sldId id="643" r:id="rId87"/>
    <p:sldId id="644" r:id="rId86"/>
    <p:sldId id="645" r:id="rId82"/>
    <p:sldId id="677" r:id="rId105"/>
    <p:sldId id="646" r:id="rId81"/>
    <p:sldId id="647" r:id="rId182"/>
    <p:sldId id="648" r:id="rId183"/>
    <p:sldId id="649" r:id="rId184"/>
    <p:sldId id="650" r:id="rId80"/>
    <p:sldId id="676" r:id="rId104"/>
    <p:sldId id="651" r:id="rId79"/>
    <p:sldId id="652" r:id="rId78"/>
    <p:sldId id="653" r:id="rId77"/>
    <p:sldId id="654" r:id="rId76"/>
    <p:sldId id="655" r:id="rId75"/>
    <p:sldId id="656" r:id="rId74"/>
    <p:sldId id="657" r:id="rId73"/>
    <p:sldId id="658" r:id="rId72"/>
    <p:sldId id="659" r:id="rId71"/>
    <p:sldId id="660" r:id="rId70"/>
    <p:sldId id="661" r:id="rId69"/>
    <p:sldId id="662" r:id="rId68"/>
    <p:sldId id="663" r:id="rId67"/>
    <p:sldId id="664" r:id="rId66"/>
    <p:sldId id="665" r:id="rId65"/>
    <p:sldId id="666" r:id="rId64"/>
    <p:sldId id="667" r:id="rId63"/>
    <p:sldId id="668" r:id="rId62"/>
    <p:sldId id="669" r:id="rId61"/>
    <p:sldId id="670" r:id="rId60"/>
    <p:sldId id="671" r:id="rId59"/>
    <p:sldId id="672" r:id="rId58"/>
    <p:sldId id="673" r:id="rId57"/>
    <p:sldId id="674" r:id="rId56"/>
    <p:sldId id="675" r:id="rId5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55" Type="http://schemas.openxmlformats.org/officeDocument/2006/relationships/slide" Target="slides/slide106.xml"/><Relationship Id="rId56" Type="http://schemas.openxmlformats.org/officeDocument/2006/relationships/slide" Target="slides/slide105.xml"/><Relationship Id="rId57" Type="http://schemas.openxmlformats.org/officeDocument/2006/relationships/slide" Target="slides/slide104.xml"/><Relationship Id="rId58" Type="http://schemas.openxmlformats.org/officeDocument/2006/relationships/slide" Target="slides/slide103.xml"/><Relationship Id="rId59" Type="http://schemas.openxmlformats.org/officeDocument/2006/relationships/slide" Target="slides/slide102.xml"/><Relationship Id="rId60" Type="http://schemas.openxmlformats.org/officeDocument/2006/relationships/slide" Target="slides/slide101.xml"/><Relationship Id="rId61" Type="http://schemas.openxmlformats.org/officeDocument/2006/relationships/slide" Target="slides/slide100.xml"/><Relationship Id="rId62" Type="http://schemas.openxmlformats.org/officeDocument/2006/relationships/slide" Target="slides/slide99.xml"/><Relationship Id="rId63" Type="http://schemas.openxmlformats.org/officeDocument/2006/relationships/slide" Target="slides/slide98.xml"/><Relationship Id="rId64" Type="http://schemas.openxmlformats.org/officeDocument/2006/relationships/slide" Target="slides/slide97.xml"/><Relationship Id="rId65" Type="http://schemas.openxmlformats.org/officeDocument/2006/relationships/slide" Target="slides/slide96.xml"/><Relationship Id="rId66" Type="http://schemas.openxmlformats.org/officeDocument/2006/relationships/slide" Target="slides/slide95.xml"/><Relationship Id="rId67" Type="http://schemas.openxmlformats.org/officeDocument/2006/relationships/slide" Target="slides/slide94.xml"/><Relationship Id="rId68" Type="http://schemas.openxmlformats.org/officeDocument/2006/relationships/slide" Target="slides/slide93.xml"/><Relationship Id="rId69" Type="http://schemas.openxmlformats.org/officeDocument/2006/relationships/slide" Target="slides/slide92.xml"/><Relationship Id="rId70" Type="http://schemas.openxmlformats.org/officeDocument/2006/relationships/slide" Target="slides/slide91.xml"/><Relationship Id="rId71" Type="http://schemas.openxmlformats.org/officeDocument/2006/relationships/slide" Target="slides/slide90.xml"/><Relationship Id="rId72" Type="http://schemas.openxmlformats.org/officeDocument/2006/relationships/slide" Target="slides/slide89.xml"/><Relationship Id="rId73" Type="http://schemas.openxmlformats.org/officeDocument/2006/relationships/slide" Target="slides/slide88.xml"/><Relationship Id="rId74" Type="http://schemas.openxmlformats.org/officeDocument/2006/relationships/slide" Target="slides/slide87.xml"/><Relationship Id="rId75" Type="http://schemas.openxmlformats.org/officeDocument/2006/relationships/slide" Target="slides/slide86.xml"/><Relationship Id="rId76" Type="http://schemas.openxmlformats.org/officeDocument/2006/relationships/slide" Target="slides/slide85.xml"/><Relationship Id="rId77" Type="http://schemas.openxmlformats.org/officeDocument/2006/relationships/slide" Target="slides/slide84.xml"/><Relationship Id="rId78" Type="http://schemas.openxmlformats.org/officeDocument/2006/relationships/slide" Target="slides/slide83.xml"/><Relationship Id="rId79" Type="http://schemas.openxmlformats.org/officeDocument/2006/relationships/slide" Target="slides/slide82.xml"/><Relationship Id="rId80" Type="http://schemas.openxmlformats.org/officeDocument/2006/relationships/slide" Target="slides/slide80.xml"/><Relationship Id="rId81" Type="http://schemas.openxmlformats.org/officeDocument/2006/relationships/slide" Target="slides/slide76.xml"/><Relationship Id="rId82" Type="http://schemas.openxmlformats.org/officeDocument/2006/relationships/slide" Target="slides/slide74.xml"/><Relationship Id="rId86" Type="http://schemas.openxmlformats.org/officeDocument/2006/relationships/slide" Target="slides/slide73.xml"/><Relationship Id="rId87" Type="http://schemas.openxmlformats.org/officeDocument/2006/relationships/slide" Target="slides/slide72.xml"/><Relationship Id="rId88" Type="http://schemas.openxmlformats.org/officeDocument/2006/relationships/slide" Target="slides/slide69.xml"/><Relationship Id="rId89" Type="http://schemas.openxmlformats.org/officeDocument/2006/relationships/slide" Target="slides/slide67.xml"/><Relationship Id="rId90" Type="http://schemas.openxmlformats.org/officeDocument/2006/relationships/slide" Target="slides/slide66.xml"/><Relationship Id="rId91" Type="http://schemas.openxmlformats.org/officeDocument/2006/relationships/slide" Target="slides/slide65.xml"/><Relationship Id="rId92" Type="http://schemas.openxmlformats.org/officeDocument/2006/relationships/slide" Target="slides/slide10.xml"/><Relationship Id="rId93" Type="http://schemas.openxmlformats.org/officeDocument/2006/relationships/slide" Target="slides/slide9.xml"/><Relationship Id="rId94" Type="http://schemas.openxmlformats.org/officeDocument/2006/relationships/slide" Target="slides/slide8.xml"/><Relationship Id="rId95" Type="http://schemas.openxmlformats.org/officeDocument/2006/relationships/slide" Target="slides/slide7.xml"/><Relationship Id="rId96" Type="http://schemas.openxmlformats.org/officeDocument/2006/relationships/slide" Target="slides/slide6.xml"/><Relationship Id="rId97" Type="http://schemas.openxmlformats.org/officeDocument/2006/relationships/slide" Target="slides/slide5.xml"/><Relationship Id="rId98" Type="http://schemas.openxmlformats.org/officeDocument/2006/relationships/slide" Target="slides/slide4.xml"/><Relationship Id="rId99" Type="http://schemas.openxmlformats.org/officeDocument/2006/relationships/slide" Target="slides/slide3.xml"/><Relationship Id="rId104" Type="http://schemas.openxmlformats.org/officeDocument/2006/relationships/slide" Target="slides/slide81.xml"/><Relationship Id="rId105" Type="http://schemas.openxmlformats.org/officeDocument/2006/relationships/slide" Target="slides/slide75.xml"/><Relationship Id="rId106" Type="http://schemas.openxmlformats.org/officeDocument/2006/relationships/slide" Target="slides/slide68.xml"/><Relationship Id="rId107" Type="http://schemas.openxmlformats.org/officeDocument/2006/relationships/slide" Target="slides/slide60.xml"/><Relationship Id="rId108" Type="http://schemas.openxmlformats.org/officeDocument/2006/relationships/slide" Target="slides/slide53.xml"/><Relationship Id="rId109" Type="http://schemas.openxmlformats.org/officeDocument/2006/relationships/slide" Target="slides/slide54.xml"/><Relationship Id="rId110" Type="http://schemas.openxmlformats.org/officeDocument/2006/relationships/slide" Target="slides/slide55.xml"/><Relationship Id="rId111" Type="http://schemas.openxmlformats.org/officeDocument/2006/relationships/slide" Target="slides/slide31.xml"/><Relationship Id="rId112" Type="http://schemas.openxmlformats.org/officeDocument/2006/relationships/slide" Target="slides/slide32.xml"/><Relationship Id="rId113" Type="http://schemas.openxmlformats.org/officeDocument/2006/relationships/slide" Target="slides/slide33.xml"/><Relationship Id="rId114" Type="http://schemas.openxmlformats.org/officeDocument/2006/relationships/slide" Target="slides/slide34.xml"/><Relationship Id="rId115" Type="http://schemas.openxmlformats.org/officeDocument/2006/relationships/slide" Target="slides/slide35.xml"/><Relationship Id="rId125" Type="http://schemas.openxmlformats.org/officeDocument/2006/relationships/slide" Target="slides/slide2.xml"/><Relationship Id="rId126" Type="http://schemas.openxmlformats.org/officeDocument/2006/relationships/slide" Target="slides/slide1.xml"/><Relationship Id="rId127" Type="http://schemas.openxmlformats.org/officeDocument/2006/relationships/slide" Target="slides/slide11.xml"/><Relationship Id="rId128" Type="http://schemas.openxmlformats.org/officeDocument/2006/relationships/slide" Target="slides/slide12.xml"/><Relationship Id="rId129" Type="http://schemas.openxmlformats.org/officeDocument/2006/relationships/slide" Target="slides/slide13.xml"/><Relationship Id="rId130" Type="http://schemas.openxmlformats.org/officeDocument/2006/relationships/slide" Target="slides/slide14.xml"/><Relationship Id="rId131" Type="http://schemas.openxmlformats.org/officeDocument/2006/relationships/slide" Target="slides/slide15.xml"/><Relationship Id="rId132" Type="http://schemas.openxmlformats.org/officeDocument/2006/relationships/slide" Target="slides/slide16.xml"/><Relationship Id="rId133" Type="http://schemas.openxmlformats.org/officeDocument/2006/relationships/slide" Target="slides/slide17.xml"/><Relationship Id="rId134" Type="http://schemas.openxmlformats.org/officeDocument/2006/relationships/slide" Target="slides/slide18.xml"/><Relationship Id="rId135" Type="http://schemas.openxmlformats.org/officeDocument/2006/relationships/slide" Target="slides/slide19.xml"/><Relationship Id="rId136" Type="http://schemas.openxmlformats.org/officeDocument/2006/relationships/slide" Target="slides/slide20.xml"/><Relationship Id="rId137" Type="http://schemas.openxmlformats.org/officeDocument/2006/relationships/slide" Target="slides/slide21.xml"/><Relationship Id="rId138" Type="http://schemas.openxmlformats.org/officeDocument/2006/relationships/slide" Target="slides/slide22.xml"/><Relationship Id="rId139" Type="http://schemas.openxmlformats.org/officeDocument/2006/relationships/slide" Target="slides/slide23.xml"/><Relationship Id="rId140" Type="http://schemas.openxmlformats.org/officeDocument/2006/relationships/slide" Target="slides/slide24.xml"/><Relationship Id="rId141" Type="http://schemas.openxmlformats.org/officeDocument/2006/relationships/slide" Target="slides/slide25.xml"/><Relationship Id="rId142" Type="http://schemas.openxmlformats.org/officeDocument/2006/relationships/slide" Target="slides/slide26.xml"/><Relationship Id="rId143" Type="http://schemas.openxmlformats.org/officeDocument/2006/relationships/slide" Target="slides/slide27.xml"/><Relationship Id="rId144" Type="http://schemas.openxmlformats.org/officeDocument/2006/relationships/slide" Target="slides/slide28.xml"/><Relationship Id="rId145" Type="http://schemas.openxmlformats.org/officeDocument/2006/relationships/slide" Target="slides/slide29.xml"/><Relationship Id="rId146" Type="http://schemas.openxmlformats.org/officeDocument/2006/relationships/slide" Target="slides/slide30.xml"/><Relationship Id="rId147" Type="http://schemas.openxmlformats.org/officeDocument/2006/relationships/slide" Target="slides/slide36.xml"/><Relationship Id="rId148" Type="http://schemas.openxmlformats.org/officeDocument/2006/relationships/slide" Target="slides/slide37.xml"/><Relationship Id="rId149" Type="http://schemas.openxmlformats.org/officeDocument/2006/relationships/slide" Target="slides/slide38.xml"/><Relationship Id="rId150" Type="http://schemas.openxmlformats.org/officeDocument/2006/relationships/slide" Target="slides/slide39.xml"/><Relationship Id="rId151" Type="http://schemas.openxmlformats.org/officeDocument/2006/relationships/slide" Target="slides/slide40.xml"/><Relationship Id="rId152" Type="http://schemas.openxmlformats.org/officeDocument/2006/relationships/slide" Target="slides/slide41.xml"/><Relationship Id="rId153" Type="http://schemas.openxmlformats.org/officeDocument/2006/relationships/slide" Target="slides/slide42.xml"/><Relationship Id="rId154" Type="http://schemas.openxmlformats.org/officeDocument/2006/relationships/slide" Target="slides/slide43.xml"/><Relationship Id="rId155" Type="http://schemas.openxmlformats.org/officeDocument/2006/relationships/slide" Target="slides/slide44.xml"/><Relationship Id="rId156" Type="http://schemas.openxmlformats.org/officeDocument/2006/relationships/slide" Target="slides/slide45.xml"/><Relationship Id="rId157" Type="http://schemas.openxmlformats.org/officeDocument/2006/relationships/slide" Target="slides/slide46.xml"/><Relationship Id="rId158" Type="http://schemas.openxmlformats.org/officeDocument/2006/relationships/slide" Target="slides/slide47.xml"/><Relationship Id="rId159" Type="http://schemas.openxmlformats.org/officeDocument/2006/relationships/slide" Target="slides/slide48.xml"/><Relationship Id="rId160" Type="http://schemas.openxmlformats.org/officeDocument/2006/relationships/slide" Target="slides/slide49.xml"/><Relationship Id="rId161" Type="http://schemas.openxmlformats.org/officeDocument/2006/relationships/slide" Target="slides/slide50.xml"/><Relationship Id="rId162" Type="http://schemas.openxmlformats.org/officeDocument/2006/relationships/slide" Target="slides/slide51.xml"/><Relationship Id="rId163" Type="http://schemas.openxmlformats.org/officeDocument/2006/relationships/slide" Target="slides/slide52.xml"/><Relationship Id="rId164" Type="http://schemas.openxmlformats.org/officeDocument/2006/relationships/slide" Target="slides/slide56.xml"/><Relationship Id="rId165" Type="http://schemas.openxmlformats.org/officeDocument/2006/relationships/slide" Target="slides/slide57.xml"/><Relationship Id="rId166" Type="http://schemas.openxmlformats.org/officeDocument/2006/relationships/slide" Target="slides/slide58.xml"/><Relationship Id="rId167" Type="http://schemas.openxmlformats.org/officeDocument/2006/relationships/slide" Target="slides/slide59.xml"/><Relationship Id="rId168" Type="http://schemas.openxmlformats.org/officeDocument/2006/relationships/slide" Target="slides/slide61.xml"/><Relationship Id="rId169" Type="http://schemas.openxmlformats.org/officeDocument/2006/relationships/slide" Target="slides/slide62.xml"/><Relationship Id="rId170" Type="http://schemas.openxmlformats.org/officeDocument/2006/relationships/slide" Target="slides/slide63.xml"/><Relationship Id="rId171" Type="http://schemas.openxmlformats.org/officeDocument/2006/relationships/slide" Target="slides/slide64.xml"/><Relationship Id="rId176" Type="http://schemas.openxmlformats.org/officeDocument/2006/relationships/slide" Target="slides/slide70.xml"/><Relationship Id="rId177" Type="http://schemas.openxmlformats.org/officeDocument/2006/relationships/slide" Target="slides/slide71.xml"/><Relationship Id="rId182" Type="http://schemas.openxmlformats.org/officeDocument/2006/relationships/slide" Target="slides/slide77.xml"/><Relationship Id="rId183" Type="http://schemas.openxmlformats.org/officeDocument/2006/relationships/slide" Target="slides/slide78.xml"/><Relationship Id="rId184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II: Multiplicidade/Cardinalidade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5 (classes, atributos, métodos, visibilidade, relacionamentos)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07:50 - 08:35  Novo assunto: multiplicidade/cardinalidade - as 4 notações, onde se escreve, faixas concretas, herança e banco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08:50 - 09:10  Exercícios objetivos de leitura de cardinalidade (escola e Biblioteca)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09:10 - 09:55  Cardinalidade no TechBurger e na Biblioteca "Ler Mais", quiz misto e erros comuns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09:55 - 10:05  Exemplo guiado: Cliente e Pedido com cardinalidade,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10:05 - 10:15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10:15 - 10:48  Atividade prática 1 em grupo: TechBurger completo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10:48 - 11:08  Atividade prática 2 individual: Academia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11:08 - 11:30  Encontre o erro,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5: Diagrama de Classes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fechar o diagrama com cardinalidade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candidatas do TechBurger (Aula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 - o núcleo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classe com 3 partes: nome, atributos (visibilidade + tipo)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fechar o diagrama com relacionamentos e cardinalidade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Atributos, métodos e visibilidade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Atributo: visibilidade nome: tipo (ex.: - pontosFidelidade: Inteiro)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 (/): calculável a partir de outros dados (ex.: /valorTotal)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Método: visibilidade nome(parâmetros): retorno (ex.: + confirmar())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Visibilidade: + público, - privado, # protegido (visível às subclasses)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 dado que o objeto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TEM?”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pontosFidelidade, valorTotal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ação que o objeto executa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FAZ?”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acumularPontos(), confirmar()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identificando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substantivos: sublinhar, agrupar sinônimos, descartar valores soltos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Teste classe ou atributo: tem dados e comportamentos próprios? -&gt;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verbos dos casos de uso viram candidatos a método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Mais”: Associado, Livro, Emprestimo e Professor (subclasse de Associado)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 básicos (sem cardinalidade ainda)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as classes se conhecem e colaboram (linha simples, com verbo)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- todo-parte fraca: a parte existe sem o todo (losango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- todo-parte forte: a parte não existe sem o todo (losango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“é um tipo de” (seta com triângulo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5 vimos só o CONCEITO - hoje aprendemos A QUANTIDADE de cada lado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atributo e método?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um atributo derivado?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Associação, agregação, composição ou herança: qual é “todo-parte forte”?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Pedido não deveria herdar de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Que símbolo de visibilidade só faz sentido quando há herança?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Dê um exemplo de composição e um de agregação usando TechBurger ou Biblioteca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Atributo é um dado (o que o objeto TEM); método é uma ação (o que o objeto 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É calculado a partir de outros dados, leva a barra (/): ex. /valorTotal em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Composição (a parte não existe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não é um tipo de Cliente - são coisas diferentes que se associam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# (protegido) - só faz sentido quando existem subclasses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Composição: Pedido - ItemPedido. Agregação: Estante - Livro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II: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de um lado se relacionam com quantas do outro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Pedido pode ter vários ItemPedido. Mas quantos Pedidos um único ItemPedido pode ter?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um Cliente: quantos Pedidos ele pode fazer? Quantos Clientes cabem em um único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resposta não é sempre “muitos” dos dois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aprender a notação exata para escrever essas respostas no diagrama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multiplicidade (cardinalidade)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Indica QUANTAS instâncias de uma classe podem se relacionar com QUANTAS instâncias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escrita em cada relacionamento, como um número (ou faixa) em cada ponta da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Completa a “força” do relacionamento (associação/agregação/composição) com sua “quantidade”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cardinalidade, o diagrama diz QUE existe relação, mas não diz QUANTO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apenas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faixa tem um mínimo e um máximo (ou “muitos” no lugar do máximo)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1 - exatamente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1, máximo 1: a instância É obrigatória e é ÚNICA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ItemPedido refere-se a exatamente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Pedido pertence a exatamente 1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mais restritiva das quatro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0..1 - zero ou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(opcional), máximo 1 (nunca mais que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Pagamento (ainda não confirmado) ou já ter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Entrega (só existe se o tipo do pedido for “entrega”)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certa para “existe, mas não é garantido”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0..* (ou *) - zero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(a relação pode nem existir),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Estante pode reunir 0..* Livros (pode até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Cliente pode ter 0..* Pedidos (inclusive nenhum, se acabou de se cadastrar)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asterisco (*) sozinho é um atalho comum para 0..*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1..* - um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 (a relação é obrigatória),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Turma tem 1..* Aluno (não faz sentido uma turma sem nenhum aluno)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Pedido, em muitos sistemas, teria 1..* ItemPedido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 para 0..*: aqui o mínimo NÃO é zero - a relação é garantida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“Exatamente um”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“Zero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“Um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“Zero ou um”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0..* (ou 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“Cliente 1 —— * Pedido”: perto de Cliente fica o 1, perto de Pedido fica o 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dos dois lados: um Cliente pode ter vários Pedidos; 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pontas quase sempre têm significados diferentes - leia com calma cada lado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Pratiquem: leiam a linha nos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“Associado 1 —— 0..3 Emprestimo”: o que isso diz do lado do Associado? E do lado do Emprestimo?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“Estante 0..1 —— 0..* Livro”: o que isso diz do lado da Estante? E do lado do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em voz alta as duas frases de cada relacionamento antes de responder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lendo 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1: cada Emprestimo tem exatamente 1 Associado. Emprestimo 0..3: um Associado tem de 0 a 3 empréstimos em aberto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0..1: cada Livro está em no máximo 1 Estante (ou em nenhuma). Livro 0..*: uma Estante pode ter de 0 a muitos livros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Faixas além do básico: limites concretos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também pode ser uma faixa numérica exata, não só 0, 1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“0..3” - de zero até exatamente três, nunca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 (regra da Aula 1): cada Associado pode ter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vira: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de negócio concretas viram limites concretos na cardinalidade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tem cardinalidade e quem não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Têm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Nas duas pontas da linha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Não tem cardinalidade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relação de CLASSIFICAÇÃO, não de QUANTIDADE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 errada: “quantos Atendentes cada Funcionario tem?”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herança não tem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responde “é um tipo de”, não “quantos”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É UM Funcionario - não faz sentido perguntar “quantos Funcionario um Atendente tem?”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números na seta de herança é um erro comum (veremos no “Encontre o erro”)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respondem “quantos” - por isso têm cardinalidade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associação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classes independentes que colaboram: a cardinalidade mostra quantos de cada lado participam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0..* Pedido: cada Pedido tem 1 Cliente; cada Cliente pode ter 0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Nada impede um mínimo maior que zero em uma associação (ex.: 1..*), se a regra do negócio exigir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agregação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fraca: a parte pode existir sem o todo, então o lado do todo costuma aceitar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 —— 0..* Livro: um Livro está em 0 ou 1 Estante; uma Estante pode ter 0 ou muitos Livros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“0” do lado da Estante mostra que o Livro existe sem NENHUMA estante - é isso que a agregação permite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composição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forte: a parte não existe sem o todo, então o lado do todo costuma ser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ItemPedido: cada ItemPedido pertence a exatamente 1 Pedido (nunca zero, nunca troca de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 o padrão: composição quase sempre tem “1” (nunca “0..1”) do lado do todo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ajuda a confirmar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sozinha NÃO decide entre agregação e composição - quem decide é a semântica (a parte existe sem o todo?)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ela costuma CONFIRMAR a escolha: composição tende a ter “1” (nunca “0..1”) do lado do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vocês hesitarem entre os dois, verificar a cardinalidade mínima do lado do todo é uma boa pista extra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Padrões de cardinalidade: 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fraca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aceitar 0 (ex.: 0..1)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Estante 0..1 —— 0..* Livro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forte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ser exatamente 1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Pedido 1 —— * ItemPedido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e o banco de dados: 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todo sistema guarda seus dados em um banco de dados relacional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do diagrama de classes vira, quase direto, a estrutura das tabelas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Entender cardinalidade agora facilita MUITO o desenho do banco de dados mais adiante no curso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cardinalidade à chave estrangeira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Pedido: a tabela Pedido ganha uma coluna clienteId (chave estrangeira)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Pagamento: a tabela Pagamento ganha pedidoId, podendo ficar nula (0..1 = opcional)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 (muitos-para-muitos): precisa de uma TERCEIRA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lado “muitos” de um 1—* sempre recebe a chave estrangeira que aponta para o lado “1”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cardinalidade vira o quê no banco de dados?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Cliente 1 —— * Pedido: qual tabela ganha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Aluno * —— * Disciplina: precisa de quantas tabelas, no total?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Pedido 1 —— 0..1 Pagamento: a chave estrangeira em Pagamento pode ficar nula?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cardinalidade e banco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(o lado “muitos”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Três: Aluno, Disciplina e uma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Sim - “0..1” é exatamente o que permite a chave estrangeira ficar nula (opcional)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rodadas: escola e Biblioteca “Ler Mais” - individual, na apostila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Uma turma pode ter quantos alunos,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aluno pertence a quantas turmas?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aluno pode cursar quantas disciplinas?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Uma disciplina pode ter quantos alunos matriculados?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Quantos professores estão associados a uma turma?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1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No mínimo 1 aluno, sem máximo definido (1..*)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 (a ponta do lado Turma é “1”)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ou muitas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Zero ou muitos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Exatamente 1 (a ponta do lado Professor é “1”)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cenário da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Associado pode ter quantos empréstimos em aberto ao mesmo tempo,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Cada Emprestimo está ligado a quantos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Livro pode existir sem estar em nenhuma Estante? Que cardinalidade confirma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a relação Professor - Associado não tem cardinalidade?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2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 0 a 3 (0..3) - o mínimo é zero, o máximo é três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(0..*: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Sim - o 0..1 do lado da Estante confirma (o livro pode estar em nenhuma estante); o 0..* do lado do Livro só diz que a estante pode estar vazia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Porque é herança (“é um tipo de”), uma relação de classificação, não de quantidade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do TechBurger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(herança, sem cardinalidade)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—— Pedido: a relação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Cliente: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“*”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do lado do Cliente?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pedido “anônimo” no TechBurger: sempre há um cliente identificado por trás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mínimo E o máximo do lado do Cliente são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“*” (não “1..*”) do lado do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recém-cadastrado ainda não fez nenhum pedido - o mínimo precisa ser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usássemos “1..*”, estaríamos dizendo que todo cliente é OBRIGADO a ter pelo menos um pedido - falso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Pedido —— ItemPedido: cardinalidade da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(losango preenchido do lado do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“1” - cada ItemPedido pertence a exatamente 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o diagrama de referência usa zero ou muitos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ItemPedido: “*” ou “1..*”?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prática, um carrinho de compras normalmente tem pelo menos 1 item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referência do TechBurger usa “*” (0..*) - vale discutir com a turma se “1..*” seria mais preciso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importante é justificar a escolha com uma regra do negócio, e não copiar sem pensar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 ——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um Produto pode aparecer em zero ou muitos ItemPedido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Produto: “1” - cada ItemPedido refere-se a exatamente um Produto (não existe item “genérico”)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(Pagamento)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pedido pode ainda não ter pagamento confirmado no momento em que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“1” (ou “1..1”) obrigaria TODO pedido a já nascer com um pagamento - e isso não é verdade no TechBurger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(Entrega)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existe entrega quando o tipo do pedido é “entrega”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de retirada no balcão não têm relacionamento de Entrega nenhum - por isso o mínimo é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Funcionario, Atendente, Gerente: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não recebe número nenhum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 - não “têm” Funcionario em alguma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escrever “1” na seta de herança, é erro - veremos isso no exercício “Encontre o erro”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bloqueado ainda pode ter Pedidos? Cardinalidade e regras dinâmicas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8 bloqueia o Cliente por 15 dias após 3 cancelamentos - mas isso NÃO muda a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continua valendo: o bloqueio impede NOVOS pedidos, não apaga os pedidos antigos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descreve a ESTRUTURA do relacionamento; regras de bloqueio são um COMPORTAMENTO (método), não uma mudança de cardinalidade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cardinalidade e outra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6 (Aula 1): quando um Produto está em falta, o sistema sugere um substituto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Pensem: ItemPedido * —— 1 Produto também vale para o Produto substituto sugerido?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cardinalidade descreveria “Produto sugere 0..1 Produto substituto”? Justifiquem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mini-exercício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Sim: o substituto sugerido também é um Produto, e a relação ItemPedido-Produto não muda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1 —— 0..1 Produto (substituto): um produto pode não ter substituto cadastrado, mas nunca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associação de um Produto com outro Produto - mesma classe dos dois lados, cardinalidade normal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Associado —— Emprestimo: o limite da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Associado: “1” - cada Emprestimo é feito por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“0..3” - um Associado pode ter de zero até três empréstimos em aberto (Aula 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também documenta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“0..3” não é um limite técnico aleatório - é a Regra da Aula 1 (máximo de 3 livros por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Sempre que houver um número concreto no texto do cenário, ele vira uma faixa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outra razão para NUNCA copiar uma cardinalidade sem checar a regra correspondente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Emprestimo ——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“*” - um Livro pode ter zero ou muitos empréstimos ao longo do tempo (histórico)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“1” - cada Emprestimo refere-se a exatamente um Livro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(não “0..1”) do lado do Livro em Emprestimo?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Emprestimo já nasce ligado a um Livro específico - não existe empréstimo “em branco”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Livro é obrigatório (“1”), diferente do lado do Emprestimo, que pode ser “*” (o livro pode nunca ter sido emprestado)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Estante —— Livro: agregação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0..1 —— 0..*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da Estante: “0..1” - cada Livro está em no máximo uma Estante, e pode não estar em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“0..*” - uma Estante pode reunir zero ou muitos Livros (pode até estar vazia)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isso confirma a agregação?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agregação (losango vazado): mesmo sem estante nenhuma, o Livro continua existindo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“0” do lado da Estante (0..1) é o que mostra essa independência no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 com a composição Pedido-ItemPedido, onde o lado do todo é sempre “1”, nunca “0..1”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Professor —— Associado: herança,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(seta com triângulo vazado apontando para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números nas pontas - é uma relação de classificação, não de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herda tudo de Associado e redefine prazoEmprestimo() para 30 dias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Cliente pode fazer quantos Pedidos,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Pedido pertence a quantos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Pedido pode ter no máximo quantos Pagamento?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Associado pode ter quantos empréstimos em aberto,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Quantos números aparecem na seta de herança Funcionario &lt;|-- Gerente?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muitos (0..*)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 (a cardinalidade é 0..1: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3 (a cardinalidade é 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Zero (pode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Nenhum - herança não tem cardinalidade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___ ItemPedido (não existe limite máximo de itens no diagrama de referência)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Cliente ___ —— * Pedido (cada pedido pertence a exatamente um 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0..1 —— ___ Livro (a estante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Associado 1 —— ___ Emprestimo (no máximo 3 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Pedido 1 —— ___ Pagamento (o pedido pode ainda não ter pagamento confirmado)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* (ou 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0..*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5.  0..1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no dia a dia: outros exemplos do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bancário: Conta 1 —— 0..* Transacao (uma conta pode não ter nenhuma transação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E-commerce: Carrinho 1 —— 0..* ItemCarrinho (um carrinho pode estar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Rede social: Usuario 0..* —— 0..* Usuario (uma amizade - os dois lados podem ser “muitos”)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raciocínio é sempre o mesmo: mínimo e máximo, justificados por uma regra do negócio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cardinalidade na seta de herança (herança não tem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1..1 sem pensar se a relação é realmente opcional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faixa superior (escrever só “0” quando queria dizer “0..1” ou “0..*”)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os lados: escrever a cardinalidade da classe errada em cada ponta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“1..*” quando a regra de negócio permite zero (e vice-versa)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uma regra de negócio real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Cliente e Pedido - cardinalidade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Retomando o exemplo da Aula 5, agora com números nas linhas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arquivo com as classes Cliente e Pedido (Aula 5)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Cliquem na linha de associação entre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Adicionem um rótulo de texto perto de Cliente com o valor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Adicionem um rótulo de texto perto de Pedido com o valor “*”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Leiam em voz alta os dois sentidos da frase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Repitam o processo para Associado e Emprestimo, na Biblioteca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1 —— * Pedido: o 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Cliente: “1” -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Pedido: “*” -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cardinalidade não muda a estrutura das classes, só documenta a regra de negócio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Repetindo na Biblioteca: Associado e Emprestimo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Associado: “1” - cada Emprestimo tem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Emprestimo: “0..3” - a Regra da Aula 1 (máximo de 3 livros emprestados) vira a faixa exata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está nas duas pontas de cada linha?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número (ou faixa) tem um mínimo e um máximo claros?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ficou sem nenhum número nas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cardinalidade pode ser justificada por uma regra de negócio ou pelo bom senso do cenário?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lados foram lidos em voz alta, em ambos os sentidos?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Verificando a coerência com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NÃO muda o tipo do relacionamento definido na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composição (losango preenchido), continua composição - só ganha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herança, continua sem nenhum número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de escrever um número, confiram: este relacionamento já existia na Aula 5?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25-30 minutos, em grupo, no draw.io ou no papel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retomem o diagrama de classes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que faltam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(Funcionario &lt;|-- Atendente/Gerente) continua SEM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25-30 minutos. Um representante apresenta o resultado à turma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——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ItemPedido (contém)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——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(sem cardinalidade)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relacionamentos da “bíblia” do TechBurger estão presentes?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associação e composição tem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sem nenhum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fazem sentido com o negócio (pensem em casos reais)?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cardinalidade escolhida?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cada relacionamento nos dois sentidos antes de escrever o número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essa relação é sempre obrigatória, ou pode ser zero?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existe um limite máximo conhecido (regra de negócio) ou é “muitos”?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e Entrega são os casos mais delicados: revisem os slides sobre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 entre 0..1 e 1, pensem: “no momento em que o Pedido é criado, essa relação já existe?”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foi o relacionamento mais difícil de decidir a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Houve alguma dupla de cardinalidade que o grupo trocou de ideia no meio do caminho?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Consigam justificar cada “0..1” escolhido com uma frase sobre o momento em que o Pedido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Alguém colocou número na seta de herança por engano? Como perceberam o erro?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 com cardinalidade completa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Diagrama de Classes com cardinalidade (TechBurger)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667" y="2900000"/>
            <a:ext cx="829666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(possui): todo pedido tem um cliente; um cliente pode não ter nenhum pedido ainda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composição): o item some se o pedido for excluído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a): o produto existe no cardápio independente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 e Pedido 1 —— 0..1 Entrega (pode ter): as duas relações são opcionais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Gerente: sem números, é classificação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que escreveram “1..*” em Pedido-ItemPedido: aceitar se bem justificado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 em Pagamento/Entrega é o erro mais comum - peçam a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Cardinalidades extras coerentes com o cenário (ex.: limite de itens por pedido) podem ser aceitas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números na seta de herança; faixa sem sentido (ex.: 5..2)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 no Diagrama de Classes da Academia FitLife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individual, no draw.io ou no papel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retomem as classes e relacionamentos da Aula 5 (Aluno, Plano, Aula, Instrutor, Reserva,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já identificados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decidir os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 atividade não tem herança - só associação e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minutos, individual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para cardinalizar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—— Aluno (está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Reserva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—— Aula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—— Instrutor (é ministrada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Pagamento (realiza)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5 relacionamentos têm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composição Reserva-Aula está com o losango preenchido do lado da Aula?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Pensei em cada regra: é obrigatório? tem limite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usei cardinalidade em nenhuma seta de herança (esta atividade não tem herança)?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1 —— 0..* Aluno (cada Aluno está em exatamente 1 Plano; um Plano pode ainda não ter nenhum Aluno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Reserva (um aluno pode não ter reserva nenhuma, ou várias)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0..* —— 1 Aula (composição: cada reserva pertence a exatamente uma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 (uma aula tem exatamente um instrutor; um instrutor pode não ter aula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Pagamento (um aluno pode não ter pago nada ainda, ou ter vários pagamentos)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Plano é “1” do lado do Aluno, e não “0..1”?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aluno matriculado PRECISA ter um plano ativo - não existe aluno sem plano no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Plano (visto a partir do Aluno) é “1”, obrigatório, e não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Plano novo, criado antes de qualquer matrícula, pode ter zero Alunos - por isso “0..*” do outro lado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Instrutor é “1” e não “0..1” em Aula?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Instrutor: toda Aula já nasce com um Instrutor definido (não existe aula “sem professor”)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Instrutor é “1”, obrigatório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Instrutor recém-contratado pode ainda não ter nenhuma Aula atribuída - por isso “0..*” do lado da Aula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depende de Aula (composição): por isso o lado da Aula é sempre “1”, nunca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Aluno-Pagamento segue o mesmo padrão de Cliente-Pedido: o lado “opcional” é sempre o que pode legitimamente estar vazio no início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o TechBurger: o par obrigatório/opcional se repete o tempo todo em modelagem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considerar que um aluno pode ficar temporariamente sem plano, “0..1” também é aceitável com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Limites numéricos extras (ex.: máximo de vagas por aula) são bem-vindos se coerentes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cardinalidade sem nenhuma explicação, ou números “inventados” sem relação com o cenário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Cardinalidades erradas: encontrem e corrijam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a lista de relacionamentos do próximo slide: ela tem 6 erros propositais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conceito da aula foi violado)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consultar a Apostila nos primeiros 5 minutos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de cardinalidade (em duplas)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Funcionario 1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0..1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Cliente 0..* —— 0..*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Associado 1 —— 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Pedido 1..* —— * ItemPedido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de cardinalidade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Pagamento é opcional (o pedido pode não ter pagamento ainda): corrigir para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Herança não recebe número nenhum: remover o “1”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pode estar vazia ou ter muitos livros (agregação): corrigir para 0..* do lado do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Cada Pedido tem exatamente 1 Cliente: corrigir o lado do Cliente para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Faltou o mínimo: “3” sozinho significa exatamente três (obrigatório); corrigir para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Cada ItemPedido pertence a exatamente 1 Pedido, não a vários: corrigir o lado do Pedido para 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 (recap)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0..1 com 1 (opcional vira obrigatório sem querer)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Colocar números na seta de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que cada ponta pode ter um significado diferente da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Copiar a cardinalidade de outro relacionamento parecido sem pensar na regra de negócio específica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 caso real do cenário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as 4 notações e as faixas concretas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|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 |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concreta (ex.: 0..3) - limite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têm cardinalidade; herança nunca tem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 -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numérica (ex.: 0..3) - um limite concreto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Herança/Generalização - relação “é um tipo de”; nunca recebe cardinalidade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“0..*” em um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Por que a herança não tem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a diferença entre “0..1” e “1..1”?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“Pedido 1 —— 0..1 Pagamento” faz sentido, mas “Pedido 1 —— 1 Pagamento” não?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que significa “0..3” em “Associado 1 —— 0..3 Emprestimo”? De onde vem esse limite?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Nos dois lados de “Cliente 1 —— * Pedido”, o que representa cada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Dê um exemplo de “1..*” e explique por que o mínimo não pode ser zero nesse caso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Na Biblioteca, por que “Estante 0..1 —— 0..* Livro” é agregação, e o que a cardinalidade tem a ver com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9.  Cite dois erros comuns ao definir cardinalidade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cardinalidade de “exatamente um”?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significa “1..*”?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Em “Reserva 0..* —— 1 Aula”, o que garante o lado da Aula ser “1”?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Dê um exemplo de cardinalidade com faixa numérica concreta (ex.: 0..3) usado na aula de hoje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o que é e onde se escreve (nas duas pontas da linha)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4 notações principais: 1, 0..1, 0..* (ou *) e 1..*, além de faixas concretas (0..3)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relacionamentos têm cardinalidade (associação, agregação, composição) e por que herança não 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duas vezes: em grupo (TechBurger completo) e individualmente (Academia FitLife)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