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688" r:id="rId116"/>
    <p:sldId id="689" r:id="rId117"/>
    <p:sldId id="690" r:id="rId118"/>
    <p:sldId id="691" r:id="rId119"/>
    <p:sldId id="692" r:id="rId120"/>
    <p:sldId id="693" r:id="rId121"/>
    <p:sldId id="694" r:id="rId122"/>
    <p:sldId id="695" r:id="rId123"/>
    <p:sldId id="696" r:id="rId124"/>
    <p:sldId id="697" r:id="rId103"/>
    <p:sldId id="698" r:id="rId102"/>
    <p:sldId id="699" r:id="rId101"/>
    <p:sldId id="700" r:id="rId100"/>
    <p:sldId id="701" r:id="rId85"/>
    <p:sldId id="702" r:id="rId84"/>
    <p:sldId id="703" r:id="rId83"/>
    <p:sldId id="704" r:id="rId54"/>
    <p:sldId id="705" r:id="rId53"/>
    <p:sldId id="706" r:id="rId52"/>
    <p:sldId id="707" r:id="rId51"/>
    <p:sldId id="708" r:id="rId50"/>
    <p:sldId id="709" r:id="rId49"/>
    <p:sldId id="710" r:id="rId48"/>
    <p:sldId id="711" r:id="rId47"/>
    <p:sldId id="712" r:id="rId46"/>
    <p:sldId id="713" r:id="rId45"/>
    <p:sldId id="714" r:id="rId44"/>
    <p:sldId id="715" r:id="rId43"/>
    <p:sldId id="716" r:id="rId42"/>
    <p:sldId id="717" r:id="rId41"/>
    <p:sldId id="718" r:id="rId40"/>
    <p:sldId id="719" r:id="rId39"/>
    <p:sldId id="720" r:id="rId38"/>
    <p:sldId id="721" r:id="rId37"/>
    <p:sldId id="722" r:id="rId36"/>
    <p:sldId id="723" r:id="rId35"/>
    <p:sldId id="724" r:id="rId34"/>
    <p:sldId id="725" r:id="rId33"/>
    <p:sldId id="726" r:id="rId32"/>
    <p:sldId id="727" r:id="rId31"/>
    <p:sldId id="728" r:id="rId30"/>
    <p:sldId id="729" r:id="rId24"/>
    <p:sldId id="730" r:id="rId23"/>
    <p:sldId id="731" r:id="rId22"/>
    <p:sldId id="732" r:id="rId21"/>
    <p:sldId id="733" r:id="rId20"/>
    <p:sldId id="734" r:id="rId19"/>
    <p:sldId id="735" r:id="rId18"/>
    <p:sldId id="736" r:id="rId17"/>
    <p:sldId id="737" r:id="rId16"/>
    <p:sldId id="738" r:id="rId15"/>
    <p:sldId id="739" r:id="rId14"/>
    <p:sldId id="740" r:id="rId13"/>
    <p:sldId id="741" r:id="rId12"/>
    <p:sldId id="742" r:id="rId11"/>
    <p:sldId id="743" r:id="rId10"/>
    <p:sldId id="744" r:id="rId172"/>
    <p:sldId id="745" r:id="rId173"/>
    <p:sldId id="746" r:id="rId174"/>
    <p:sldId id="747" r:id="rId175"/>
    <p:sldId id="748" r:id="rId9"/>
    <p:sldId id="749" r:id="rId8"/>
    <p:sldId id="750" r:id="rId178"/>
    <p:sldId id="751" r:id="rId179"/>
    <p:sldId id="752" r:id="rId180"/>
    <p:sldId id="753" r:id="rId181"/>
    <p:sldId id="754" r:id="rId7"/>
    <p:sldId id="755" r:id="rId6"/>
    <p:sldId id="756" r:id="rId5"/>
    <p:sldId id="757" r:id="rId185"/>
    <p:sldId id="758" r:id="rId186"/>
    <p:sldId id="759" r:id="rId187"/>
    <p:sldId id="760" r:id="rId188"/>
    <p:sldId id="761" r:id="rId189"/>
    <p:sldId id="762" r:id="rId190"/>
    <p:sldId id="763" r:id="rId191"/>
    <p:sldId id="764" r:id="rId192"/>
    <p:sldId id="765" r:id="rId193"/>
    <p:sldId id="766" r:id="rId194"/>
    <p:sldId id="767" r:id="rId195"/>
    <p:sldId id="768" r:id="rId196"/>
    <p:sldId id="769" r:id="rId197"/>
    <p:sldId id="770" r:id="rId198"/>
    <p:sldId id="771" r:id="rId199"/>
    <p:sldId id="772" r:id="rId200"/>
    <p:sldId id="773" r:id="rId201"/>
    <p:sldId id="774" r:id="rId202"/>
    <p:sldId id="775" r:id="rId203"/>
    <p:sldId id="776" r:id="rId204"/>
    <p:sldId id="777" r:id="rId205"/>
    <p:sldId id="778" r:id="rId206"/>
    <p:sldId id="779" r:id="rId207"/>
    <p:sldId id="780" r:id="rId208"/>
    <p:sldId id="781" r:id="rId209"/>
    <p:sldId id="782" r:id="rId210"/>
    <p:sldId id="783" r:id="rId211"/>
    <p:sldId id="784" r:id="rId212"/>
    <p:sldId id="785" r:id="rId213"/>
    <p:sldId id="786" r:id="rId214"/>
    <p:sldId id="787" r:id="rId215"/>
    <p:sldId id="788" r:id="rId216"/>
    <p:sldId id="789" r:id="rId217"/>
    <p:sldId id="790" r:id="rId218"/>
    <p:sldId id="791" r:id="rId219"/>
    <p:sldId id="792" r:id="rId220"/>
    <p:sldId id="793" r:id="rId221"/>
    <p:sldId id="794" r:id="rId222"/>
    <p:sldId id="795" r:id="rId223"/>
    <p:sldId id="796" r:id="rId224"/>
    <p:sldId id="797" r:id="rId225"/>
    <p:sldId id="798" r:id="rId226"/>
    <p:sldId id="799" r:id="rId227"/>
    <p:sldId id="800" r:id="rId228"/>
    <p:sldId id="801" r:id="rId229"/>
    <p:sldId id="802" r:id="rId230"/>
    <p:sldId id="803" r:id="rId231"/>
    <p:sldId id="804" r:id="rId232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75.xml"/><Relationship Id="rId6" Type="http://schemas.openxmlformats.org/officeDocument/2006/relationships/slide" Target="slides/slide174.xml"/><Relationship Id="rId7" Type="http://schemas.openxmlformats.org/officeDocument/2006/relationships/slide" Target="slides/slide173.xml"/><Relationship Id="rId8" Type="http://schemas.openxmlformats.org/officeDocument/2006/relationships/slide" Target="slides/slide168.xml"/><Relationship Id="rId9" Type="http://schemas.openxmlformats.org/officeDocument/2006/relationships/slide" Target="slides/slide167.xml"/><Relationship Id="rId10" Type="http://schemas.openxmlformats.org/officeDocument/2006/relationships/slide" Target="slides/slide162.xml"/><Relationship Id="rId11" Type="http://schemas.openxmlformats.org/officeDocument/2006/relationships/slide" Target="slides/slide161.xml"/><Relationship Id="rId12" Type="http://schemas.openxmlformats.org/officeDocument/2006/relationships/slide" Target="slides/slide160.xml"/><Relationship Id="rId13" Type="http://schemas.openxmlformats.org/officeDocument/2006/relationships/slide" Target="slides/slide159.xml"/><Relationship Id="rId14" Type="http://schemas.openxmlformats.org/officeDocument/2006/relationships/slide" Target="slides/slide158.xml"/><Relationship Id="rId15" Type="http://schemas.openxmlformats.org/officeDocument/2006/relationships/slide" Target="slides/slide157.xml"/><Relationship Id="rId16" Type="http://schemas.openxmlformats.org/officeDocument/2006/relationships/slide" Target="slides/slide156.xml"/><Relationship Id="rId17" Type="http://schemas.openxmlformats.org/officeDocument/2006/relationships/slide" Target="slides/slide155.xml"/><Relationship Id="rId18" Type="http://schemas.openxmlformats.org/officeDocument/2006/relationships/slide" Target="slides/slide154.xml"/><Relationship Id="rId19" Type="http://schemas.openxmlformats.org/officeDocument/2006/relationships/slide" Target="slides/slide153.xml"/><Relationship Id="rId20" Type="http://schemas.openxmlformats.org/officeDocument/2006/relationships/slide" Target="slides/slide152.xml"/><Relationship Id="rId21" Type="http://schemas.openxmlformats.org/officeDocument/2006/relationships/slide" Target="slides/slide151.xml"/><Relationship Id="rId22" Type="http://schemas.openxmlformats.org/officeDocument/2006/relationships/slide" Target="slides/slide150.xml"/><Relationship Id="rId23" Type="http://schemas.openxmlformats.org/officeDocument/2006/relationships/slide" Target="slides/slide149.xml"/><Relationship Id="rId24" Type="http://schemas.openxmlformats.org/officeDocument/2006/relationships/slide" Target="slides/slide148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47.xml"/><Relationship Id="rId31" Type="http://schemas.openxmlformats.org/officeDocument/2006/relationships/slide" Target="slides/slide146.xml"/><Relationship Id="rId32" Type="http://schemas.openxmlformats.org/officeDocument/2006/relationships/slide" Target="slides/slide145.xml"/><Relationship Id="rId33" Type="http://schemas.openxmlformats.org/officeDocument/2006/relationships/slide" Target="slides/slide144.xml"/><Relationship Id="rId34" Type="http://schemas.openxmlformats.org/officeDocument/2006/relationships/slide" Target="slides/slide143.xml"/><Relationship Id="rId35" Type="http://schemas.openxmlformats.org/officeDocument/2006/relationships/slide" Target="slides/slide142.xml"/><Relationship Id="rId36" Type="http://schemas.openxmlformats.org/officeDocument/2006/relationships/slide" Target="slides/slide141.xml"/><Relationship Id="rId37" Type="http://schemas.openxmlformats.org/officeDocument/2006/relationships/slide" Target="slides/slide140.xml"/><Relationship Id="rId38" Type="http://schemas.openxmlformats.org/officeDocument/2006/relationships/slide" Target="slides/slide139.xml"/><Relationship Id="rId39" Type="http://schemas.openxmlformats.org/officeDocument/2006/relationships/slide" Target="slides/slide138.xml"/><Relationship Id="rId40" Type="http://schemas.openxmlformats.org/officeDocument/2006/relationships/slide" Target="slides/slide137.xml"/><Relationship Id="rId41" Type="http://schemas.openxmlformats.org/officeDocument/2006/relationships/slide" Target="slides/slide136.xml"/><Relationship Id="rId42" Type="http://schemas.openxmlformats.org/officeDocument/2006/relationships/slide" Target="slides/slide135.xml"/><Relationship Id="rId43" Type="http://schemas.openxmlformats.org/officeDocument/2006/relationships/slide" Target="slides/slide134.xml"/><Relationship Id="rId44" Type="http://schemas.openxmlformats.org/officeDocument/2006/relationships/slide" Target="slides/slide133.xml"/><Relationship Id="rId45" Type="http://schemas.openxmlformats.org/officeDocument/2006/relationships/slide" Target="slides/slide132.xml"/><Relationship Id="rId46" Type="http://schemas.openxmlformats.org/officeDocument/2006/relationships/slide" Target="slides/slide131.xml"/><Relationship Id="rId47" Type="http://schemas.openxmlformats.org/officeDocument/2006/relationships/slide" Target="slides/slide130.xml"/><Relationship Id="rId48" Type="http://schemas.openxmlformats.org/officeDocument/2006/relationships/slide" Target="slides/slide129.xml"/><Relationship Id="rId49" Type="http://schemas.openxmlformats.org/officeDocument/2006/relationships/slide" Target="slides/slide128.xml"/><Relationship Id="rId50" Type="http://schemas.openxmlformats.org/officeDocument/2006/relationships/slide" Target="slides/slide127.xml"/><Relationship Id="rId51" Type="http://schemas.openxmlformats.org/officeDocument/2006/relationships/slide" Target="slides/slide126.xml"/><Relationship Id="rId52" Type="http://schemas.openxmlformats.org/officeDocument/2006/relationships/slide" Target="slides/slide125.xml"/><Relationship Id="rId53" Type="http://schemas.openxmlformats.org/officeDocument/2006/relationships/slide" Target="slides/slide124.xml"/><Relationship Id="rId54" Type="http://schemas.openxmlformats.org/officeDocument/2006/relationships/slide" Target="slides/slide123.xml"/><Relationship Id="rId83" Type="http://schemas.openxmlformats.org/officeDocument/2006/relationships/slide" Target="slides/slide122.xml"/><Relationship Id="rId84" Type="http://schemas.openxmlformats.org/officeDocument/2006/relationships/slide" Target="slides/slide121.xml"/><Relationship Id="rId85" Type="http://schemas.openxmlformats.org/officeDocument/2006/relationships/slide" Target="slides/slide120.xml"/><Relationship Id="rId100" Type="http://schemas.openxmlformats.org/officeDocument/2006/relationships/slide" Target="slides/slide119.xml"/><Relationship Id="rId101" Type="http://schemas.openxmlformats.org/officeDocument/2006/relationships/slide" Target="slides/slide118.xml"/><Relationship Id="rId102" Type="http://schemas.openxmlformats.org/officeDocument/2006/relationships/slide" Target="slides/slide117.xml"/><Relationship Id="rId103" Type="http://schemas.openxmlformats.org/officeDocument/2006/relationships/slide" Target="slides/slide116.xml"/><Relationship Id="rId116" Type="http://schemas.openxmlformats.org/officeDocument/2006/relationships/slide" Target="slides/slide107.xml"/><Relationship Id="rId117" Type="http://schemas.openxmlformats.org/officeDocument/2006/relationships/slide" Target="slides/slide108.xml"/><Relationship Id="rId118" Type="http://schemas.openxmlformats.org/officeDocument/2006/relationships/slide" Target="slides/slide109.xml"/><Relationship Id="rId119" Type="http://schemas.openxmlformats.org/officeDocument/2006/relationships/slide" Target="slides/slide110.xml"/><Relationship Id="rId120" Type="http://schemas.openxmlformats.org/officeDocument/2006/relationships/slide" Target="slides/slide111.xml"/><Relationship Id="rId121" Type="http://schemas.openxmlformats.org/officeDocument/2006/relationships/slide" Target="slides/slide112.xml"/><Relationship Id="rId122" Type="http://schemas.openxmlformats.org/officeDocument/2006/relationships/slide" Target="slides/slide113.xml"/><Relationship Id="rId123" Type="http://schemas.openxmlformats.org/officeDocument/2006/relationships/slide" Target="slides/slide114.xml"/><Relationship Id="rId124" Type="http://schemas.openxmlformats.org/officeDocument/2006/relationships/slide" Target="slides/slide115.xml"/><Relationship Id="rId172" Type="http://schemas.openxmlformats.org/officeDocument/2006/relationships/slide" Target="slides/slide163.xml"/><Relationship Id="rId173" Type="http://schemas.openxmlformats.org/officeDocument/2006/relationships/slide" Target="slides/slide164.xml"/><Relationship Id="rId174" Type="http://schemas.openxmlformats.org/officeDocument/2006/relationships/slide" Target="slides/slide165.xml"/><Relationship Id="rId175" Type="http://schemas.openxmlformats.org/officeDocument/2006/relationships/slide" Target="slides/slide166.xml"/><Relationship Id="rId178" Type="http://schemas.openxmlformats.org/officeDocument/2006/relationships/slide" Target="slides/slide169.xml"/><Relationship Id="rId179" Type="http://schemas.openxmlformats.org/officeDocument/2006/relationships/slide" Target="slides/slide170.xml"/><Relationship Id="rId180" Type="http://schemas.openxmlformats.org/officeDocument/2006/relationships/slide" Target="slides/slide171.xml"/><Relationship Id="rId181" Type="http://schemas.openxmlformats.org/officeDocument/2006/relationships/slide" Target="slides/slide172.xml"/><Relationship Id="rId185" Type="http://schemas.openxmlformats.org/officeDocument/2006/relationships/slide" Target="slides/slide176.xml"/><Relationship Id="rId186" Type="http://schemas.openxmlformats.org/officeDocument/2006/relationships/slide" Target="slides/slide177.xml"/><Relationship Id="rId187" Type="http://schemas.openxmlformats.org/officeDocument/2006/relationships/slide" Target="slides/slide178.xml"/><Relationship Id="rId188" Type="http://schemas.openxmlformats.org/officeDocument/2006/relationships/slide" Target="slides/slide179.xml"/><Relationship Id="rId189" Type="http://schemas.openxmlformats.org/officeDocument/2006/relationships/slide" Target="slides/slide180.xml"/><Relationship Id="rId190" Type="http://schemas.openxmlformats.org/officeDocument/2006/relationships/slide" Target="slides/slide181.xml"/><Relationship Id="rId191" Type="http://schemas.openxmlformats.org/officeDocument/2006/relationships/slide" Target="slides/slide182.xml"/><Relationship Id="rId192" Type="http://schemas.openxmlformats.org/officeDocument/2006/relationships/slide" Target="slides/slide183.xml"/><Relationship Id="rId193" Type="http://schemas.openxmlformats.org/officeDocument/2006/relationships/slide" Target="slides/slide184.xml"/><Relationship Id="rId194" Type="http://schemas.openxmlformats.org/officeDocument/2006/relationships/slide" Target="slides/slide185.xml"/><Relationship Id="rId195" Type="http://schemas.openxmlformats.org/officeDocument/2006/relationships/slide" Target="slides/slide186.xml"/><Relationship Id="rId196" Type="http://schemas.openxmlformats.org/officeDocument/2006/relationships/slide" Target="slides/slide187.xml"/><Relationship Id="rId197" Type="http://schemas.openxmlformats.org/officeDocument/2006/relationships/slide" Target="slides/slide188.xml"/><Relationship Id="rId198" Type="http://schemas.openxmlformats.org/officeDocument/2006/relationships/slide" Target="slides/slide189.xml"/><Relationship Id="rId199" Type="http://schemas.openxmlformats.org/officeDocument/2006/relationships/slide" Target="slides/slide190.xml"/><Relationship Id="rId200" Type="http://schemas.openxmlformats.org/officeDocument/2006/relationships/slide" Target="slides/slide191.xml"/><Relationship Id="rId201" Type="http://schemas.openxmlformats.org/officeDocument/2006/relationships/slide" Target="slides/slide192.xml"/><Relationship Id="rId202" Type="http://schemas.openxmlformats.org/officeDocument/2006/relationships/slide" Target="slides/slide193.xml"/><Relationship Id="rId203" Type="http://schemas.openxmlformats.org/officeDocument/2006/relationships/slide" Target="slides/slide194.xml"/><Relationship Id="rId204" Type="http://schemas.openxmlformats.org/officeDocument/2006/relationships/slide" Target="slides/slide195.xml"/><Relationship Id="rId205" Type="http://schemas.openxmlformats.org/officeDocument/2006/relationships/slide" Target="slides/slide196.xml"/><Relationship Id="rId206" Type="http://schemas.openxmlformats.org/officeDocument/2006/relationships/slide" Target="slides/slide197.xml"/><Relationship Id="rId207" Type="http://schemas.openxmlformats.org/officeDocument/2006/relationships/slide" Target="slides/slide198.xml"/><Relationship Id="rId208" Type="http://schemas.openxmlformats.org/officeDocument/2006/relationships/slide" Target="slides/slide199.xml"/><Relationship Id="rId209" Type="http://schemas.openxmlformats.org/officeDocument/2006/relationships/slide" Target="slides/slide200.xml"/><Relationship Id="rId210" Type="http://schemas.openxmlformats.org/officeDocument/2006/relationships/slide" Target="slides/slide201.xml"/><Relationship Id="rId211" Type="http://schemas.openxmlformats.org/officeDocument/2006/relationships/slide" Target="slides/slide202.xml"/><Relationship Id="rId212" Type="http://schemas.openxmlformats.org/officeDocument/2006/relationships/slide" Target="slides/slide203.xml"/><Relationship Id="rId213" Type="http://schemas.openxmlformats.org/officeDocument/2006/relationships/slide" Target="slides/slide204.xml"/><Relationship Id="rId214" Type="http://schemas.openxmlformats.org/officeDocument/2006/relationships/slide" Target="slides/slide205.xml"/><Relationship Id="rId215" Type="http://schemas.openxmlformats.org/officeDocument/2006/relationships/slide" Target="slides/slide206.xml"/><Relationship Id="rId216" Type="http://schemas.openxmlformats.org/officeDocument/2006/relationships/slide" Target="slides/slide207.xml"/><Relationship Id="rId217" Type="http://schemas.openxmlformats.org/officeDocument/2006/relationships/slide" Target="slides/slide208.xml"/><Relationship Id="rId218" Type="http://schemas.openxmlformats.org/officeDocument/2006/relationships/slide" Target="slides/slide209.xml"/><Relationship Id="rId219" Type="http://schemas.openxmlformats.org/officeDocument/2006/relationships/slide" Target="slides/slide210.xml"/><Relationship Id="rId220" Type="http://schemas.openxmlformats.org/officeDocument/2006/relationships/slide" Target="slides/slide211.xml"/><Relationship Id="rId221" Type="http://schemas.openxmlformats.org/officeDocument/2006/relationships/slide" Target="slides/slide212.xml"/><Relationship Id="rId222" Type="http://schemas.openxmlformats.org/officeDocument/2006/relationships/slide" Target="slides/slide213.xml"/><Relationship Id="rId223" Type="http://schemas.openxmlformats.org/officeDocument/2006/relationships/slide" Target="slides/slide214.xml"/><Relationship Id="rId224" Type="http://schemas.openxmlformats.org/officeDocument/2006/relationships/slide" Target="slides/slide215.xml"/><Relationship Id="rId225" Type="http://schemas.openxmlformats.org/officeDocument/2006/relationships/slide" Target="slides/slide216.xml"/><Relationship Id="rId226" Type="http://schemas.openxmlformats.org/officeDocument/2006/relationships/slide" Target="slides/slide217.xml"/><Relationship Id="rId227" Type="http://schemas.openxmlformats.org/officeDocument/2006/relationships/slide" Target="slides/slide218.xml"/><Relationship Id="rId228" Type="http://schemas.openxmlformats.org/officeDocument/2006/relationships/slide" Target="slides/slide219.xml"/><Relationship Id="rId229" Type="http://schemas.openxmlformats.org/officeDocument/2006/relationships/slide" Target="slides/slide220.xml"/><Relationship Id="rId230" Type="http://schemas.openxmlformats.org/officeDocument/2006/relationships/slide" Target="slides/slide221.xml"/><Relationship Id="rId231" Type="http://schemas.openxmlformats.org/officeDocument/2006/relationships/slide" Target="slides/slide222.xml"/><Relationship Id="rId232" Type="http://schemas.openxmlformats.org/officeDocument/2006/relationships/slide" Target="slides/slide2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0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2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II: Multiplicidade/Cardinalidade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5 (classes, atributos, métodos, visibilidade, relacionamentos)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07:50 - 08:35  Multiplicidade/cardinalidade: as 4 notações, onde se escreve, faixas concretas, 1:1, 1:N e N:N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08:50 - 09:25  Além dos números: papéis, navegabilidade, associação reflexiva, classe associativa, restrições e banco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09:25 - 09:45  TechBurger e Biblioteca com cardinalidade + exemplo guiado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09:45 - 10:15  Atividade 1 em grupo: TechBurger completo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10:15 - 10:25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10:25 - 10:50  Atividade 2 individual: Academia FitLife + encontre o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10:50 - 11:20  Atividade 3 em duplas: revisão geral das Aulas 1 a 6 (Oficina AutoCerto)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11:20 - 11:30  Erros comuns, síntese e encerramento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5: Diagrama de Classes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fechar o diagrama com cardinalidade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candidatas do TechBurger (Aula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 - o núcleo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classe com 3 partes: nome, atributos (visibilidade + tipo)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Mais”: Associado, Livro, Emprestimo, Estante e Professor (subclasse de Associado)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Atributos, métodos e visibilidade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Atributo: visibilidade nome: tipo (ex.: - pontosFidelidade: Inteiro)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 (/): calculável a partir de outros dados (ex.: /valorTotal)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Método: visibilidade nome(parâmetros): retorno (ex.: + confirmar())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Visibilidade: + público, - privado, # protegido (visível às subclasses)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 dado que o objeto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TEM?”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pontosFidelidade, valorTotal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ação que o objeto executa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FAZ?”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acumularPontos(), confirmar()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 básicos (sem cardinalidade ainda)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as classes se conhecem e colaboram (linha simples, com verbo)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- todo-parte fraca: a parte existe sem o todo (losango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- todo-parte forte: a parte não existe sem o todo (losango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“é um tipo de” (seta com triângulo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5 vimos só o CONCEITO - hoje aprendemos A QUANTIDADE de cada lado, e muito mais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paramos: o TechBurger da Aula 5 (linhas ainda sem números)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3420" y="2900000"/>
            <a:ext cx="1254116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atributo e método?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um atributo derivado?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Associação, agregação, composição ou herança: qual é “todo-parte forte”?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Pedido não deveria herdar de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Que símbolo de visibilidade só faz sentido quando há herança?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Dê um exemplo de composição e um de agregação usando TechBurger ou Biblioteca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Atributo é um dado (o que o objeto TEM); método é uma ação (o que o objeto 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É calculado a partir de outros dados, leva a barra (/): ex. /valorTotal em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Composição (a parte não existe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não é um tipo de Cliente - são coisas diferentes que se associam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# (protegido) - só faz sentido quando existem subclasses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Composição: Pedido - ItemPedido. Agregação: Estante - Livro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II: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de um lado se relacionam com quantas do outro - e o que mais cabe numa linha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Pedido pode ter vários ItemPedido. Mas quantos Pedidos um único ItemPedido pode ter?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um Cliente: quantos Pedidos ele pode fazer? Quantos Clientes cabem em um único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Associado da Biblioteca pode pegar 10 livros de uma vez? Onde o diagrama mostra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resposta não é sempre “muitos” dos dois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a notação exata para escrever essas respostas - e outros detalhes que uma linha pode carregar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multiplicidade (cardinalidade)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Indica QUANTAS instâncias de uma classe podem se relacionar com QUANTAS instâncias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escrita em cada relacionamento, como um número (ou faixa) em cada ponta da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Completa o TIPO do relacionamento (associação/agregação/composição) com a sua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cardinalidade, o diagrama diz QUE existe relação, mas não diz QUANTO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o nome oficial é multiplicidade; no dia a dia (e em banco de dados) fala-se cardinalidade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apenas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notação é um par mínimo..máximo: “1” é atalho de “1..1” e “*” é atalho de “0..*”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na prática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536994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mínimo e o máximo: duas perguntas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MÍNIMO: a relação é obrigatória (1) ou opcional (0)?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Pergunta-teste do mínimo: “no momento em que o objeto é criado, essa relação já existe?”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MÁXIMO: só um (1), um número concreto (3, 20...) ou sem limite (*)?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Pergunta-teste do máximo: “existe alguma regra que limite a quantidade?”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Resolvendo as duas perguntas, a notação sai sozinha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0..1 x 1: opcional ou obrigatório?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0..1 (opcional)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 relação pode ainda não existir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pagamento só existe depois de confirmado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1 (obrigatório)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Nasce junto com o objeto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existe item sem produto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0..* x 1..*: pode ser vazio?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0..* (pode ser vazio)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Zero é aceitável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0..*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recém-cadastrado não tem pedido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1..* (nunca vazio)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Pelo menos um é exigido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Turma sem aluno não é aberta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“Exatamente um”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“Zero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“Um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“Zero ou um”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“Cada aluno pode ter no máximo 2 trancamentos”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0..* (ou 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0..2 (faixa concreta: mínimo 0, máximo 2)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“Cliente 1 —— * Pedido”: perto de Cliente fica o 1, perto de Pedido fica o 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dos dois lados: um Cliente pode ter vários Pedidos; 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ouro: o número fica perto da classe que está sendo CONTADA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linha nos dois sentidos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4915341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Pratiquem: leiam a linha nos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“Associado 1 —— 0..3 Emprestimo”: o que isso diz do lado do Associado? E do lado do Emprestimo?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“Estante 0..1 —— 0..* Livro”: o que isso diz do lado da Estante? E do lado do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em voz alta as duas frases de cada relacionamento antes de responder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lendo 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1: cada Emprestimo tem exatamente 1 Associado. Emprestimo 0..3: um Associado tem de 0 a 3 empréstimos em aberto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0..1: cada Livro está em no máximo 1 Estante (ou em nenhuma). Livro 0..*: uma Estante pode ter de 0 a muitos livros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Faixas além do básico: limites concretos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também pode ser uma faixa numérica exata, não só 0, 1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“0..3” - de zero até exatamente três, nunca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 (regra da Aula 1):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vira: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Outras formas válidas: “2” (exatamente dois), “2..4”, “1..5” - o mínimo nunca pode ser maior que o máximo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palavras do texto à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“cada ... pertence a um”, “de um único” →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“pode ter um”, “às vezes”, “opcional” →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“pode ter vários”, “nenhum ou muitos” → 0..* (ou 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“pelo menos um”, “um ou mais”, “obrigatório ter” → 1..*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“no máximo N”, “até N” → 0..N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Cuidado: “vários” diz o MÁXIMO, mas não diz nada sobre o mínimo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tem cardinalidade e quem não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composição: têm cardinalidade, nas duas pontas da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Herança/generalização: NUNCA tem - é uma relação de CLASSIFICAÇÃO, não de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É UM Funcionario - não faz sentido perguntar “quantos Funcionario um Atendente tem?”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números na seta de herança é um erro comum (veremos no “Encontre o erro”)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em cada tipo de relacionamento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121" y="2900000"/>
            <a:ext cx="15595757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Padrões de cardinalidade: 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fraca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aceitar 0 (ex.: 0..1)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Estante 0..1 —— 0..* Livro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forte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é exatamente 1 (nunca 0..1)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* ItemPedido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confirma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sozinha NÃO decide - quem decide é a semântica (a parte existe sem o todo?)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ela CONFIRMA a escolha: composição tem “1” do lado do todo; agregação costuma aceitar “0”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lado do todo ficou “0..1” numa composição, algo está errado - revisem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 entre os dois, olhar o mínimo do lado do todo é uma boa pista extra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TIPOS DE RELACIONAMENTO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1:1, 1:N e N:N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Classificando um relacionamento só pelos máximos das pontas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três tipos, pelos máximos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1:1 (um para um) - máximo 1 dos dois lados. Ex.: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1:N (um para muitos) - máximo 1 de um lado e * do outro. Ex.: Cliente 1 —— 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N:N (muitos para muitos) - * dos dois lados. Ex.: Aluno * —— *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MÍNIMOS (0 ou 1) não mudam o tipo: 0..1 e 1 são “um”; 0..* e 1..* são “muitos”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assim que o pessoal de banco de dados fala - vocês vão ouvir muito em Banco de Dados (Módulo II)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1:1, 1:N e N:N no diagrama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5736997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1:N é o mais comum - e o N:N pede atenção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maioria das linhas de um diagrama real é 1:N (cliente-pedido, conta-transação, turma-aluno)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1:1 é raro: muitas vezes indica que as duas classes poderiam ser uma só - sempre perguntem por quê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TechBurger, Pagamento e Entrega são 1:1 com Pedido porque têm dados e regras próprios (desconto PIX, raio de 5 km)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N:N quase sempre esconde uma informação da própria relação (quando? quanto? que nota?) - guardem essa ideia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Quiz: 1:1, 1:N ou N:N?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Cliente 1 —— 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Aluno * —— *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Pessoa 1 —— 0..1 CNH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* —— * Produto (sem passar por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Estante 0..1 —— 0..*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Associado 1 —— 0..3 Emprestimo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- 1:1, 1:N ou N:N?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1:1 (o mínimo 0 não muda o tipo)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N:N - um pedido tem vários produtos e um produto aparece em vários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1:N (agregação também se classifica assim)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1:N - “3” é um máximo concreto, mas continua sendo “muitos” do ponto de vista do tipo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ALÉM DOS NÚMEROS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que mais uma linha pode dizer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Papéis, navegabilidade, associação reflexiva, classe associativa, restrições e notas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Papéis (roles): o nome de cada ponta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Além do verbo no meio da linha, cada ponta pode ter um PAPEL: o nome que a classe “recebe” ali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Instrutor 1 “instrutor” —— 0..* “aulasMinistradas”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papel é escrito perto da classe, junto da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código, o papel costuma virar o nome do atributo: aula.instrutor, instrutor.aulasMinistradas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Opcional na maioria das linhas - mas OBRIGATÓRIO quando a mesma classe aparece nas duas pontas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Papéis nas pontas da linha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5812922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Navegabilidade: quem conhece quem?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seta aberta na ponta da linha diz em que sentido dá para “navegar” de um objeto ao outro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——&gt; Produto: o item sabe qual é o seu produto; o produto não guarda a lista de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sem setas: navegável nos dois sentidos (ou ainda não decidido)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decisão de projeto: reduz dependências e simplifica 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confundam: seta ABERTA (navegabilidade) x triângulo VAZADO (herança)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Navegabilidade no TechBurger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000" y="2900000"/>
            <a:ext cx="16488000" cy="3555512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Associação reflexiva: a classe ligada a ela mesma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Às vezes os dois lados da relação são objetos da MESMA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supervisiona Funcionario: um supervisor (0..1) tem vários subordinados (0..*)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6 do TechBurger: Produto em falta sugere um Produto substituto (0..1)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Desenho: a linha sai da classe e volta para ela mesma, fazendo uma “alça”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Aqui os PAPÉIS são essenciais: sem “supervisor” e “subordinado”, não dá para saber quem é quem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Associação reflexiva: Funcionario e Produto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3736" y="2900000"/>
            <a:ext cx="14220528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reflexiva do Produto (Regra 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Ponta “substituto” 0..1: cada produto indica no máximo UM substituto (e pode não ter nenhum)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Ponta “original” 0..*: um mesmo produto pode ser o substituto de vários outros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Coca-Cola em falta → sugere Guaraná; Fanta em falta → também sugere Guaraná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associação normal, com cardinalidade normal - só que as duas pontas estão na mesma classe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reflexivas no dia a 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Rede social: Usuario segue Usuario. Qual a cardinalidade de cada ponta?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Biblioteca: um Livro pode ser a continuação de outro Livro (sequência de uma saga). Cardinalidades e papéis?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Empresa: Setor está dentro de outro Setor (subsetores). Cardinalidades e papéis?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reflexivas no dia a 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Usuario 0..* “seguidor” —— 0..* “seguido” Usuario (N:N reflexiva)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Livro 0..1 “anterior” —— 0..1 “continuacao” Livro (1:1 reflexiva: cada livro tem no máximo uma continuação)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Setor 0..1 “setorPai” —— 0..* “subsetores” Setor (1:N reflexiva: o setor raiz não tem pai)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 associativa: quando a relação tem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Disciplina: onde guardar a NOTA? Não é do aluno (ele tem várias), nem da disciplina (ela tem vários alunos)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nota pertence ao PAR aluno + disciplina - ou seja, à própria relação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Solução UML: uma classe associativa (Matricula) ligada à linha por uma linha TRACEJADA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Ela tem atributos e métodos como qualquer classe: nota, frequencia, aprovado()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Pista: se a pergunta é “quando?”, “quanto?” ou “com que resultado?” sobre a relação, provavelmente há uma classe associativa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 associativa: Matricula entre Aluno e Disciplina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943" y="2900000"/>
            <a:ext cx="1585411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Surpresa: vocês já usam classes associativas!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Pedido * —— * Produto, e a quantidade/preço de cada produto no pedido... é o ItemPedido!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Biblioteca: Associado * —— * Livro, e as datas de cada empréstimo... é o Emprestimo!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FitLife: Aluno * —— * Aula, e a data/status de cada vaga... é a Reserva!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5 nós as desenhamos como classes comuns ligadas por duas linhas 1:N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formas são equivalentes - a segunda é a mais usada na prática e a que vira tabela no banco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Duas formas equivalentes de desenhar o ItemPedido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49" y="2900000"/>
            <a:ext cx="1304290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“promover” um N:N em duas linhas 1:N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* —— * Produto  vira  Pedido 1 —— *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“muitos” das pontas originais passam para o lado da nova classe do meio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lados das classes originais ficam “1”: cada ItemPedido é de 1 pedido e de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nome da nova classe costuma ser um substantivo da relação: Item, Matricula, Reserva, Emprestimo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Restrições e notas: regras de negócio no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Restrição: uma condição entre chaves { } que o modelo sempre deve respeitar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 (Regra 1): { canal = app implica valorTotal &gt;= 15,00 } junto da classe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Nota: um retângulo com o canto dobrado, ligado por linha tracejada ao elemento que explica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Restrições comuns nas pontas: {ordered} (a ordem importa - ex.: itens na ordem em que foram pedidos) e {unique}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com moderação: o diagrama não é o lugar de TODAS as regras - só das que explicam a estrutura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Restrição e notas ligadas às regras da Aula 1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044" y="2900000"/>
            <a:ext cx="1493591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Nem toda regra de negócio vira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7 do TechBurger: mais de 10 itens exige confirmação do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NÃO vira “Pedido 1 —— 1..10 ItemPedido”: pedidos com 11 itens EXISTEM, só precisam de aprovação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8 (bloqueio após 3 cancelamentos): também não muda Cliente 1 —— * Pedido - bloqueia NOVOS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= limite que NUNCA é ultrapassado. Regra com exceção ou aprovação = comportamento (método) ou nota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Pergunta-teste: “é impossível existir o 11º? ou só precisa de alguém autorizar?”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cardinalidade à chave estrangeira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todo sistema guarda seus dados em um banco relacional - e a cardinalidade vira a estrutura das tabelas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1:N  Cliente 1 —— * Pedido: a tabela Pedido ganha a coluna clienteId (chave estrangeira)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1:1  Pedido 1 —— 0..1 Pagamento: Pagamento ganha pedidoId; o 0..1 permite existir pedido sem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N:N  Aluno * —— * Disciplina: precisa de uma TERCEIRA tabela - que é justamente a classe associativa (Matricula)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no 1:N, o lado “muitos” sempre recebe a chave estrangeira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diagrama às tabelas: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No diagrama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* ItemPedido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No banco de dados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Pedido(id, clienteId, ...)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ItemPedido(id, pedidoId, produtoId, quantidade)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Produto(id, nome, preco)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cardinalidade vira o quê no banco?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Cliente 1 —— * Pedido: qual tabela ganha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Aluno * —— * Disciplina: precisa de quantas tabelas, no total?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Pedido 1 —— 0..1 Pagamento: pode existir um pedido sem nenhuma linha em Pagamento?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tabela do TechBurger funciona como a “tabela associativa” entre Pedido e Produto?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cardinalidade e banco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(o lado “muitos”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Três: Aluno, Disciplina e a tabela associativa Matricula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Sim - o “0..1” é exatamente o que permite isso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ItemPedido (tem pedidoId e produtoId)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Cenário da escola - individual, na apostila (a Biblioteca fica na apostila, seção 4)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-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 (com a classe associativa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(6 perguntas)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Uma turma pode ter quantos alunos,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aluno pertence a quantas turmas?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aluno pode cursar quantas disciplinas? E uma disciplina, quantos alunos?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Quantos professores estão associados a uma turma?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Classifiquem cada relacionamento em 1:1, 1:N ou N:N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Onde fica a nota do aluno em uma disciplina? Por quê?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No mínimo 1 aluno, sem máximo definido (1..*)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 (a ponta do lado Turma é “1”)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ou muitas (*) / zero ou muitos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Exatamente 1 (a ponta do lado Professor é “1”)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Turma-Aluno 1:N; Aluno-Disciplina N:N; Professor-Turma 1:N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Na classe associativa Matricula: a nota é do PAR aluno + disciplina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APLICANDO NOS NOSSOS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 e Biblioteca “Ler Mais” com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Cada número justificado por uma regra de negócio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do TechBurger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◆—— * ItemPedido (é composto por, 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——&gt; 1 Produto (refere-se a, navegável até o Produto)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  e  Pedido 1 —— 0..1 Entrega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0..1 —— 0..* Pedido (registra)  e  Gerente 0..1 —— 0..* Pedido (autoriza)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0..* “original” —— 0..1 “substituto” Produto (reflexiva, Regra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/ Gerente (herança, sem números)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—— Pedido: por que “1” e por que “*”?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Lado do Cliente “1”: não existe pedido anônimo no TechBurger - todo pedido tem um cliente identificado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Lado do Pedido “*” (e não “1..*”): um cliente recém-cadastrado ainda não fez nenhum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“1..*” diria que todo cliente é OBRIGADO a ter pelo menos um pedido - falso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Pedido —— ItemPedido: “*” ou “1..*”?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Lado do Pedido “1”: composição - cada item pertence a exatamente um pedido e não troca de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Lado do ItemPedido: o diagrama de referência usa “*”; na prática um carrinho confirmado tem pelo menos 1 item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“1..*” também é defensável - o importante é justificar com uma regra do negócio, não copiar sem pensar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Pagamento e Entrega: por que “0..1” e não “1”?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Pagamento: o pedido é criado ANTES de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Entrega: só existe entrega quando o tipo do pedido é “entrega” - retirada no balcão não 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“1” obrigaria TODO pedido a já nascer com pagamento e entrega - e isso não é verdade no TechBurger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aberto): a Regra da Aula 1 vira a faixa exata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Livro: todo empréstimo nasce ligado a um livro; um livro acumula histórico de empréstimos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 —— 0..* Livro (agregação): o “0” do lado da Estante mostra que o livro existe sem estante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&lt;|-- Associado: herança, sem números (Professor redefine prazoEmprestimo() para 30 dias)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Emprestimo é a classe associativa escondida entre Associado e Livro!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diagrama de classes com cardinalidade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123" y="2900000"/>
            <a:ext cx="1512375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___ ItemPedido (não existe limite máximo de itens no diagrama de referência)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Cliente ___ —— * Pedido (cada pedido pertence a exatamente um 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0..1 —— ___ Livro (a estante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Associado 1 —— ___ Emprestimo (no máximo 3 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Produto 0..* “original” —— ___ “substituto” Produto (no máximo um substituto sugerido)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* (ou 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0..*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5.  0..1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Cliente e Pedido - cardinalidade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Retomando o exemplo da Aula 5, agora com números, papéis e restrição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arquivo da Aula 5 com Cliente e Pedido. Não têm? Abram “Aula 6 - Exemplo Guiado (ponto de partida).drawio” ou desenhem só os nomes das duas classes e a linha “faz” (a cardinalidade não depende dos atributos)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Duplo clique na linha “faz”, perto de Cliente: digitem “1” ACIMA da linha, colado em Cliente. Na outra ponta: “*” ACIMA da linha, colado em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Leiam os dois sentidos: “um Cliente faz 0 ou muitos Pedidos” / “cada Pedido é de 1 Cliente”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Papéis ABAIXO da linha, nas mesmas pontas: “cliente” colado em Cliente, “pedidos” colado em Pedido (número em cima, papel embaixo)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Nota (forma “Note”) ABAIXO do Pedido com { canal = app implica valorTotal &gt;= 15,00 }, ligada ao Pedido por linha tracejada sem seta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Biblioteca, linha “faz”: “1” acima da linha colado em Associado e “0..3” acima da linha colado em Emprestimo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 esperado do exemplo guiado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1276" y="2900000"/>
            <a:ext cx="13285447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está nas duas pontas de cada linha?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número (ou faixa) tem um mínimo e um máximo claros?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ficou sem nenhum número nas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cardinalidade pode ser justificada por uma regra de negócio ou pelo bom senso do cenário?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NÃO mudou o tipo de nenhum relacionamento da Aula 5?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25 minutos, em grupo, no draw.io ou no papel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retomem o diagrama de classes da Aula 5. Não têm? Abram “Aula 6 - Atividade 1 TechBurger (ponto de partida).drawio”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Parte A: adicionem a cardinalidade em TODOS os relacionamentos (preencham a tabela da apostila antes)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Parte B: acrescentem a reflexiva da Regra 6 (Produto substituto), com papéis 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Parte C: marquem a navegabilidade ItemPedido → Produto e uma nota/restrição para a Regra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Parte D: respondam - de qual N:N o ItemPedido é a classe associativa? A Regra 7 vira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representante apresenta o resultado à turma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—— Pedido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◆—— ItemPedido (é composto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——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Pagamento (gera)  e  Pedido —— Entrega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—— Pedido (registra)  e  Gerente —— Pedido (autoriza)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—— Produto (é substituído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(sem cardinalidade)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associação e composição tem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sem nenhum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reflexiva tem papéis nas duas pontas (original / substituto)?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nota da Regra 1 está ligada ao Pedido por linha tracejada?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número com uma regra ou um caso real?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cada relacionamento nos dois sentidos antes de escrever o número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Mínimo: “no momento em que o objeto é criado, essa relação já existe?”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Máximo: “existe alguma regra que limite, ou é muitos?”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Pagamento, Entrega, Atendente e Gerente são os casos mais delicados: revisem o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7: é impossível existir o 11º item, ou ele só precisa de aprovação?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TechBurger com cardinalidade, reflexiva e restrição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0771" y="2900000"/>
            <a:ext cx="9706458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Pedido: todo pedido tem um cliente; um cliente pode não ter nenhum pedido ainda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◆—— * ItemPedido: o item some se o pedido for excluído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——&gt; 1 Produto: o item conhece o produto; o produto não lista os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“original” 0..* —— 0..1 “substituto”: Regra 6 como associação reflexiva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Atendente/Gerente 0..1 —— 0..* Pedido: pedido pelo app não tem atendente; só pedido grande (Regra 7) passa pelo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Parte D: ItemPedido é a classe associativa de Pedido * —— * Produto; a Regra 7 NÃO vira cardinalidade (é aprovação, não limite)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“1..*” em Pedido-ItemPedido: aceitar se bem justificado (nenhum pedido confirmado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 em Pagamento, Entrega, Atendente ou Gerente é o erro mais comum - peçam a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Navegabilidade em outras linhas (ex.: Pedido → Pagamento) pode ser aceita se o grupo explicar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números na herança; “1..10” por causa da Regra 7; faixa sem sentido (ex.: 5..2)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 no Diagrama de Classes da Academia FitLife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17 minutos, individual, no draw.io ou no papel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abram “Aula 6 - Atividade 2 FitLife (ponto de partida).drawio” (Aluno, Plano, Aula, Instrutor, Reserva,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(tabela da apostila)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regras novas: nenhuma aula coletiva passa de 20 vagas; e um aluno pode indicar amigos (“indique um amigo”), mas cada aluno é indicado por no máximo 1 pessoa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Modelem a indicação como associação reflexiva, com papéis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Respondam: a Reserva é a classe associativa de qual relacionamento N:N?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para cardinalizar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—— Aluno (está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Reserva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◆—— Reserva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—— Instrutor (é ministrada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Pagamento (realiza)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Aluno (indica)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6 relacionamentos têm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20 vagas virou uma faixa concreta?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composição Aula-Reserva tem “1” do lado da Aula?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reflexiva tem papéis (indicador / indicado)?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usei número em nenhuma seta de herança (esta atividade não tem herança)?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110" y="2900000"/>
            <a:ext cx="980377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1 —— 0..* Aluno: todo aluno precisa de um plano; um plano novo pode não ter alunos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1 ◆—— 0..20 Reserva: a regra das 20 vagas vira faixa concreta; a reserva não existe sem a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Instrutor: toda aula nasce com instrutor; instrutor novo pode não ter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0..1 “indicador” —— 0..* “indicado” Aluno: cada aluno foi indicado por no máximo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é a classe associativa de Aluno * —— * Aula (guarda dataReserva e status da vaga)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0..1 Plano (aluno temporariamente sem plano) é aceitável com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1 —— 0..* Reserva + nota { reservas &lt;= limiteVagas } também é uma boa resposta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“1..20” (aula recém-criada tem zero reservas) ou reflexiva sem papéis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Cardinalidades erradas: encontrem e corrijam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Funcionario 1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0..1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Cliente 0..* —— 0..*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Associado 1 —— 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Pedido 1..* ◆—— * ItemPedido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Pagamento é opcional (o pedido pode não ter pagamento ainda): corrigir para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Herança não recebe número nenhum: remover o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pode estar vazia ou ter muitos livros: corrigir o lado do Livro para 0..*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Cada Pedido tem exatamente 1 Cliente: corrigir o lado do Cliente para 1 (não é N:N!)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“3” sozinho significa exatamente três (obrigatório): corrigir para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Composição: cada ItemPedido pertence a exatamente 1 Pedido - o lado do todo é “1”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3 - REVISÃO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Oficina AutoCerto, das Aulas 1 a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30 minutos, em duplas, no caderno e no draw.io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uma revisão agora?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temos 6 aulas: regra de negócio, requisitos, critérios de aceite, casos de uso, classes 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 profissional, tudo isso é feito EM SEQUÊNCIA, sobre 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vamos aplicar tudo em um domínio que ainda não vimos: a oficina mecânica AutoCerto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ótimo treino para o Projeto Integrador (Aulas 16 a 19) e para a avaliação final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AutoCerto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oficina AutoCerto quer um sistema para controlar suas ordens de serviço (OS)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se cadastra com nome, CPF e telefone e cadastra um ou mais veículos (placa, modelo, ano)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OS é aberta para exatamente um veículo e fica sob a responsabilidade de um mecânico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OS inclui um ou mais serviços do catálogo; para cada serviço da OS guarda-se o valor cobrado e o tempo gasto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serviço só começa depois que o cliente aprova o orçamento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AutoCerto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mecânico pode ter no máximo 4 OS em andamento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Garantia de 90 dias: se o mesmo defeito voltar nesse prazo, a nova OS não é cobrada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Alguns mecânicos são chefes e supervisionam outros; cada mecânico tem no máximo um chefe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orçamento deve chegar ao cliente por WhatsApp em até 1 minuto após o mecânico fechá-lo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funcionários com login e senha acessam o sistema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vai funcionar (30 minutos, em duplas)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São 6 partes (A a F), uma para cada aula - todas sobre a MESMA oficina AutoCerto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Etapa 1 - no caderno (8 min): partes A, B e C - o que o negócio exige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Etapa 2 - no caderno (7 min): parte D - quem usa o sistema e para quê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Etapa 3 - no draw.io (12 min): partes E e F - as classes e a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Últimos minutos: correção coletiva, parte por parte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Nos próximos 3 slides: o que fazer em cada parte + um exemplo pronto do TechBurger para vocês copiarem o FORMATO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Etapa 1: partes A e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 - Regras de negócio (Aula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Achem 3 regras no texto da oficina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Escrevam cada uma como Condição / Ação / Exceção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TechBurger: Condição - pedido com endereço de entrega · Ação - validar se está a até 5 km · Exceção - fora do raio, só retirada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 - Requisitos (Aula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 RF: “O sistema deve [verbo]...” - o que ele FAZ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 RNF: uma qualidade com medida - tempo, segurança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RF: “O sistema deve creditar 1 ponto a cada R$ 10,00 gastos”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RNF: “Confirmar o pagamento em até 3 segundos” (desempenho)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Etapa 1 e Etapa 2: partes C 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 - Critério de aceite (Aula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Só 1 critério: o da regra da GARANTIA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Formato Dado / Quando / Então, com dados concretos (dias, defeito)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TechBurger: Dado um pedido com mais de 10 itens, Quando o atendente envia à cozinha, Então o sistema bloqueia até o gerente confirmar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 - Casos de uso (Aula 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Atores (quem usa) e pelo menos 4 casos de uso, com verbo no infinitivo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 «include» (sempre acontece) ou «extend» (só às vezes)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ator Cliente → Fazer Pedido pelo App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Fazer Pedido pelo App «include» Confirmar Pagamento; Aplicar Desconto PIX «extend» Confirmar Pagamento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Etapa 3: partes E e F (no draw.io)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 - Classes (Aula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5 classes da oficina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Cada uma com 2 atributos (- nome: tipo) e 1 método (+ nome())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TechBurger: Pedido - numero: Inteiro, - status: String, + confirmar()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 - Cardinalidade (Aula 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Liguem as classes e ponham os números nas DUAS pontas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Obrigatório: 1 faixa concreta, 1 classe associativa e 1 associação reflexiva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faixa: Associado 1 —— 0..3 Emprestimo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associativa: ItemPedido · Ex. reflexiva: Produto substituto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claras (e exceção, quando existir)?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dizem O QUE o sistema faz; os RNF dizem COMO ele se comporta (tempo, segurança)?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casos de uso começam com verbo e os atores ficam fora da fronteira?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associação tem cardinalidade nas duas pontas, justificada pelo texto?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“no máximo 4” e o “um ou mais” do texto apareceram nas cardinalidades?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AutoCerto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Orçamento: Condição - OS aberta · Ação - só iniciar o serviço após aprovação do cliente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Limite: Condição - mecânico com 4 OS em andamento · Ação - não atribuir nova OS a ele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Garantia: Condição - mesmo defeito em até 90 dias · Ação - não cobrar a nova OS · Exceção - defeito diferente ou fora do prazo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 aceitável: cada mecânico tem no máximo um chefe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C: requisitos e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cadastrar cliente e veículos · abrir OS para um veículo · registrar aprovação do orçamento · verificar garantia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enviar o orçamento por WhatsApp em até 1 minuto (desempenho) · acesso só com login e senha (segurança)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que o veículo teve uma OS de troca de embreagem concluída há 40 dias, Quando o mesmo defeito é registrado em uma nova OS, Então o sistema marca a OS como garantia e zera o valor cobrado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Atendente (recepção), Mecânico, Cliente e WhatsApp (sistema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Atendente: Cadastrar Cliente, Cadastrar Veículo, Abrir 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Mecânico: Registrar Serviços, Fechar Orçamento · Cliente: Aprovar Orçamento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Fechar Orçamento inclui Enviar Orçamento por WhatsApp (sempre acontece)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Aplicar Garantia estende Abrir OS (só quando o defeito se repete em 90 dias)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E e F: classes e cardinalidade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1993" y="2900000"/>
            <a:ext cx="1450401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parte 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1..* Veiculo: o texto diz “um ou mais veículos”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Veiculo 1 —— 0..* OrdemServico: cada OS é de exatamente um veículo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Mecanico 1 —— 0..4 OrdemServico (em andamento): a regra das 4 OS vira faixa concreta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OrdemServico * —— 1..* Servico com a classe associativa ItemServico (valorCobrado, tempoGastoMin)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Mecanico 0..1 “chefe” —— 0..* “supervisionado” Mecanico: associação reflexiva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do orçamento aparece como regra (A), requisito (B) e caso de uso “Aprovar Orçamento” (D)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garantia vira regra (A), critério de aceite (C), «extend» (D) e método emGarantia() (E)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limite de 4 OS vira regra (A) e cardinalidade 0..4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“Para cada serviço da OS guarda-se o valor” é a pista da classe associativa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é isso: o mesmo sistema, visto de ângulos diferentes, sempre coerente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números na seta de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 sem pensar se a relação é realmente opcional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faixa superior (escrever só “0” ou só “3”)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os lados: escrever o número perto da classe errada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regra com exceção/aprovação em limite de cardinalidade (Regra 7)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Reflexiva sem papéis; N:N com dados da relação sem classe associativa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Notações: 1 · 0..1 · 0..* (*) · 1..* · faixas concretas (0..3, 0..20)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Tipos pelos máximos: 1:1 · 1:N · N:N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Papéis nas pontas · seta aberta = navegabilidade · alça = reflexiva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tracejada até uma classe = classe associativa · { } = restrição · canto dobrado = nota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têm cardinalidade; herança nunca tem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 -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1:1, 1:N, N:N - classificação do relacionamento pelos máximos das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Papel - nome de uma ponta da associação (ex.: supervisor, subordinado)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Navegabilidade - seta aberta que indica quem conhece quem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reflexiva - relação de uma classe com ela mesma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 associativa - classe que guarda os dados de uma relação (ligada por linha tracejada)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Restrição { } e nota - regras e comentários anexados ao diagrama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“0..*”? E qual a diferença para “1..*”?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Por que a herança não tem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Por que “Pedido 1 —— 0..1 Pagamento” faz sentido, mas “Pedido 1 —— 1 Pagamento” não?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Como se classifica um relacionamento em 1:1, 1:N ou N:N?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Quando é obrigatório escrever papéis nas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que a seta aberta indica? Como não confundir com a herança?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Quando um N:N precisa de uma classe associativa? Dê um exemplo do curso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Por que a Regra 7 do TechBurger não vira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9.  Como um relacionamento N:N aparece no banco de dados?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cardinalidade de “exatamente um”?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Pessoa 1 —— 0..1 CNH é 1:1, 1:N ou N:N?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Que classe do TechBurger é a classe associativa entre Pedido e Produto?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Dê um exemplo de associação reflexiva visto hoje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as 4 notações, faixas concretas e onde se escreve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Tipos 1:1, 1:N e N:N e a ponte com o banco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Papéis, navegabilidade, associação reflexiva, classe associativa, restrições e notas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três vezes: TechBurger (grupo), FitLife (individual) e AutoCerto (revisão geral)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