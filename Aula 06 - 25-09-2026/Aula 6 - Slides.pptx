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469" r:id="rId126"/>
    <p:sldId id="470" r:id="rId125"/>
    <p:sldId id="584" r:id="rId99"/>
    <p:sldId id="585" r:id="rId98"/>
    <p:sldId id="586" r:id="rId97"/>
    <p:sldId id="587" r:id="rId96"/>
    <p:sldId id="588" r:id="rId95"/>
    <p:sldId id="589" r:id="rId94"/>
    <p:sldId id="590" r:id="rId93"/>
    <p:sldId id="591" r:id="rId92"/>
    <p:sldId id="592" r:id="rId127"/>
    <p:sldId id="593" r:id="rId128"/>
    <p:sldId id="594" r:id="rId129"/>
    <p:sldId id="595" r:id="rId130"/>
    <p:sldId id="596" r:id="rId131"/>
    <p:sldId id="597" r:id="rId132"/>
    <p:sldId id="598" r:id="rId133"/>
    <p:sldId id="599" r:id="rId134"/>
    <p:sldId id="600" r:id="rId135"/>
    <p:sldId id="601" r:id="rId136"/>
    <p:sldId id="602" r:id="rId137"/>
    <p:sldId id="603" r:id="rId138"/>
    <p:sldId id="604" r:id="rId139"/>
    <p:sldId id="605" r:id="rId140"/>
    <p:sldId id="606" r:id="rId141"/>
    <p:sldId id="607" r:id="rId142"/>
    <p:sldId id="608" r:id="rId143"/>
    <p:sldId id="609" r:id="rId144"/>
    <p:sldId id="610" r:id="rId145"/>
    <p:sldId id="611" r:id="rId146"/>
    <p:sldId id="683" r:id="rId111"/>
    <p:sldId id="684" r:id="rId112"/>
    <p:sldId id="685" r:id="rId113"/>
    <p:sldId id="686" r:id="rId114"/>
    <p:sldId id="687" r:id="rId115"/>
    <p:sldId id="612" r:id="rId147"/>
    <p:sldId id="613" r:id="rId148"/>
    <p:sldId id="614" r:id="rId149"/>
    <p:sldId id="615" r:id="rId150"/>
    <p:sldId id="616" r:id="rId151"/>
    <p:sldId id="617" r:id="rId152"/>
    <p:sldId id="618" r:id="rId153"/>
    <p:sldId id="619" r:id="rId154"/>
    <p:sldId id="620" r:id="rId155"/>
    <p:sldId id="621" r:id="rId156"/>
    <p:sldId id="622" r:id="rId157"/>
    <p:sldId id="623" r:id="rId158"/>
    <p:sldId id="624" r:id="rId159"/>
    <p:sldId id="625" r:id="rId160"/>
    <p:sldId id="626" r:id="rId161"/>
    <p:sldId id="627" r:id="rId162"/>
    <p:sldId id="628" r:id="rId163"/>
    <p:sldId id="680" r:id="rId108"/>
    <p:sldId id="681" r:id="rId109"/>
    <p:sldId id="682" r:id="rId110"/>
    <p:sldId id="629" r:id="rId164"/>
    <p:sldId id="630" r:id="rId165"/>
    <p:sldId id="631" r:id="rId166"/>
    <p:sldId id="632" r:id="rId167"/>
    <p:sldId id="679" r:id="rId107"/>
    <p:sldId id="633" r:id="rId168"/>
    <p:sldId id="634" r:id="rId169"/>
    <p:sldId id="635" r:id="rId170"/>
    <p:sldId id="636" r:id="rId171"/>
    <p:sldId id="637" r:id="rId91"/>
    <p:sldId id="638" r:id="rId90"/>
    <p:sldId id="639" r:id="rId89"/>
    <p:sldId id="678" r:id="rId106"/>
    <p:sldId id="640" r:id="rId88"/>
    <p:sldId id="641" r:id="rId176"/>
    <p:sldId id="642" r:id="rId177"/>
    <p:sldId id="643" r:id="rId87"/>
    <p:sldId id="644" r:id="rId86"/>
    <p:sldId id="645" r:id="rId82"/>
    <p:sldId id="677" r:id="rId105"/>
    <p:sldId id="646" r:id="rId81"/>
    <p:sldId id="647" r:id="rId182"/>
    <p:sldId id="648" r:id="rId183"/>
    <p:sldId id="649" r:id="rId184"/>
    <p:sldId id="650" r:id="rId80"/>
    <p:sldId id="676" r:id="rId104"/>
    <p:sldId id="651" r:id="rId79"/>
    <p:sldId id="652" r:id="rId78"/>
    <p:sldId id="653" r:id="rId77"/>
    <p:sldId id="654" r:id="rId76"/>
    <p:sldId id="655" r:id="rId75"/>
    <p:sldId id="656" r:id="rId74"/>
    <p:sldId id="657" r:id="rId73"/>
    <p:sldId id="658" r:id="rId72"/>
    <p:sldId id="659" r:id="rId71"/>
    <p:sldId id="660" r:id="rId70"/>
    <p:sldId id="661" r:id="rId69"/>
    <p:sldId id="662" r:id="rId68"/>
    <p:sldId id="663" r:id="rId67"/>
    <p:sldId id="664" r:id="rId66"/>
    <p:sldId id="665" r:id="rId65"/>
    <p:sldId id="666" r:id="rId64"/>
    <p:sldId id="667" r:id="rId63"/>
    <p:sldId id="668" r:id="rId62"/>
    <p:sldId id="669" r:id="rId61"/>
    <p:sldId id="670" r:id="rId60"/>
    <p:sldId id="671" r:id="rId59"/>
    <p:sldId id="672" r:id="rId58"/>
    <p:sldId id="673" r:id="rId57"/>
    <p:sldId id="674" r:id="rId56"/>
    <p:sldId id="675" r:id="rId55"/>
  </p:sldIdLst>
  <p:sldSz cx="18288000" cy="10287000"/>
  <p:notesSz cx="6858000" cy="9144000"/>
  <p:embeddedFontLst>
    <p:embeddedFont>
      <p:font typeface="Unbounded 1 Ultra-Bold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22" autoAdjust="0"/>
  </p:normalViewPr>
  <p:slideViewPr>
    <p:cSldViewPr>
      <p:cViewPr>
        <p:scale>
          <a:sx n="60" d="100"/>
          <a:sy n="60" d="100"/>
        </p:scale>
        <p:origin x="398" y="-19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25" Type="http://schemas.openxmlformats.org/officeDocument/2006/relationships/font" Target="fonts/font1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55" Type="http://schemas.openxmlformats.org/officeDocument/2006/relationships/slide" Target="slides/slide106.xml"/><Relationship Id="rId56" Type="http://schemas.openxmlformats.org/officeDocument/2006/relationships/slide" Target="slides/slide105.xml"/><Relationship Id="rId57" Type="http://schemas.openxmlformats.org/officeDocument/2006/relationships/slide" Target="slides/slide104.xml"/><Relationship Id="rId58" Type="http://schemas.openxmlformats.org/officeDocument/2006/relationships/slide" Target="slides/slide103.xml"/><Relationship Id="rId59" Type="http://schemas.openxmlformats.org/officeDocument/2006/relationships/slide" Target="slides/slide102.xml"/><Relationship Id="rId60" Type="http://schemas.openxmlformats.org/officeDocument/2006/relationships/slide" Target="slides/slide101.xml"/><Relationship Id="rId61" Type="http://schemas.openxmlformats.org/officeDocument/2006/relationships/slide" Target="slides/slide100.xml"/><Relationship Id="rId62" Type="http://schemas.openxmlformats.org/officeDocument/2006/relationships/slide" Target="slides/slide99.xml"/><Relationship Id="rId63" Type="http://schemas.openxmlformats.org/officeDocument/2006/relationships/slide" Target="slides/slide98.xml"/><Relationship Id="rId64" Type="http://schemas.openxmlformats.org/officeDocument/2006/relationships/slide" Target="slides/slide97.xml"/><Relationship Id="rId65" Type="http://schemas.openxmlformats.org/officeDocument/2006/relationships/slide" Target="slides/slide96.xml"/><Relationship Id="rId66" Type="http://schemas.openxmlformats.org/officeDocument/2006/relationships/slide" Target="slides/slide95.xml"/><Relationship Id="rId67" Type="http://schemas.openxmlformats.org/officeDocument/2006/relationships/slide" Target="slides/slide94.xml"/><Relationship Id="rId68" Type="http://schemas.openxmlformats.org/officeDocument/2006/relationships/slide" Target="slides/slide93.xml"/><Relationship Id="rId69" Type="http://schemas.openxmlformats.org/officeDocument/2006/relationships/slide" Target="slides/slide92.xml"/><Relationship Id="rId70" Type="http://schemas.openxmlformats.org/officeDocument/2006/relationships/slide" Target="slides/slide91.xml"/><Relationship Id="rId71" Type="http://schemas.openxmlformats.org/officeDocument/2006/relationships/slide" Target="slides/slide90.xml"/><Relationship Id="rId72" Type="http://schemas.openxmlformats.org/officeDocument/2006/relationships/slide" Target="slides/slide89.xml"/><Relationship Id="rId73" Type="http://schemas.openxmlformats.org/officeDocument/2006/relationships/slide" Target="slides/slide88.xml"/><Relationship Id="rId74" Type="http://schemas.openxmlformats.org/officeDocument/2006/relationships/slide" Target="slides/slide87.xml"/><Relationship Id="rId75" Type="http://schemas.openxmlformats.org/officeDocument/2006/relationships/slide" Target="slides/slide86.xml"/><Relationship Id="rId76" Type="http://schemas.openxmlformats.org/officeDocument/2006/relationships/slide" Target="slides/slide85.xml"/><Relationship Id="rId77" Type="http://schemas.openxmlformats.org/officeDocument/2006/relationships/slide" Target="slides/slide84.xml"/><Relationship Id="rId78" Type="http://schemas.openxmlformats.org/officeDocument/2006/relationships/slide" Target="slides/slide83.xml"/><Relationship Id="rId79" Type="http://schemas.openxmlformats.org/officeDocument/2006/relationships/slide" Target="slides/slide82.xml"/><Relationship Id="rId80" Type="http://schemas.openxmlformats.org/officeDocument/2006/relationships/slide" Target="slides/slide80.xml"/><Relationship Id="rId81" Type="http://schemas.openxmlformats.org/officeDocument/2006/relationships/slide" Target="slides/slide76.xml"/><Relationship Id="rId82" Type="http://schemas.openxmlformats.org/officeDocument/2006/relationships/slide" Target="slides/slide74.xml"/><Relationship Id="rId86" Type="http://schemas.openxmlformats.org/officeDocument/2006/relationships/slide" Target="slides/slide73.xml"/><Relationship Id="rId87" Type="http://schemas.openxmlformats.org/officeDocument/2006/relationships/slide" Target="slides/slide72.xml"/><Relationship Id="rId88" Type="http://schemas.openxmlformats.org/officeDocument/2006/relationships/slide" Target="slides/slide69.xml"/><Relationship Id="rId89" Type="http://schemas.openxmlformats.org/officeDocument/2006/relationships/slide" Target="slides/slide67.xml"/><Relationship Id="rId90" Type="http://schemas.openxmlformats.org/officeDocument/2006/relationships/slide" Target="slides/slide66.xml"/><Relationship Id="rId91" Type="http://schemas.openxmlformats.org/officeDocument/2006/relationships/slide" Target="slides/slide65.xml"/><Relationship Id="rId92" Type="http://schemas.openxmlformats.org/officeDocument/2006/relationships/slide" Target="slides/slide10.xml"/><Relationship Id="rId93" Type="http://schemas.openxmlformats.org/officeDocument/2006/relationships/slide" Target="slides/slide9.xml"/><Relationship Id="rId94" Type="http://schemas.openxmlformats.org/officeDocument/2006/relationships/slide" Target="slides/slide8.xml"/><Relationship Id="rId95" Type="http://schemas.openxmlformats.org/officeDocument/2006/relationships/slide" Target="slides/slide7.xml"/><Relationship Id="rId96" Type="http://schemas.openxmlformats.org/officeDocument/2006/relationships/slide" Target="slides/slide6.xml"/><Relationship Id="rId97" Type="http://schemas.openxmlformats.org/officeDocument/2006/relationships/slide" Target="slides/slide5.xml"/><Relationship Id="rId98" Type="http://schemas.openxmlformats.org/officeDocument/2006/relationships/slide" Target="slides/slide4.xml"/><Relationship Id="rId99" Type="http://schemas.openxmlformats.org/officeDocument/2006/relationships/slide" Target="slides/slide3.xml"/><Relationship Id="rId104" Type="http://schemas.openxmlformats.org/officeDocument/2006/relationships/slide" Target="slides/slide81.xml"/><Relationship Id="rId105" Type="http://schemas.openxmlformats.org/officeDocument/2006/relationships/slide" Target="slides/slide75.xml"/><Relationship Id="rId106" Type="http://schemas.openxmlformats.org/officeDocument/2006/relationships/slide" Target="slides/slide68.xml"/><Relationship Id="rId107" Type="http://schemas.openxmlformats.org/officeDocument/2006/relationships/slide" Target="slides/slide60.xml"/><Relationship Id="rId108" Type="http://schemas.openxmlformats.org/officeDocument/2006/relationships/slide" Target="slides/slide53.xml"/><Relationship Id="rId109" Type="http://schemas.openxmlformats.org/officeDocument/2006/relationships/slide" Target="slides/slide54.xml"/><Relationship Id="rId110" Type="http://schemas.openxmlformats.org/officeDocument/2006/relationships/slide" Target="slides/slide55.xml"/><Relationship Id="rId111" Type="http://schemas.openxmlformats.org/officeDocument/2006/relationships/slide" Target="slides/slide31.xml"/><Relationship Id="rId112" Type="http://schemas.openxmlformats.org/officeDocument/2006/relationships/slide" Target="slides/slide32.xml"/><Relationship Id="rId113" Type="http://schemas.openxmlformats.org/officeDocument/2006/relationships/slide" Target="slides/slide33.xml"/><Relationship Id="rId114" Type="http://schemas.openxmlformats.org/officeDocument/2006/relationships/slide" Target="slides/slide34.xml"/><Relationship Id="rId115" Type="http://schemas.openxmlformats.org/officeDocument/2006/relationships/slide" Target="slides/slide35.xml"/><Relationship Id="rId125" Type="http://schemas.openxmlformats.org/officeDocument/2006/relationships/slide" Target="slides/slide2.xml"/><Relationship Id="rId126" Type="http://schemas.openxmlformats.org/officeDocument/2006/relationships/slide" Target="slides/slide1.xml"/><Relationship Id="rId127" Type="http://schemas.openxmlformats.org/officeDocument/2006/relationships/slide" Target="slides/slide11.xml"/><Relationship Id="rId128" Type="http://schemas.openxmlformats.org/officeDocument/2006/relationships/slide" Target="slides/slide12.xml"/><Relationship Id="rId129" Type="http://schemas.openxmlformats.org/officeDocument/2006/relationships/slide" Target="slides/slide13.xml"/><Relationship Id="rId130" Type="http://schemas.openxmlformats.org/officeDocument/2006/relationships/slide" Target="slides/slide14.xml"/><Relationship Id="rId131" Type="http://schemas.openxmlformats.org/officeDocument/2006/relationships/slide" Target="slides/slide15.xml"/><Relationship Id="rId132" Type="http://schemas.openxmlformats.org/officeDocument/2006/relationships/slide" Target="slides/slide16.xml"/><Relationship Id="rId133" Type="http://schemas.openxmlformats.org/officeDocument/2006/relationships/slide" Target="slides/slide17.xml"/><Relationship Id="rId134" Type="http://schemas.openxmlformats.org/officeDocument/2006/relationships/slide" Target="slides/slide18.xml"/><Relationship Id="rId135" Type="http://schemas.openxmlformats.org/officeDocument/2006/relationships/slide" Target="slides/slide19.xml"/><Relationship Id="rId136" Type="http://schemas.openxmlformats.org/officeDocument/2006/relationships/slide" Target="slides/slide20.xml"/><Relationship Id="rId137" Type="http://schemas.openxmlformats.org/officeDocument/2006/relationships/slide" Target="slides/slide21.xml"/><Relationship Id="rId138" Type="http://schemas.openxmlformats.org/officeDocument/2006/relationships/slide" Target="slides/slide22.xml"/><Relationship Id="rId139" Type="http://schemas.openxmlformats.org/officeDocument/2006/relationships/slide" Target="slides/slide23.xml"/><Relationship Id="rId140" Type="http://schemas.openxmlformats.org/officeDocument/2006/relationships/slide" Target="slides/slide24.xml"/><Relationship Id="rId141" Type="http://schemas.openxmlformats.org/officeDocument/2006/relationships/slide" Target="slides/slide25.xml"/><Relationship Id="rId142" Type="http://schemas.openxmlformats.org/officeDocument/2006/relationships/slide" Target="slides/slide26.xml"/><Relationship Id="rId143" Type="http://schemas.openxmlformats.org/officeDocument/2006/relationships/slide" Target="slides/slide27.xml"/><Relationship Id="rId144" Type="http://schemas.openxmlformats.org/officeDocument/2006/relationships/slide" Target="slides/slide28.xml"/><Relationship Id="rId145" Type="http://schemas.openxmlformats.org/officeDocument/2006/relationships/slide" Target="slides/slide29.xml"/><Relationship Id="rId146" Type="http://schemas.openxmlformats.org/officeDocument/2006/relationships/slide" Target="slides/slide30.xml"/><Relationship Id="rId147" Type="http://schemas.openxmlformats.org/officeDocument/2006/relationships/slide" Target="slides/slide36.xml"/><Relationship Id="rId148" Type="http://schemas.openxmlformats.org/officeDocument/2006/relationships/slide" Target="slides/slide37.xml"/><Relationship Id="rId149" Type="http://schemas.openxmlformats.org/officeDocument/2006/relationships/slide" Target="slides/slide38.xml"/><Relationship Id="rId150" Type="http://schemas.openxmlformats.org/officeDocument/2006/relationships/slide" Target="slides/slide39.xml"/><Relationship Id="rId151" Type="http://schemas.openxmlformats.org/officeDocument/2006/relationships/slide" Target="slides/slide40.xml"/><Relationship Id="rId152" Type="http://schemas.openxmlformats.org/officeDocument/2006/relationships/slide" Target="slides/slide41.xml"/><Relationship Id="rId153" Type="http://schemas.openxmlformats.org/officeDocument/2006/relationships/slide" Target="slides/slide42.xml"/><Relationship Id="rId154" Type="http://schemas.openxmlformats.org/officeDocument/2006/relationships/slide" Target="slides/slide43.xml"/><Relationship Id="rId155" Type="http://schemas.openxmlformats.org/officeDocument/2006/relationships/slide" Target="slides/slide44.xml"/><Relationship Id="rId156" Type="http://schemas.openxmlformats.org/officeDocument/2006/relationships/slide" Target="slides/slide45.xml"/><Relationship Id="rId157" Type="http://schemas.openxmlformats.org/officeDocument/2006/relationships/slide" Target="slides/slide46.xml"/><Relationship Id="rId158" Type="http://schemas.openxmlformats.org/officeDocument/2006/relationships/slide" Target="slides/slide47.xml"/><Relationship Id="rId159" Type="http://schemas.openxmlformats.org/officeDocument/2006/relationships/slide" Target="slides/slide48.xml"/><Relationship Id="rId160" Type="http://schemas.openxmlformats.org/officeDocument/2006/relationships/slide" Target="slides/slide49.xml"/><Relationship Id="rId161" Type="http://schemas.openxmlformats.org/officeDocument/2006/relationships/slide" Target="slides/slide50.xml"/><Relationship Id="rId162" Type="http://schemas.openxmlformats.org/officeDocument/2006/relationships/slide" Target="slides/slide51.xml"/><Relationship Id="rId163" Type="http://schemas.openxmlformats.org/officeDocument/2006/relationships/slide" Target="slides/slide52.xml"/><Relationship Id="rId164" Type="http://schemas.openxmlformats.org/officeDocument/2006/relationships/slide" Target="slides/slide56.xml"/><Relationship Id="rId165" Type="http://schemas.openxmlformats.org/officeDocument/2006/relationships/slide" Target="slides/slide57.xml"/><Relationship Id="rId166" Type="http://schemas.openxmlformats.org/officeDocument/2006/relationships/slide" Target="slides/slide58.xml"/><Relationship Id="rId167" Type="http://schemas.openxmlformats.org/officeDocument/2006/relationships/slide" Target="slides/slide59.xml"/><Relationship Id="rId168" Type="http://schemas.openxmlformats.org/officeDocument/2006/relationships/slide" Target="slides/slide61.xml"/><Relationship Id="rId169" Type="http://schemas.openxmlformats.org/officeDocument/2006/relationships/slide" Target="slides/slide62.xml"/><Relationship Id="rId170" Type="http://schemas.openxmlformats.org/officeDocument/2006/relationships/slide" Target="slides/slide63.xml"/><Relationship Id="rId171" Type="http://schemas.openxmlformats.org/officeDocument/2006/relationships/slide" Target="slides/slide64.xml"/><Relationship Id="rId176" Type="http://schemas.openxmlformats.org/officeDocument/2006/relationships/slide" Target="slides/slide70.xml"/><Relationship Id="rId177" Type="http://schemas.openxmlformats.org/officeDocument/2006/relationships/slide" Target="slides/slide71.xml"/><Relationship Id="rId182" Type="http://schemas.openxmlformats.org/officeDocument/2006/relationships/slide" Target="slides/slide77.xml"/><Relationship Id="rId183" Type="http://schemas.openxmlformats.org/officeDocument/2006/relationships/slide" Target="slides/slide78.xml"/><Relationship Id="rId184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6</a:t>
            </a:r>
          </a:p>
          <a:p>
            <a:pPr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UML — Diagrama de Classes II: Multiplicidade/Cardinalidade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25/09/2026  ·  07:30–11:30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07:30 - 07:50  Abertura, revisão da Aula 5 (classes, atributos, métodos, visibilidade, relacionamentos) e quiz relâmpago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07:50 - 08:35  Novo assunto: multiplicidade/cardinalidade - as 4 notações, onde se escreve, faixas concretas, herança e banco de dados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08:35 - 08:50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08:50 - 09:10  Exercícios objetivos de leitura de cardinalidade (escola e Biblioteca)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09:10 - 09:55  Cardinalidade no TechBurger e na Biblioteca "Ler Mais", quiz misto e erros comuns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09:55 - 10:05  Exemplo guiado: Cliente e Pedido com cardinalidade, ao vivo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10:05 - 10:15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10:15 - 10:48  Atividade prática 1 em grupo: TechBurger completo + correção coletiva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10:48 - 11:08  Atividade prática 2 individual: Academia FitLife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11:08 - 11:30  Encontre o erro, erros comuns, síntese e encerramento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REVISÃO RÁPIDA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Retomando a Aula 5: Diagrama de Classes 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Uns 15 minutos para reativar a memória antes de fechar o diagrama com cardinalidade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Classes candidatas do TechBurger (Aula 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Cliente, Pedido, ItemPedido, Produto - o núcleo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Também: Pagamento, Entrega, Funcionario (com Atendente e Gerente)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classe com 3 partes: nome, atributos (visibilidade + tipo) e métodos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Hoje: fechar o diagrama com relacionamentos e cardinalidade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Atributos, métodos e visibilidade - relembrando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Atributo: visibilidade nome: tipo (ex.: - pontosFidelidade: Inteiro)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Atributo derivado (/): calculável a partir de outros dados (ex.: /valorTotal)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Método: visibilidade nome(parâmetros): retorno (ex.: + confirmar())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Visibilidade: + público, - privado, # protegido (visível às subclasses)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Relembrando: atributo ou método?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Atributo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 dado que o objeto guarda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Responde “o que ele TEM?”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pontosFidelidade, valorTotal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Método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uma ação que o objeto executa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Responde “o que ele FAZ?”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acumularPontos(), confirmar()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Relembrando: identificando classes candidatas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Técnica dos substantivos: sublinhar, agrupar sinônimos, descartar valores soltos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Teste classe ou atributo: tem dados e comportamentos próprios? -&gt;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verbos dos casos de uso viram candidatos a método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 “Ler Mais”: Associado, Livro, Emprestimo e Professor (subclasse de Associado)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Os 4 relacionamentos básicos (sem cardinalidade ainda)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 - as classes se conhecem e colaboram (linha simples, com verbo)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Agregação - todo-parte fraca: a parte existe sem o todo (losango vazado)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Composição - todo-parte forte: a parte não existe sem o todo (losango preenchido)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- “é um tipo de” (seta com triângulo vazado)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Aula 5 vimos só o CONCEITO - hoje aprendemos A QUANTIDADE de cada lado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- revisão da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diferença entre atributo e método?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que é um atributo derivado? Dê um exemplo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Associação, agregação, composição ou herança: qual é “todo-parte forte”?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Por que Pedido não deveria herdar de Cliente?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Que símbolo de visibilidade só faz sentido quando há herança?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Dê um exemplo de composição e um de agregação usando TechBurger ou Biblioteca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quiz da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Atributo é um dado (o que o objeto TEM); método é uma ação (o que o objeto FAZ)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É calculado a partir de outros dados, leva a barra (/): ex. /valorTotal em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Composição (a parte não existe sem o todo)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Pedido não é um tipo de Cliente - são coisas diferentes que se associam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# (protegido) - só faz sentido quando existem subclasses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Composição: Pedido - ItemPedido. Agregação: Estante - Livro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NOVO ASSUNTO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Diagrama de Classes II: Multiplicidade/Cardinalidade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Quantas instâncias de um lado se relacionam com quantas do outro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Antes de começar: vamos pensar juntos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Pedido pode ter vários ItemPedido. Mas quantos Pedidos um único ItemPedido pode ter?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 um Cliente: quantos Pedidos ele pode fazer? Quantos Clientes cabem em um único Pedido?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resposta não é sempre “muitos” dos dois lados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Vamos aprender a notação exata para escrever essas respostas no diagrama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multiplicidade (cardinalidade)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Indica QUANTAS instâncias de uma classe podem se relacionar com QUANTAS instâncias de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escrita em cada relacionamento, como um número (ou faixa) em cada ponta da linha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Completa a “força” do relacionamento (associação/agregação/composição) com sua “quantidade”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cardinalidade, o diagrama diz QUE existe relação, mas não diz QUANTO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 4 notações principais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0..1 -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apenas *) -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-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faixa tem um mínimo e um máximo (ou “muitos” no lugar do máximo)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1 - exatamente 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1, máximo 1: a instância É obrigatória e é ÚNICA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cada ItemPedido refere-se a exatamente 1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cada Pedido pertence a exatamente 1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 cardinalidade mais restritiva das quatro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0..1 - zero ou 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0 (opcional), máximo 1 (nunca mais que um)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Pedido pode ter 0..1 Pagamento (ainda não confirmado) ou já ter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Pedido pode ter 0..1 Entrega (só existe se o tipo do pedido for “entrega”)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 cardinalidade certa para “existe, mas não é garantido”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0..* (ou *) - zero ou muitos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0 (a relação pode nem existir), máximo sem limite definido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uma Estante pode reunir 0..* Livros (pode até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Cliente pode ter 0..* Pedidos (inclusive nenhum, se acabou de se cadastrar)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asterisco (*) sozinho é um atalho comum para 0..*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1..* - um ou muitos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Mínimo 1 (a relação é obrigatória), máximo sem limite definido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uma Turma tem 1..* Aluno (não faz sentido uma turma sem nenhum aluno)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um Pedido, em muitos sistemas, teria 1..* ItemPedido (nenhum pedido vazio)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Diferença para 0..*: aqui o mínimo NÃO é zero - a relação é garantida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qual notação?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“Exatamente um”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“Zero ou muitos”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“Um ou muitos”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“Zero ou um”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notação?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0..* (ou 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1..*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4.  0..1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Onde se escreve a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Escrita nas DUAS pontas da linha de relacionamento, perto de cada classe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“Cliente 1 —— * Pedido”: perto de Cliente fica o 1, perto de Pedido fica o 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Lê-se dos dois lados: um Cliente pode ter vários Pedidos; e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duas pontas quase sempre têm significados diferentes - leia com calma cada lado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Pratiquem: leiam a linha nos dois sentidos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“Associado 1 —— 0..3 Emprestimo”: o que isso diz do lado do Associado? E do lado do Emprestimo?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“Estante 1 —— 0..* Livro”: o que isso diz do lado da Estante? E do lado do Livro?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Escrevam em voz alta as duas frases de cada relacionamento antes de responder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lendo os dois sentidos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1: cada Emprestimo tem exatamente 1 Associado. Emprestimo 0..3: um Associado tem de 0 a 3 empréstimos em aberto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1: cada Livro guardado pertence a exatamente 1 Estante. Livro 0..*: uma Estante pode ter de 0 a muitos livros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Faixas além do básico: limites concretos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também pode ser uma faixa numérica exata, não só 0, 1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Exemplo: “0..3” - de zero até exatamente três, nunca mais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Biblioteca “Ler Mais” (regra da Aula 1): cada Associado pode ter no máximo 3 livros emprestados ao mesmo tempo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Isso vira: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Regras de negócio concretas viram limites concretos na cardinalidade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Quem tem cardinalidade e quem não 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Têm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Associação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Agregação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Composição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Nas duas pontas da linha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Não tem cardinalidade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Herança/Generalização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É uma relação de CLASSIFICAÇÃO, não de QUANTIDADE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Pergunta errada: “quantos Atendentes cada Funcionario tem?”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herança não tem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responde “é um tipo de”, não “quantos”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É UM Funcionario - não faz sentido perguntar “quantos Funcionario um Atendente tem?”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Escrever números na seta de herança é um erro comum (veremos no “Encontre o erro”)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 e composição respondem “quantos” - por isso têm cardinalidade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associação (exemplo genérico)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Duas classes independentes que colaboram: a cardinalidade mostra quantos de cada lado participam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0..* Pedido: cada Pedido tem 1 Cliente; cada Cliente pode ter 0 ou muitos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Nada impede um mínimo maior que zero em uma associação (ex.: 1..*), se a regra do negócio exigir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agregação (exemplo genérico)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Todo-parte fraca: a parte pode existir sem o todo, então o lado do todo costuma aceitar 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1 —— 0..* Livro: um Livro (quando guardado) tem 1 Estante; uma Estante pode ter 0 ou muitos Livros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o Livro pudesse existir sem NENHUMA estante, essa cardinalidade continua válida - a agregação permite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composição (exemplo genérico)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Todo-parte forte: a parte não existe sem o todo, então o lado do todo costuma ser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ItemPedido: cada ItemPedido pertence a exatamente 1 Pedido (nunca zero, nunca troca de 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 o padrão: composição quase sempre tem “1” (nunca “0..1”) do lado do todo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cardinalidade ajuda a confirmar agregação ou composição?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sozinha NÃO decide entre agregação e composição - quem decide é a semântica (a parte existe sem o todo?)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Mas ela costuma CONFIRMAR a escolha: composição tende a ter “1” (nunca “0..1”) do lado do todo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vocês hesitarem entre os dois, verificar a cardinalidade mínima do lado do todo é uma boa pista extra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Padrões de cardinalidade: agregação x composição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Agregação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Todo-parte fraca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Lado do todo costuma aceitar 0..*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Estante 1 —— 0..* Livro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Composição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Todo-parte forte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Lado do todo costuma ser exatamente 1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Ex.: Pedido 1 —— * ItemPedido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e o banco de dados: 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Quase todo sistema guarda seus dados em um banco de dados relacional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do diagrama de classes vira, quase direto, a estrutura das tabelas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Entender cardinalidade agora facilita MUITO o desenho do banco de dados mais adiante no curso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Da cardinalidade à chave estrangeira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Pedido: a tabela Pedido ganha uma coluna clienteId (chave estrangeira)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Pagamento: a tabela Pagamento ganha pedidoId, podendo ficar nula (0..1 = opcional)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* —— * Disciplina (muitos-para-muitos): precisa de uma TERCEIRA tabela associativa (ex.: Matricula)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lado “muitos” de um 1—* sempre recebe a chave estrangeira que aponta para o lado “1”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rápido: cardinalidade vira o quê no banco de dados?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Cliente 1 —— * Pedido: qual tabela ganha a chave estrangeira?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Aluno * —— * Disciplina: precisa de quantas tabelas, no total?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Pedido 1 —— 0..1 Pagamento: a chave estrangeira em Pagamento pode ficar nula?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cardinalidade e banco de dados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(o lado “muitos” recebe clienteId)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Três: Aluno, Disciplina e uma tabela associativa (ex.: Matricula)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Sim - “0..1” é exatamente o que permite a chave estrangeira ficar nula (opcional)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EXERCÍCIO OBJETIVO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Leitura de Cardinalidade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Duas rodadas: escola e Biblioteca “Ler Mais” - individual, na apostila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1 - cenário da escola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Turma 1 —— 1..* Aluno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* —— * Disciplina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1 —— * Turma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Respondam individualmente na apostila (5 perguntas)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1 - perguntas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Uma turma pode ter quantos alunos, no mínimo e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Um aluno pertence a quantas turmas?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Um aluno pode cursar quantas disciplinas?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Uma disciplina pode ter quantos alunos matriculados?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Quantos professores estão associados a uma turma?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Gabarito do exercício 1 (correção coletiva)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No mínimo 1 aluno, sem máximo definido (1..*)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Exatamente 1 (a ponta do lado Turma é “1”)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Zero ou muitas (*)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Zero ou muitos (*)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Exatamente 1 (a ponta do lado Professor é “1”)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2 - cenário da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1 —— 0..* Livro (agregação)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é um tipo de Associado (herança, sem cardinalidade)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Respondam individualmente na apostila (5 perguntas)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Exercício 2 - perguntas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Um Associado pode ter quantos empréstimos em aberto ao mesmo tempo, no mínimo e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Cada Emprestimo está ligado a quantos Livro?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Uma Estante pode ter quantos Livro, no mínimo?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Um Livro pode existir sem estar em nenhuma Estante? Que cardinalidade confirma isso?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Por que a relação Professor - Associado não tem cardinalidade?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Gabarito do exercício 2 (correção coletiva)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De 0 a 3 (0..3) - o mínimo é zero, o máximo é três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Zero (0..*: pode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Sim - a cardinalidade 0..* do lado do Livro confirma (a estante pode ter zero livros, e o livro pode estar fora de qualquer estante)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Porque é herança (“é um tipo de”), uma relação de classificação, não de quantidade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do TechBurger com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(possui)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(contém, 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 (refere-se 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 (gera)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Entrega (pode ter)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Atendente, Funcionario &lt;|-- Gerente (herança, sem cardinalidade)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Cliente —— Pedido: a relação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Cliente: “1”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Pedido: “*”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“1” do lado do Cliente?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existe pedido “anônimo” no TechBurger: sempre há um cliente identificado por trás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mínimo E o máximo do lado do Cliente são 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“*” (não “1..*”) do lado do Pedido?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Cliente pode ter zero ou muitos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Um cliente recém-cadastrado ainda não fez nenhum pedido - o mínimo precisa ser 0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usássemos “1..*”, estaríamos dizendo que todo cliente é OBRIGADO a ter pelo menos um pedido - falso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Pedido —— ItemPedido: cardinalidade da composição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(losango preenchido do lado do Pedido)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Pedido: “1” - cada ItemPedido pertence a exatamente um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ItemPedido: “*” - o diagrama de referência usa zero ou muitos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ItemPedido: “*” ou “1..*”?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prática, um carrinho de compras normalmente tem pelo menos 1 item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diagrama de referência do TechBurger usa “*” (0..*) - vale discutir com a turma se “1..*” seria mais preciso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importante é justificar a escolha com uma regra do negócio, e não copiar sem pensar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ItemPedido —— Produto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ItemPedido: “*” - um Produto pode aparecer em zero ou muitos ItemPedido diferentes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Produto: “1” - cada ItemPedido refere-se a exatamente um Produto (não existe item “genérico”)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“0..1” e não “1..1”? (Pagamento)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pedido pode ainda não ter pagamento confirmado no momento em que é criado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“1” (ou “1..1”) obrigaria TODO pedido a já nascer com um pagamento - e isso não é verdade no TechBurger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“0..1” e não “1..1”? (Entrega)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Entrega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Só existe entrega quando o tipo do pedido é “entrega”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Pedidos de retirada no balcão não têm relacionamento de Entrega nenhum - por isso o mínimo é 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Funcionario, Atendente, Gerente: sem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 e Funcionario &lt;|--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 não recebe número nenhum nas pontas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Atendente e Gerente SÃO tipos de Funcionario - não “têm” Funcionario em alguma quantidade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alguém escrever “1” na seta de herança, é erro - veremos isso no exercício “Encontre o erro”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Cliente bloqueado ainda pode ter Pedidos? Cardinalidade e regras dinâmicas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Regra 8 bloqueia o Cliente por 15 dias após 3 cancelamentos - mas isso NÃO muda a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continua valendo: o bloqueio impede NOVOS pedidos, não apaga os pedidos antigos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 descreve a ESTRUTURA do relacionamento; regras de bloqueio são um COMPORTAMENTO (método), não uma mudança de cardinalidade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Mini-exercício: cardinalidade e outra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Regra 6 (Aula 1): quando um Produto está em falta, o sistema sugere um substituto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Pensem: ItemPedido * —— 1 Produto também vale para o Produto substituto sugerido?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 cardinalidade descreveria “Produto sugere 0..1 Produto substituto”? Justifiquem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 - mini-exercício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Sim: o substituto sugerido também é um Produto, e a relação ItemPedido-Produto não muda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Produto 1 —— 0..1 Produto (substituto): um produto pode não ter substituto cadastrado, mas nunca mais de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uma associação de um Produto com outro Produto - mesma classe dos dois lados, cardinalidade normal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na Biblioteca “Ler Mais”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1 —— 0..* Livro (agregação)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é um tipo de Associado (herança, sem cardinalidade)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Associado —— Emprestimo: o limite da regra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Associado: “1” - cada Emprestimo é feito por exatamente um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Emprestimo: “0..3” - um Associado pode ter de zero até três empréstimos em aberto (Aula 1)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 cardinalidade também documenta regras de negócio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“0..3” não é um limite técnico aleatório - é a Regra da Aula 1 (máximo de 3 livros por associado)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Sempre que houver um número concreto no texto do cenário, ele vira uma faixa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outra razão para NUNCA copiar uma cardinalidade sem checar a regra correspondente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Emprestimo —— Livro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Emprestimo: “*” - um Livro pode ter zero ou muitos empréstimos ao longo do tempo (histórico)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Livro: “1” - cada Emprestimo refere-se a exatamente um Livro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“1” (não “0..1”) do lado do Livro em Emprestimo?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Emprestimo *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Emprestimo já nasce ligado a um Livro específico - não existe empréstimo “em branco”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lado do Livro é obrigatório (“1”), diferente do lado do Emprestimo, que pode ser “*” (o livro pode nunca ter sido emprestado)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Estante —— Livro: agregação com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Estante 1 —— 0..*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da Estante: “1” - cada Livro (quando está guardado) pertence a exatamente uma Estante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Do lado do Livro: “0..*” - uma Estante pode reunir zero ou muitos Livros (pode até estar vazia)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isso confirma a agregação?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É agregação (losango vazado): mesmo sem estante nenhuma, o Livro continua existindo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“0..*” do lado do Livro é compatível com essa ideia de independência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 com a composição Pedido-ItemPedido, onde o lado do todo é sempre “1”, nunca “0..1”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Professor —— Associado: herança, sem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é um tipo de Associado (seta com triângulo vazado apontando para Associado)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números nas pontas - é uma relação de classificação, não de quantidade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Professor herda tudo de Associado e redefine prazoEmprestimo() para 30 dias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- qual a cardinalidade correta?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Um Cliente pode fazer quantos Pedidos, no mínimo e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Um Pedido pertence a quantos Cliente?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Um Pedido pode ter no máximo quantos Pagamento?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Um Associado pode ter quantos empréstimos em aberto, no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Uma Estante pode ter quantos Livro, no mínimo?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Quantos números aparecem na seta de herança Funcionario &lt;|-- Gerente?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qual a cardinalidade correta?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Zero ou muitos (0..*)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Exatamente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1 (a cardinalidade é 0..1: no máximo um)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3 (a cardinalidade é 0..3)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Zero (pode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Nenhum - herança não tem cardinalidade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- complete a cardinalidade que falta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1 —— ___ ItemPedido (não existe limite máximo de itens no diagrama de referência)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Cliente ___ —— * Pedido (cada pedido pertence a exatamente um cliente)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1 —— ___ Livro (a estante pode estar vazia)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Associado 1 —— ___ Emprestimo (no máximo 3 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Pedido 1 —— ___ Pagamento (o pedido pode ainda não ter pagamento confirmado)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Respostas - complete a cardinalidade que falta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* (ou 0..*)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0..*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4.  0..3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5.  0..1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Cardinalidade no dia a dia: outros exemplos do mercado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Sistema bancário: Conta 1 —— 0..* Transacao (uma conta pode não ter nenhuma transação ainda)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E-commerce: Carrinho 1 —— 0..* ItemCarrinho (um carrinho pode estar vazio)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Rede social: Usuario 0..* —— 0..* Usuario (uma amizade - os dois lados podem ser “muitos”)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raciocínio é sempre o mesmo: mínimo e máximo, justificados por uma regra do negócio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definir cardinalidade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Escrever cardinalidade na seta de herança (herança não tem números)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Trocar 0..1 por 1..1 sem pensar se a relação é realmente opcional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a faixa superior (escrever só “0” quando queria dizer “0..1” ou “0..*”)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Inverter os lados: escrever a cardinalidade da classe errada em cada ponta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Usar “1..*” quando a regra de negócio permite zero (e vice-versa)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conferir a cardinalidade com uma regra de negócio real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Cliente e Pedido - cardinalidade ao vivo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Retomando o exemplo da Aula 5, agora com números nas linhas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Passo a passo no draw.io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Abram o arquivo com as classes Cliente e Pedido (Aula 5)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Cliquem na linha de associação entre Cliente e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Adicionem um rótulo de texto perto de Cliente com o valor “1”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Adicionem um rótulo de texto perto de Pedido com o valor “*”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Leiam em voz alta os dois sentidos da frase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Repitam o processo para Associado e Emprestimo, na Biblioteca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Cliente 1 —— * Pedido: o resultado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Cliente: “1” - cada Pedido pertence a exatamente um Cliente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Pedido: “*” - um Cliente pode ter zero ou muitos Pedidos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Reparem: a cardinalidade não muda a estrutura das classes, só documenta a regra de negócio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Repetindo na Biblioteca: Associado e Emprestimo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Associado 1 —— 0..3 Emprestimo (em aberto)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Associado: “1” - cada Emprestimo tem exatamente um Associado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Perto de Emprestimo: “0..3” - a Regra da Aula 1 (máximo de 3 livros emprestados) vira a faixa exata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do exemplo guiado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está nas duas pontas de cada linha?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número (ou faixa) tem um mínimo e um máximo claros?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ficou sem nenhum número nas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cardinalidade pode ser justificada por uma regra de negócio ou pelo bom senso do cenário?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Os dois lados foram lidos em voz alta, em ambos os sentidos?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Verificando a coerência com a Aula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cardinalidade NÃO muda o tipo do relacionamento definido na Aula 5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algo era composição (losango preenchido), continua composição - só ganha números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algo era herança, continua sem nenhum número nas pontas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Antes de escrever um número, confiram: este relacionamento já existia na Aula 5?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Fechando o Diagrama de Classes do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25-30 minutos, em grupo, no draw.io ou no papel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1 - TechBurger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Em grupo, retomem o diagrama de classes da Aula 5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Adicionem a cardinalidade em TODOS os relacionamentos que faltam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Preencham a tabela da apostila antes de desenhar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(Funcionario &lt;|-- Atendente/Gerente) continua SEM números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25-30 minutos. Um representante apresenta o resultado à turma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esperados (sem os números - preencham!)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—— Pedido (possui)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—— ItemPedido (contém)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—— Produto (refere-se 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—— Pagamento (gera)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—— Entrega (pode ter)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Atendente, Funcionario &lt;|-- Gerente (sem cardinalidade)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relacionamentos da “bíblia” do TechBurger estão presentes?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Cada associação e composição tem cardinalidade nas duas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herança está sem nenhum número?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cardinalidades fazem sentido com o negócio (pensem em casos reais)?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grupo consegue justificar cada cardinalidade escolhida?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Dicas para o grupo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Leiam cada relacionamento nos dois sentidos antes de escrever o número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Perguntem: essa relação é sempre obrigatória, ou pode ser zero?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Perguntem: existe um limite máximo conhecido (regra de negócio) ou é “muitos”?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Pagamento e Entrega são os casos mais delicados: revisem os slides sobre “0..1”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Na dúvida entre 0..1 e 1, pensem: “no momento em que o Pedido é criado, essa relação já existe?”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para os grupos apresentarem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Qual foi o relacionamento mais difícil de decidir a cardinalidade?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Houve alguma dupla de cardinalidade que o grupo trocou de ideia no meio do caminho?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Consigam justificar cada “0..1” escolhido com uma frase sobre o momento em que o Pedido é criado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Alguém colocou número na seta de herança por engano? Como perceberam o erro?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CORREÇÃO COLETIVA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Resposta-modelo: TechBurger com cardinalidade completa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Projetar e comparar com o que cada grupo produziu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Diagrama de Classes com cardinalidade (TechBurger)</a:t>
            </a:r>
          </a:p>
        </p:txBody>
      </p:sp>
      <p:pic>
        <p:nvPicPr>
          <p:cNvPr id="12" name="Picture 11" descr="techburger_classes_cardina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667" y="2900000"/>
            <a:ext cx="8296666" cy="6550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o diagrama-resposta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Cliente 1 —— * Pedido (possui): todo pedido tem um cliente; um cliente pode não ter nenhum pedido ainda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* ItemPedido (contém, composição): o item some se o pedido for excluído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ItemPedido * —— 1 Produto (refere-se a): o produto existe no cardápio independente do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Pedido 1 —— 0..1 Pagamento (gera) e Pedido 1 —— 0..1 Entrega (pode ter): as duas relações são opcionais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Funcionario &lt;|-- Atendente e Funcionario &lt;|-- Gerente: sem números, é classificação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entre grupos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que escreveram “1..*” em Pedido-ItemPedido: aceitar se bem justificado (nenhum pedido vazio)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Trocar 0..1 por 1 em Pagamento/Entrega é o erro mais comum - peçam a justificativa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Cardinalidades extras coerentes com o cenário (ex.: limite de itens por pedido) podem ser aceitas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números na seta de herança; faixa sem sentido (ex.: 5..2)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ATIVIDADE PRÁTICA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Cardinalidade no Diagrama de Classes da Academia FitLife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20 minutos, individual, no draw.io ou no papel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 2 - Academia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Sozinho(a): retomem as classes e relacionamentos da Aula 5 (Aluno, Plano, Aula, Instrutor, Reserva, Pagamento)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Adicionem a cardinalidade em TODOS os relacionamentos já identificados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Preencham a tabela da apostila antes de decidir os números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Esta atividade não tem herança - só associação e composição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20 minutos, individual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Relacionamentos para cardinalizar (sem os números - preencham!)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Plano —— Aluno (está matriculado)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—— Reserva (faz)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 —— Aula (composição)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—— Instrutor (é ministrada por)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—— Pagamento (realiza)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Todos os 5 relacionamentos têm cardinalidade nas duas pontas?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composição Reserva-Aula está com o losango preenchido do lado da Aula?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Pensei em cada regra: é obrigatório? tem limite máximo?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usei cardinalidade em nenhuma seta de herança (esta atividade não tem herança)?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FitLife com cardinalidade (parte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Plano 1 —— 0..* Aluno (cada Aluno está em exatamente 1 Plano; um Plano pode ainda não ter nenhum Aluno matriculado)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1 —— 0..* Reserva (um aluno pode não ter reserva nenhuma, ou várias)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Resposta-modelo - FitLife com cardinalidade (parte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 0..* —— 1 Aula (composição: cada reserva pertence a exatamente uma aula)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0..* —— 1 Instrutor (uma aula tem exatamente um instrutor; um instrutor pode não ter aula ainda)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 1 —— 0..* Pagamento (um aluno pode não ter pago nada ainda, ou ter vários pagamentos)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Plano é “1” do lado do Aluno, e não “0..1”?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Todo aluno matriculado PRECISA ter um plano ativo - não existe aluno sem plano no FitLife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lado do Plano (visto a partir do Aluno) é “1”, obrigatório, e não “0..1”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um Plano novo, criado antes de qualquer matrícula, pode ter zero Alunos - por isso “0..*” do outro lado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Por que Instrutor é “1” e não “0..1” em Aula?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Aula 0..* —— 1 Instrutor: toda Aula já nasce com um Instrutor definido (não existe aula “sem professor”)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Por isso o lado do Instrutor é “1”, obrigatório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Já um Instrutor recém-contratado pode ainda não ter nenhuma Aula atribuída - por isso “0..*” do lado da Aula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Lendo a resposta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Reserva depende de Aula (composição): por isso o lado da Aula é sempre “1”, nunca “0..1”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Aluno-Pagamento segue o mesmo padrão de Cliente-Pedido: o lado “opcional” é sempre o que pode legitimamente estar vazio no início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Comparem com o TechBurger: o par obrigatório/opcional se repete o tempo todo em modelagem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Diferenças plausíveis - FitLife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 alguém considerar que um aluno pode ficar temporariamente sem plano, “0..1” também é aceitável com justificativa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Limites numéricos extras (ex.: máximo de vagas por aula) são bem-vindos se coerentes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que NÃO pode: cardinalidade sem nenhuma explicação, ou números “inventados” sem relação com o cenário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ENCONTRE O ERRO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Cardinalidades erradas: encontrem e corrijam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Em duplas: 8 minutos para achar, explicar e corrigir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 erro - o que fazer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Analisem a lista de relacionamentos do próximo slide: ela tem 6 erros propositais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Marquem cada erro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Expliquem POR QUE é um erro (qual conceito da aula foi violado)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Escrevam como ficaria a correção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Sem consultar a Apostila nos primeiros 5 minutos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Encontre os 6 erros de cardinalidade (em duplas)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Pedido 1 —— 1 Pagamento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Funcionario 1 &lt;|-- Gerente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1 —— 1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Cliente 0..* —— 0..* Pedido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Associado 1 —— 3 Emprestimo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Pedido 1..* —— * ItemPedido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de cardinalidade encontrados e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Pagamento é opcional (o pedido pode não ter pagamento ainda): corrigir para 0..1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Herança não recebe número nenhum: remover o “1” de Funcionario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Estante pode estar vazia (agregação): corrigir para 0..* do lado do Livro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Cada Pedido tem exatamente 1 Cliente: corrigir o lado do Cliente para 1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Faltou o mínimo: “3” sozinho significa exatamente três (obrigatório); corrigir para 0..3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Cada ItemPedido pertence a exatamente 1 Pedido, não a vários: corrigir o lado do Pedido para 1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Erros comuns ao definir cardinalidade (recap)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Confundir 0..1 com 1 (opcional vira obrigatório sem querer)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Colocar números na seta de herança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Esquecer que cada ponta pode ter um significado diferente da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Copiar a cardinalidade de outro relacionamento parecido sem pensar na regra de negócio específica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Não conferir a cardinalidade com um caso real do cenário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Resumo visual: as 4 notações e as faixas concretas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 | 0..1 -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*) - zero ou muitos | 1..* -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 concreta (ex.: 0..3) - limite vindo de uma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Associação, agregação e composição têm cardinalidade; herança nunca tem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Multiplicidade/Cardinalidade - quantas instâncias de uma classe se relacionam com quantas de outra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1 - exatamente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0..1 - zero ou um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0..* (ou *) - zero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1..* - um ou muitos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Faixa numérica (ex.: 0..3) - um limite concreto vindo de uma regra de negócio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Herança/Generalização - relação “é um tipo de”; nunca recebe cardinalidade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O que significa a notação “0..*” em um relacionamento?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Por que a herança não tem cardinalidade?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Qual a diferença entre “0..1” e “1..1”? Dê um exemplo do TechBurger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Por que “Pedido 1 —— 0..1 Pagamento” faz sentido, mas “Pedido 1 —— 1 Pagamento” não?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O que significa “0..3” em “Associado 1 —— 0..3 Emprestimo”? De onde vem esse limite?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6.  Nos dois lados de “Cliente 1 —— * Pedido”, o que representa cada número?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7.  Dê um exemplo de “1..*” e explique por que o mínimo não pode ser zero nesse caso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8.  Na Biblioteca, por que “Estante 1 —— 0..* Livro” é agregação, e o que a cardinalidade tem a ver com isso?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9.  Cite dois erros comuns ao definir cardinalidade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Quiz relâmpago para casa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1.  Qual a cardinalidade de “exatamente um”?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2.  O que significa “1..*”?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3.  Herança recebe cardinalidade? Por quê?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4.  Em “Reserva 0..* —— 1 Aula”, o que garante o lado da Aula ser “1”?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5.  Dê um exemplo de cardinalidade com faixa numérica concreta (ex.: 0..3) usado na aula de hoje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Multiplicidade/cardinalidade: o que é e onde se escreve (nas duas pontas da linha)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As 4 notações principais: 1, 0..1, 0..* (ou *) e 1..*, além de faixas concretas (0..3)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Quais relacionamentos têm cardinalidade (associação, agregação, composição) e por que herança não tem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Praticamos duas vezes: em grupo (TechBurger completo) e individualmente (Academia FitLife)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Análise crítica: encontramos e corrigimos 6 erros de cardinalidade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(02/10): Diagrama de Atividades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755</Words>
  <Application>Microsoft Office PowerPoint</Application>
  <PresentationFormat>Personalizar</PresentationFormat>
  <Paragraphs>94</Paragraphs>
  <Slides>20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20</vt:i4>
      </vt:variant>
    </vt:vector>
  </HeadingPairs>
  <TitlesOfParts>
    <vt:vector size="25" baseType="lpstr">
      <vt:lpstr>Unbounded 1 Ultra-Bold</vt:lpstr>
      <vt:lpstr>Calibri</vt:lpstr>
      <vt:lpstr>Arial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Natanael Santos De Jesus</cp:lastModifiedBy>
  <cp:revision>14</cp:revision>
  <dcterms:created xsi:type="dcterms:W3CDTF">2006-08-16T00:00:00Z</dcterms:created>
  <dcterms:modified xsi:type="dcterms:W3CDTF">2026-08-30T15:39:53Z</dcterms:modified>
  <dc:identifier>DAGGnDa8uXQ</dc:identifier>
</cp:coreProperties>
</file>